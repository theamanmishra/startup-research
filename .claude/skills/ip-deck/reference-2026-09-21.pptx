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76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88D69-DB55-46ED-AE83-282517A5A441}" type="datetimeFigureOut">
              <a:rPr lang="en-IN" smtClean="0"/>
              <a:t>21-09-2026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9A553-33C7-47C5-93A0-663FACEA5E7E}" type="slidenum">
              <a:rPr lang="en-IN" smtClean="0"/>
              <a:t>‹#›</a:t>
            </a:fld>
            <a:endParaRPr lang="en-IN"/>
          </a:p>
        </p:txBody>
      </p:sp>
    </p:spTree>
    <p:extLst>
      <p:ext uri="{BB962C8B-B14F-4D97-AF65-F5344CB8AC3E}">
        <p14:creationId xmlns:p14="http://schemas.microsoft.com/office/powerpoint/2010/main" val="1254820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plus the thesis change, explained rather than announced.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bottling-vs-kettle contrast is the argument for screening processes rather than product categories.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answers 'why these three'. Firm counts are exact from Census SUSB 2022; the Automation, Failure-cost and Edge scores are my judgment and are flagged unverified in the repo.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paper-chart finding is the substantive result of the week and it weakens the 'data exists in usable form' assumption.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18 Sep whiteboard. The layer-3 join is the thesis.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 3 is the newest and least tested.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asks.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0000"/>
            <a:ext cx="12192000" cy="820000"/>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3750"/>
              </a:lnSpc>
            </a:pPr>
            <a:r>
              <a:rPr sz="3000" b="1" i="0">
                <a:solidFill>
                  <a:srgbClr val="FFFFFF"/>
                </a:solidFill>
                <a:latin typeface="Arial"/>
              </a:rPr>
              <a:t>Market Study for Manufacturing AI</a:t>
            </a:r>
          </a:p>
        </p:txBody>
      </p:sp>
      <p:sp>
        <p:nvSpPr>
          <p:cNvPr id="3" name="TextBox 2"/>
          <p:cNvSpPr txBox="1"/>
          <p:nvPr/>
        </p:nvSpPr>
        <p:spPr>
          <a:xfrm>
            <a:off x="502920" y="1640000"/>
            <a:ext cx="11186160" cy="500000"/>
          </a:xfrm>
          <a:prstGeom prst="rect">
            <a:avLst/>
          </a:prstGeom>
          <a:noFill/>
        </p:spPr>
        <p:txBody>
          <a:bodyPr wrap="square" lIns="0" tIns="0" rIns="0" bIns="0" anchor="t">
            <a:spAutoFit/>
          </a:bodyPr>
          <a:lstStyle/>
          <a:p>
            <a:pPr algn="ctr">
              <a:lnSpc>
                <a:spcPts val="1820"/>
              </a:lnSpc>
            </a:pPr>
            <a:r>
              <a:rPr sz="1400" b="0" i="0" dirty="0">
                <a:solidFill>
                  <a:srgbClr val="1A1A1A"/>
                </a:solidFill>
                <a:latin typeface="Arial"/>
              </a:rPr>
              <a:t>Weekly update  ·  21 September 2026  ·  Week 2 of 13</a:t>
            </a:r>
            <a:r>
              <a:rPr lang="en-IN" sz="1400" b="0" i="0" dirty="0">
                <a:solidFill>
                  <a:srgbClr val="1A1A1A"/>
                </a:solidFill>
                <a:latin typeface="Arial"/>
              </a:rPr>
              <a:t> (11 Sep – 11 Dec 2026)</a:t>
            </a:r>
            <a:endParaRPr sz="1400" b="0" i="0" dirty="0">
              <a:solidFill>
                <a:srgbClr val="1A1A1A"/>
              </a:solidFill>
              <a:latin typeface="Arial"/>
            </a:endParaRPr>
          </a:p>
          <a:p>
            <a:pPr algn="ctr">
              <a:lnSpc>
                <a:spcPts val="1560"/>
              </a:lnSpc>
              <a:spcBef>
                <a:spcPts val="600"/>
              </a:spcBef>
            </a:pPr>
            <a:r>
              <a:rPr sz="1200" b="0" i="0" dirty="0">
                <a:solidFill>
                  <a:srgbClr val="5A6570"/>
                </a:solidFill>
                <a:latin typeface="Arial"/>
              </a:rPr>
              <a:t>Aman Mishra  ·  Faculty supervisor: Prof. Kris Ferreira (TOM)  ·  HBS Independent Project, 3 credits</a:t>
            </a:r>
          </a:p>
        </p:txBody>
      </p:sp>
      <p:sp>
        <p:nvSpPr>
          <p:cNvPr id="4" name="Rounded Rectangle 3"/>
          <p:cNvSpPr/>
          <p:nvPr/>
        </p:nvSpPr>
        <p:spPr>
          <a:xfrm>
            <a:off x="502920" y="2320000"/>
            <a:ext cx="11186160" cy="250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60000" tIns="40000" rIns="260000" bIns="40000" rtlCol="0" anchor="t"/>
          <a:lstStyle/>
          <a:p>
            <a:pPr algn="l">
              <a:lnSpc>
                <a:spcPts val="1375"/>
              </a:lnSpc>
            </a:pPr>
            <a:r>
              <a:rPr sz="1100" b="1" i="0">
                <a:solidFill>
                  <a:srgbClr val="2F5D8A"/>
                </a:solidFill>
                <a:latin typeface="Arial"/>
              </a:rPr>
              <a:t>THE UPDATE IN ONE MINUTE</a:t>
            </a:r>
          </a:p>
          <a:p>
            <a:pPr algn="l">
              <a:lnSpc>
                <a:spcPts val="1625"/>
              </a:lnSpc>
              <a:spcBef>
                <a:spcPts val="1000"/>
              </a:spcBef>
            </a:pPr>
            <a:r>
              <a:rPr sz="1300" b="0" i="0">
                <a:solidFill>
                  <a:srgbClr val="1A1A1A"/>
                </a:solidFill>
                <a:latin typeface="Arial"/>
              </a:rPr>
              <a:t>Your feedback last meeting was to narrow the scope and to use Baker Library. This update covers the narrowing.</a:t>
            </a:r>
          </a:p>
          <a:p>
            <a:pPr algn="l">
              <a:lnSpc>
                <a:spcPts val="1562"/>
              </a:lnSpc>
              <a:spcBef>
                <a:spcPts val="900"/>
              </a:spcBef>
            </a:pPr>
            <a:r>
              <a:rPr sz="1250" b="0" i="0">
                <a:solidFill>
                  <a:srgbClr val="1A1A1A"/>
                </a:solidFill>
                <a:latin typeface="Arial"/>
              </a:rPr>
              <a:t>1.   I narrowed twice — first to one part of the factory (the shop floor, where the machines are), then to three specific food-production processes, chosen by a scored screen rather than by preference.</a:t>
            </a:r>
          </a:p>
          <a:p>
            <a:pPr algn="l">
              <a:lnSpc>
                <a:spcPts val="1562"/>
              </a:lnSpc>
              <a:spcBef>
                <a:spcPts val="600"/>
              </a:spcBef>
            </a:pPr>
            <a:r>
              <a:rPr sz="1250" b="0" i="0">
                <a:solidFill>
                  <a:srgbClr val="1A1A1A"/>
                </a:solidFill>
                <a:latin typeface="Arial"/>
              </a:rPr>
              <a:t>2.   I took the first of those three — canned vegetables — apart step by step, and mapped the two kinds of company that sell software into it.</a:t>
            </a:r>
          </a:p>
          <a:p>
            <a:pPr algn="l">
              <a:lnSpc>
                <a:spcPts val="1562"/>
              </a:lnSpc>
              <a:spcBef>
                <a:spcPts val="600"/>
              </a:spcBef>
            </a:pPr>
            <a:r>
              <a:rPr sz="1250" b="0" i="0">
                <a:solidFill>
                  <a:srgbClr val="1A1A1A"/>
                </a:solidFill>
                <a:latin typeface="Arial"/>
              </a:rPr>
              <a:t>3.   That produced three candidate business plays, and one uncomfortable finding: on these lines the legally required record is often still paper, so the data an AI would need may not exist in digital form at all.</a:t>
            </a:r>
          </a:p>
          <a:p>
            <a:pPr algn="l">
              <a:lnSpc>
                <a:spcPts val="1500"/>
              </a:lnSpc>
              <a:spcBef>
                <a:spcPts val="1000"/>
              </a:spcBef>
            </a:pPr>
            <a:r>
              <a:rPr sz="1200" b="0" i="1">
                <a:solidFill>
                  <a:srgbClr val="B54F35"/>
                </a:solidFill>
                <a:latin typeface="Arial"/>
              </a:rPr>
              <a:t>Nothing here is validated. Every finding so far comes from equipment manuals, federal regulations and vendor material — I have not yet spoken to a plant operator.</a:t>
            </a:r>
          </a:p>
        </p:txBody>
      </p:sp>
      <p:sp>
        <p:nvSpPr>
          <p:cNvPr id="5" name="Rounded Rectangle 4"/>
          <p:cNvSpPr/>
          <p:nvPr/>
        </p:nvSpPr>
        <p:spPr>
          <a:xfrm>
            <a:off x="502920" y="5000000"/>
            <a:ext cx="11186160" cy="64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FFFFFF"/>
                </a:solidFill>
                <a:latin typeface="Arial"/>
              </a:rPr>
              <a:t>One change to flag up front: the thesis moved. I was studying paperwork and document AI; I am now studying the machine data underneath it. Slide 2 explains why.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1.  Where we left off</a:t>
            </a:r>
          </a:p>
        </p:txBody>
      </p:sp>
      <p:sp>
        <p:nvSpPr>
          <p:cNvPr id="3" name="TextBox 2"/>
          <p:cNvSpPr txBox="1"/>
          <p:nvPr/>
        </p:nvSpPr>
        <p:spPr>
          <a:xfrm>
            <a:off x="502920" y="950000"/>
            <a:ext cx="11186160" cy="565785"/>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A co-manufacturer is a factory that makes food for other companies’ brands rather than its own. I had chosen food &amp; beverage as the industry — I ran manufacturing and supply chain at ITC, a large food company, for five years — and planned to study the co-manufacturer’s whole business, which runs as five repeating steps:</a:t>
            </a:r>
          </a:p>
        </p:txBody>
      </p:sp>
      <p:sp>
        <p:nvSpPr>
          <p:cNvPr id="4" name="Chevron 3"/>
          <p:cNvSpPr/>
          <p:nvPr/>
        </p:nvSpPr>
        <p:spPr>
          <a:xfrm>
            <a:off x="502920" y="1700000"/>
            <a:ext cx="2380000" cy="800000"/>
          </a:xfrm>
          <a:prstGeom prst="chevron">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22A35"/>
                </a:solidFill>
                <a:latin typeface="Arial"/>
              </a:rPr>
              <a:t>WIN WORK</a:t>
            </a:r>
          </a:p>
          <a:p>
            <a:pPr algn="ctr">
              <a:lnSpc>
                <a:spcPts val="1125"/>
              </a:lnSpc>
            </a:pPr>
            <a:r>
              <a:rPr sz="900" b="0" i="0">
                <a:solidFill>
                  <a:srgbClr val="5A6570"/>
                </a:solidFill>
                <a:latin typeface="Arial"/>
              </a:rPr>
              <a:t>get the order: quoting, recipe hand-over</a:t>
            </a:r>
          </a:p>
        </p:txBody>
      </p:sp>
      <p:sp>
        <p:nvSpPr>
          <p:cNvPr id="5" name="Chevron 4"/>
          <p:cNvSpPr/>
          <p:nvPr/>
        </p:nvSpPr>
        <p:spPr>
          <a:xfrm>
            <a:off x="2712920" y="1700000"/>
            <a:ext cx="2380000" cy="800000"/>
          </a:xfrm>
          <a:prstGeom prst="chevron">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22A35"/>
                </a:solidFill>
                <a:latin typeface="Arial"/>
              </a:rPr>
              <a:t>PLAN</a:t>
            </a:r>
          </a:p>
          <a:p>
            <a:pPr algn="ctr">
              <a:lnSpc>
                <a:spcPts val="1125"/>
              </a:lnSpc>
            </a:pPr>
            <a:r>
              <a:rPr sz="900" b="0" i="0">
                <a:solidFill>
                  <a:srgbClr val="5A6570"/>
                </a:solidFill>
                <a:latin typeface="Arial"/>
              </a:rPr>
              <a:t>buy materials, schedule the line</a:t>
            </a:r>
          </a:p>
        </p:txBody>
      </p:sp>
      <p:sp>
        <p:nvSpPr>
          <p:cNvPr id="6" name="Chevron 5"/>
          <p:cNvSpPr/>
          <p:nvPr/>
        </p:nvSpPr>
        <p:spPr>
          <a:xfrm>
            <a:off x="4922920" y="1700000"/>
            <a:ext cx="2380000" cy="800000"/>
          </a:xfrm>
          <a:prstGeom prst="chevron">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22A35"/>
                </a:solidFill>
                <a:latin typeface="Arial"/>
              </a:rPr>
              <a:t>MAKE</a:t>
            </a:r>
          </a:p>
          <a:p>
            <a:pPr algn="ctr">
              <a:lnSpc>
                <a:spcPts val="1125"/>
              </a:lnSpc>
            </a:pPr>
            <a:r>
              <a:rPr sz="900" b="0" i="0">
                <a:solidFill>
                  <a:srgbClr val="5A6570"/>
                </a:solidFill>
                <a:latin typeface="Arial"/>
              </a:rPr>
              <a:t>actually run production</a:t>
            </a:r>
          </a:p>
        </p:txBody>
      </p:sp>
      <p:sp>
        <p:nvSpPr>
          <p:cNvPr id="7" name="Chevron 6"/>
          <p:cNvSpPr/>
          <p:nvPr/>
        </p:nvSpPr>
        <p:spPr>
          <a:xfrm>
            <a:off x="7132920" y="1700000"/>
            <a:ext cx="2380000" cy="800000"/>
          </a:xfrm>
          <a:prstGeom prst="chevron">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22A35"/>
                </a:solidFill>
                <a:latin typeface="Arial"/>
              </a:rPr>
              <a:t>PROVE</a:t>
            </a:r>
          </a:p>
          <a:p>
            <a:pPr algn="ctr">
              <a:lnSpc>
                <a:spcPts val="1125"/>
              </a:lnSpc>
            </a:pPr>
            <a:r>
              <a:rPr sz="900" b="0" i="0">
                <a:solidFill>
                  <a:srgbClr val="5A6570"/>
                </a:solidFill>
                <a:latin typeface="Arial"/>
              </a:rPr>
              <a:t>quality checks, food-safety records, customer audits</a:t>
            </a:r>
          </a:p>
        </p:txBody>
      </p:sp>
      <p:sp>
        <p:nvSpPr>
          <p:cNvPr id="8" name="Chevron 7"/>
          <p:cNvSpPr/>
          <p:nvPr/>
        </p:nvSpPr>
        <p:spPr>
          <a:xfrm>
            <a:off x="9342920" y="1700000"/>
            <a:ext cx="2380000" cy="800000"/>
          </a:xfrm>
          <a:prstGeom prst="chevron">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22A35"/>
                </a:solidFill>
                <a:latin typeface="Arial"/>
              </a:rPr>
              <a:t>SETTLE</a:t>
            </a:r>
          </a:p>
          <a:p>
            <a:pPr algn="ctr">
              <a:lnSpc>
                <a:spcPts val="1125"/>
              </a:lnSpc>
            </a:pPr>
            <a:r>
              <a:rPr sz="900" b="0" i="0">
                <a:solidFill>
                  <a:srgbClr val="5A6570"/>
                </a:solidFill>
                <a:latin typeface="Arial"/>
              </a:rPr>
              <a:t>invoice, argue about deductions</a:t>
            </a:r>
          </a:p>
        </p:txBody>
      </p:sp>
      <p:sp>
        <p:nvSpPr>
          <p:cNvPr id="9" name="TextBox 8"/>
          <p:cNvSpPr txBox="1"/>
          <p:nvPr/>
        </p:nvSpPr>
        <p:spPr>
          <a:xfrm>
            <a:off x="502920" y="2650000"/>
            <a:ext cx="11186160" cy="188595"/>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Original scope: all five steps, end to end. The working thesis at that point was AI for the paperwork — specifications, customer questionnaires, audit packs.</a:t>
            </a:r>
          </a:p>
        </p:txBody>
      </p:sp>
      <p:sp>
        <p:nvSpPr>
          <p:cNvPr id="10" name="TextBox 9"/>
          <p:cNvSpPr txBox="1"/>
          <p:nvPr/>
        </p:nvSpPr>
        <p:spPr>
          <a:xfrm>
            <a:off x="502920" y="320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YOUR FEEDBACK</a:t>
            </a:r>
          </a:p>
        </p:txBody>
      </p:sp>
      <p:sp>
        <p:nvSpPr>
          <p:cNvPr id="11" name="Rounded Rectangle 10"/>
          <p:cNvSpPr/>
          <p:nvPr/>
        </p:nvSpPr>
        <p:spPr>
          <a:xfrm>
            <a:off x="502920" y="3500000"/>
            <a:ext cx="5443080" cy="900000"/>
          </a:xfrm>
          <a:prstGeom prst="roundRect">
            <a:avLst>
              <a:gd name="adj" fmla="val 8000"/>
            </a:avLst>
          </a:prstGeom>
          <a:solidFill>
            <a:srgbClr val="FFFFFF"/>
          </a:solidFill>
          <a:ln w="19050">
            <a:solidFill>
              <a:srgbClr val="2F5D8A"/>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750"/>
              </a:lnSpc>
            </a:pPr>
            <a:r>
              <a:rPr sz="1400" b="1" i="0">
                <a:solidFill>
                  <a:srgbClr val="222A35"/>
                </a:solidFill>
                <a:latin typeface="Arial"/>
              </a:rPr>
              <a:t>1.  Narrow the scope further</a:t>
            </a:r>
          </a:p>
          <a:p>
            <a:pPr algn="ctr">
              <a:lnSpc>
                <a:spcPts val="1375"/>
              </a:lnSpc>
              <a:spcBef>
                <a:spcPts val="400"/>
              </a:spcBef>
            </a:pPr>
            <a:r>
              <a:rPr sz="1100" b="0" i="0">
                <a:solidFill>
                  <a:srgbClr val="5A6570"/>
                </a:solidFill>
                <a:latin typeface="Arial"/>
              </a:rPr>
              <a:t>Five steps end to end is too wide for a 90-hour project</a:t>
            </a:r>
          </a:p>
        </p:txBody>
      </p:sp>
      <p:sp>
        <p:nvSpPr>
          <p:cNvPr id="12" name="Rounded Rectangle 11"/>
          <p:cNvSpPr/>
          <p:nvPr/>
        </p:nvSpPr>
        <p:spPr>
          <a:xfrm>
            <a:off x="6246000" y="3500000"/>
            <a:ext cx="5443080" cy="900000"/>
          </a:xfrm>
          <a:prstGeom prst="roundRect">
            <a:avLst>
              <a:gd name="adj" fmla="val 8000"/>
            </a:avLst>
          </a:prstGeom>
          <a:solidFill>
            <a:srgbClr val="FFFFFF"/>
          </a:solidFill>
          <a:ln w="19050">
            <a:solidFill>
              <a:srgbClr val="2F5D8A"/>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750"/>
              </a:lnSpc>
            </a:pPr>
            <a:r>
              <a:rPr sz="1400" b="1" i="0">
                <a:solidFill>
                  <a:srgbClr val="222A35"/>
                </a:solidFill>
                <a:latin typeface="Arial"/>
              </a:rPr>
              <a:t>2.  Use Baker Library</a:t>
            </a:r>
          </a:p>
          <a:p>
            <a:pPr algn="ctr">
              <a:lnSpc>
                <a:spcPts val="1375"/>
              </a:lnSpc>
              <a:spcBef>
                <a:spcPts val="400"/>
              </a:spcBef>
            </a:pPr>
            <a:r>
              <a:rPr sz="1100" b="0" i="0">
                <a:solidFill>
                  <a:srgbClr val="5A6570"/>
                </a:solidFill>
                <a:latin typeface="Arial"/>
              </a:rPr>
              <a:t>Work their databases on manufacturing and supply-chain technology</a:t>
            </a:r>
          </a:p>
        </p:txBody>
      </p:sp>
      <p:sp>
        <p:nvSpPr>
          <p:cNvPr id="13" name="Rounded Rectangle 12"/>
          <p:cNvSpPr/>
          <p:nvPr/>
        </p:nvSpPr>
        <p:spPr>
          <a:xfrm>
            <a:off x="502920" y="4650000"/>
            <a:ext cx="11186160" cy="100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240000" tIns="40000" rIns="240000" bIns="40000" rtlCol="0" anchor="ctr"/>
          <a:lstStyle/>
          <a:p>
            <a:pPr algn="l">
              <a:lnSpc>
                <a:spcPts val="1750"/>
              </a:lnSpc>
            </a:pPr>
            <a:r>
              <a:rPr sz="1400" b="1" i="0">
                <a:solidFill>
                  <a:srgbClr val="FFFFFF"/>
                </a:solidFill>
                <a:latin typeface="Arial"/>
              </a:rPr>
              <a:t>Narrowing did not just shrink the scope — it changed the thesis</a:t>
            </a:r>
          </a:p>
          <a:p>
            <a:pPr algn="l">
              <a:lnSpc>
                <a:spcPts val="1437"/>
              </a:lnSpc>
              <a:spcBef>
                <a:spcPts val="600"/>
              </a:spcBef>
            </a:pPr>
            <a:r>
              <a:rPr sz="1150" b="0" i="0">
                <a:solidFill>
                  <a:srgbClr val="C8D2DC"/>
                </a:solidFill>
                <a:latin typeface="Arial"/>
              </a:rPr>
              <a:t>Looking closely at the PROVE step, the paperwork problem I had been working turned out to be the most crowded part of the market: SafetyChain, a food-safety software company, already sells it into 2,500+ plants. So I moved down a layer — from the paperwork to the machine data underneath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2.  Narrowing, part 1: which part of the factory, and what to compare</a:t>
            </a:r>
          </a:p>
        </p:txBody>
      </p:sp>
      <p:sp>
        <p:nvSpPr>
          <p:cNvPr id="3" name="TextBox 2"/>
          <p:cNvSpPr txBox="1"/>
          <p:nvPr/>
        </p:nvSpPr>
        <p:spPr>
          <a:xfrm>
            <a:off x="502920" y="95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STEP 1 — PICKED THE SHOP FLOOR</a:t>
            </a:r>
          </a:p>
        </p:txBody>
      </p:sp>
      <p:sp>
        <p:nvSpPr>
          <p:cNvPr id="4" name="Rounded Rectangle 3"/>
          <p:cNvSpPr/>
          <p:nvPr/>
        </p:nvSpPr>
        <p:spPr>
          <a:xfrm>
            <a:off x="502920" y="1250000"/>
            <a:ext cx="11186160" cy="73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40000" tIns="40000" rIns="240000" bIns="40000" rtlCol="0" anchor="ctr"/>
          <a:lstStyle/>
          <a:p>
            <a:pPr algn="l">
              <a:lnSpc>
                <a:spcPts val="1562"/>
              </a:lnSpc>
            </a:pPr>
            <a:r>
              <a:rPr sz="1250" b="1" i="0">
                <a:solidFill>
                  <a:srgbClr val="222A35"/>
                </a:solidFill>
                <a:latin typeface="Arial"/>
              </a:rPr>
              <a:t>“Shop-floor operations” means what physically happens on the factory floor — mixing, cooking, filling, sealing, packing.</a:t>
            </a:r>
          </a:p>
          <a:p>
            <a:pPr algn="l">
              <a:lnSpc>
                <a:spcPts val="1375"/>
              </a:lnSpc>
              <a:spcBef>
                <a:spcPts val="500"/>
              </a:spcBef>
            </a:pPr>
            <a:r>
              <a:rPr sz="1100" b="0" i="0">
                <a:solidFill>
                  <a:srgbClr val="5A6570"/>
                </a:solidFill>
                <a:latin typeface="Arial"/>
              </a:rPr>
              <a:t>Picked because it is where the machines are, and therefore where machine data would have to come from. Honest caveat: this was a judgment call informed by the crowding I found in the paperwork step — not a scored screen like Step 3 below.</a:t>
            </a:r>
          </a:p>
        </p:txBody>
      </p:sp>
      <p:sp>
        <p:nvSpPr>
          <p:cNvPr id="5" name="TextBox 4"/>
          <p:cNvSpPr txBox="1"/>
          <p:nvPr/>
        </p:nvSpPr>
        <p:spPr>
          <a:xfrm>
            <a:off x="502920" y="205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STEP 2 — THE THING TO COMPARE IS THE PROCESS, NOT THE PRODUCT</a:t>
            </a:r>
          </a:p>
        </p:txBody>
      </p:sp>
      <p:sp>
        <p:nvSpPr>
          <p:cNvPr id="6" name="Rounded Rectangle 5"/>
          <p:cNvSpPr/>
          <p:nvPr/>
        </p:nvSpPr>
        <p:spPr>
          <a:xfrm>
            <a:off x="502920" y="2350000"/>
            <a:ext cx="5443080" cy="900000"/>
          </a:xfrm>
          <a:prstGeom prst="roundRect">
            <a:avLst>
              <a:gd name="adj" fmla="val 8000"/>
            </a:avLst>
          </a:prstGeom>
          <a:solidFill>
            <a:srgbClr val="E4ECF4"/>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2F5D8A"/>
                </a:solidFill>
                <a:latin typeface="Arial"/>
              </a:rPr>
              <a:t>A bottling line</a:t>
            </a:r>
          </a:p>
          <a:p>
            <a:pPr algn="ctr">
              <a:lnSpc>
                <a:spcPts val="1375"/>
              </a:lnSpc>
              <a:spcBef>
                <a:spcPts val="500"/>
              </a:spcBef>
            </a:pPr>
            <a:r>
              <a:rPr sz="1100" b="0" i="0">
                <a:solidFill>
                  <a:srgbClr val="5A6570"/>
                </a:solidFill>
                <a:latin typeface="Arial"/>
              </a:rPr>
              <a:t>Liquid moves continuously through pipes. Flow meters, temperature probes and fill sensors are built into the machinery as standard.</a:t>
            </a:r>
          </a:p>
        </p:txBody>
      </p:sp>
      <p:sp>
        <p:nvSpPr>
          <p:cNvPr id="7" name="Rounded Rectangle 6"/>
          <p:cNvSpPr/>
          <p:nvPr/>
        </p:nvSpPr>
        <p:spPr>
          <a:xfrm>
            <a:off x="6246000" y="2350000"/>
            <a:ext cx="5443080" cy="900000"/>
          </a:xfrm>
          <a:prstGeom prst="roundRect">
            <a:avLst>
              <a:gd name="adj" fmla="val 8000"/>
            </a:avLst>
          </a:prstGeom>
          <a:solidFill>
            <a:srgbClr val="FAECE8"/>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562"/>
              </a:lnSpc>
            </a:pPr>
            <a:r>
              <a:rPr sz="1250" b="1" i="0">
                <a:solidFill>
                  <a:srgbClr val="B54F35"/>
                </a:solidFill>
                <a:latin typeface="Arial"/>
              </a:rPr>
              <a:t>A kettle line</a:t>
            </a:r>
          </a:p>
          <a:p>
            <a:pPr algn="ctr">
              <a:lnSpc>
                <a:spcPts val="1375"/>
              </a:lnSpc>
              <a:spcBef>
                <a:spcPts val="500"/>
              </a:spcBef>
            </a:pPr>
            <a:r>
              <a:rPr sz="1100" b="0" i="0">
                <a:solidFill>
                  <a:srgbClr val="5A6570"/>
                </a:solidFill>
                <a:latin typeface="Arial"/>
              </a:rPr>
              <a:t>Product is cooked in batches in a heated vessel. Often the only instrument is a pressure gauge, and an operator judging the cook.</a:t>
            </a:r>
          </a:p>
        </p:txBody>
      </p:sp>
      <p:sp>
        <p:nvSpPr>
          <p:cNvPr id="8" name="TextBox 7"/>
          <p:cNvSpPr txBox="1"/>
          <p:nvPr/>
        </p:nvSpPr>
        <p:spPr>
          <a:xfrm>
            <a:off x="502920" y="3380000"/>
            <a:ext cx="11186160" cy="565785"/>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Both are food plants. They have almost nothing in common in terms of what is measured — so the question “does usable data exist here?” has a different answer for each. Grouping by product (dairy, snacks, beverages) hides that; grouping by production process exposes it. That is why the screen below is run over processes.</a:t>
            </a:r>
          </a:p>
        </p:txBody>
      </p:sp>
      <p:sp>
        <p:nvSpPr>
          <p:cNvPr id="9" name="TextBox 8"/>
          <p:cNvSpPr txBox="1"/>
          <p:nvPr/>
        </p:nvSpPr>
        <p:spPr>
          <a:xfrm>
            <a:off x="502920" y="400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STEP 3 — SCREENING THE PROCESSES</a:t>
            </a:r>
          </a:p>
        </p:txBody>
      </p:sp>
      <p:sp>
        <p:nvSpPr>
          <p:cNvPr id="10" name="Rounded Rectangle 9"/>
          <p:cNvSpPr/>
          <p:nvPr/>
        </p:nvSpPr>
        <p:spPr>
          <a:xfrm>
            <a:off x="502920" y="4300000"/>
            <a:ext cx="1850000" cy="7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3000"/>
              </a:lnSpc>
            </a:pPr>
            <a:r>
              <a:rPr sz="2400" b="1" i="0">
                <a:solidFill>
                  <a:srgbClr val="B54F35"/>
                </a:solidFill>
                <a:latin typeface="Arial"/>
              </a:rPr>
              <a:t>51</a:t>
            </a:r>
          </a:p>
          <a:p>
            <a:pPr algn="ctr">
              <a:lnSpc>
                <a:spcPts val="1250"/>
              </a:lnSpc>
            </a:pPr>
            <a:r>
              <a:rPr sz="1000" b="0" i="0">
                <a:solidFill>
                  <a:srgbClr val="5A6570"/>
                </a:solidFill>
                <a:latin typeface="Arial"/>
              </a:rPr>
              <a:t>candidate processes</a:t>
            </a:r>
          </a:p>
        </p:txBody>
      </p:sp>
      <p:sp>
        <p:nvSpPr>
          <p:cNvPr id="11" name="Right Arrow 10"/>
          <p:cNvSpPr/>
          <p:nvPr/>
        </p:nvSpPr>
        <p:spPr>
          <a:xfrm>
            <a:off x="2492920" y="4530000"/>
            <a:ext cx="420000" cy="260000"/>
          </a:xfrm>
          <a:prstGeom prst="rightArrow">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052920" y="4300000"/>
            <a:ext cx="1850000" cy="7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3000"/>
              </a:lnSpc>
            </a:pPr>
            <a:r>
              <a:rPr sz="2400" b="1" i="0">
                <a:solidFill>
                  <a:srgbClr val="B54F35"/>
                </a:solidFill>
                <a:latin typeface="Arial"/>
              </a:rPr>
              <a:t>25</a:t>
            </a:r>
          </a:p>
          <a:p>
            <a:pPr algn="ctr">
              <a:lnSpc>
                <a:spcPts val="1250"/>
              </a:lnSpc>
            </a:pPr>
            <a:r>
              <a:rPr sz="1000" b="0" i="0">
                <a:solidFill>
                  <a:srgbClr val="5A6570"/>
                </a:solidFill>
                <a:latin typeface="Arial"/>
              </a:rPr>
              <a:t>pass the size filter</a:t>
            </a:r>
          </a:p>
        </p:txBody>
      </p:sp>
      <p:sp>
        <p:nvSpPr>
          <p:cNvPr id="13" name="Right Arrow 12"/>
          <p:cNvSpPr/>
          <p:nvPr/>
        </p:nvSpPr>
        <p:spPr>
          <a:xfrm>
            <a:off x="5042920" y="4530000"/>
            <a:ext cx="420000" cy="260000"/>
          </a:xfrm>
          <a:prstGeom prst="rightArrow">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602920" y="4300000"/>
            <a:ext cx="1850000" cy="72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3000"/>
              </a:lnSpc>
            </a:pPr>
            <a:r>
              <a:rPr sz="2400" b="1" i="0">
                <a:solidFill>
                  <a:srgbClr val="FFFFFF"/>
                </a:solidFill>
                <a:latin typeface="Arial"/>
              </a:rPr>
              <a:t>3</a:t>
            </a:r>
          </a:p>
          <a:p>
            <a:pPr algn="ctr">
              <a:lnSpc>
                <a:spcPts val="1250"/>
              </a:lnSpc>
            </a:pPr>
            <a:r>
              <a:rPr sz="1000" b="0" i="0">
                <a:solidFill>
                  <a:srgbClr val="C8D2DC"/>
                </a:solidFill>
                <a:latin typeface="Arial"/>
              </a:rPr>
              <a:t>chosen for study</a:t>
            </a:r>
          </a:p>
        </p:txBody>
      </p:sp>
      <p:sp>
        <p:nvSpPr>
          <p:cNvPr id="15" name="TextBox 14"/>
          <p:cNvSpPr txBox="1"/>
          <p:nvPr/>
        </p:nvSpPr>
        <p:spPr>
          <a:xfrm>
            <a:off x="2432920" y="5080000"/>
            <a:ext cx="1200000" cy="500000"/>
          </a:xfrm>
          <a:prstGeom prst="rect">
            <a:avLst/>
          </a:prstGeom>
          <a:noFill/>
        </p:spPr>
        <p:txBody>
          <a:bodyPr wrap="square" lIns="0" tIns="0" rIns="0" bIns="0" anchor="t">
            <a:spAutoFit/>
          </a:bodyPr>
          <a:lstStyle/>
          <a:p>
            <a:pPr algn="ctr">
              <a:lnSpc>
                <a:spcPts val="1105"/>
              </a:lnSpc>
            </a:pPr>
            <a:r>
              <a:rPr sz="850" b="0" i="0">
                <a:solidFill>
                  <a:srgbClr val="5A6570"/>
                </a:solidFill>
                <a:latin typeface="Arial"/>
              </a:rPr>
              <a:t>must have ≥50 US firms
earning $10–100M</a:t>
            </a:r>
          </a:p>
        </p:txBody>
      </p:sp>
      <p:sp>
        <p:nvSpPr>
          <p:cNvPr id="16" name="TextBox 15"/>
          <p:cNvSpPr txBox="1"/>
          <p:nvPr/>
        </p:nvSpPr>
        <p:spPr>
          <a:xfrm>
            <a:off x="4982920" y="5080000"/>
            <a:ext cx="1200000" cy="500000"/>
          </a:xfrm>
          <a:prstGeom prst="rect">
            <a:avLst/>
          </a:prstGeom>
          <a:noFill/>
        </p:spPr>
        <p:txBody>
          <a:bodyPr wrap="square" lIns="0" tIns="0" rIns="0" bIns="0" anchor="t">
            <a:spAutoFit/>
          </a:bodyPr>
          <a:lstStyle/>
          <a:p>
            <a:pPr algn="ctr">
              <a:lnSpc>
                <a:spcPts val="1105"/>
              </a:lnSpc>
            </a:pPr>
            <a:r>
              <a:rPr sz="850" b="0" i="0">
                <a:solidFill>
                  <a:srgbClr val="5A6570"/>
                </a:solidFill>
                <a:latin typeface="Arial"/>
              </a:rPr>
              <a:t>scored on five criteria
(next slide)</a:t>
            </a:r>
          </a:p>
        </p:txBody>
      </p:sp>
      <p:sp>
        <p:nvSpPr>
          <p:cNvPr id="17" name="TextBox 16"/>
          <p:cNvSpPr txBox="1"/>
          <p:nvPr/>
        </p:nvSpPr>
        <p:spPr>
          <a:xfrm>
            <a:off x="7652920" y="4300000"/>
            <a:ext cx="4036160" cy="110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What is being counted</a:t>
            </a:r>
          </a:p>
          <a:p>
            <a:pPr algn="l">
              <a:lnSpc>
                <a:spcPts val="1350"/>
              </a:lnSpc>
              <a:spcBef>
                <a:spcPts val="500"/>
              </a:spcBef>
            </a:pPr>
            <a:r>
              <a:rPr sz="1000" b="0" i="0">
                <a:solidFill>
                  <a:srgbClr val="5A6570"/>
                </a:solidFill>
                <a:latin typeface="Arial"/>
              </a:rPr>
              <a:t>The 51 are the US government’s 6-digit industry codes for food and drink manufacturing (e.g. “cheese manufacturing”). The $10–100M revenue band is the mid-market: large enough to buy software, small enough to be ignored by the enterprise vendors.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3.  Narrowing, part 2: how the 25 were scored, and the three chosen</a:t>
            </a:r>
          </a:p>
        </p:txBody>
      </p:sp>
      <p:sp>
        <p:nvSpPr>
          <p:cNvPr id="3" name="Rounded Rectangle 2"/>
          <p:cNvSpPr/>
          <p:nvPr/>
        </p:nvSpPr>
        <p:spPr>
          <a:xfrm>
            <a:off x="502920" y="950000"/>
            <a:ext cx="11186160" cy="79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260000" tIns="40000" rIns="260000" bIns="40000" rtlCol="0" anchor="ctr"/>
          <a:lstStyle/>
          <a:p>
            <a:pPr algn="l">
              <a:lnSpc>
                <a:spcPts val="1625"/>
              </a:lnSpc>
            </a:pPr>
            <a:r>
              <a:rPr sz="1300" b="1" i="0">
                <a:solidFill>
                  <a:srgbClr val="FFFFFF"/>
                </a:solidFill>
                <a:latin typeface="Arial"/>
              </a:rPr>
              <a:t>The screen had to answer one question before any other: is there any data on this shop floor at all?</a:t>
            </a:r>
          </a:p>
          <a:p>
            <a:pPr algn="l">
              <a:lnSpc>
                <a:spcPts val="1437"/>
              </a:lnSpc>
              <a:spcBef>
                <a:spcPts val="600"/>
              </a:spcBef>
            </a:pPr>
            <a:r>
              <a:rPr sz="1150" b="0" i="0">
                <a:solidFill>
                  <a:srgbClr val="C8D2DC"/>
                </a:solidFill>
                <a:latin typeface="Arial"/>
              </a:rPr>
              <a:t>The whole project assumes data exists to be used. If I picked a process where nothing is recorded, I would be studying an industry with nothing to work with. So the criterion that predicts whether data exists was given the most weight.</a:t>
            </a:r>
          </a:p>
        </p:txBody>
      </p:sp>
      <p:sp>
        <p:nvSpPr>
          <p:cNvPr id="4" name="TextBox 3"/>
          <p:cNvSpPr txBox="1"/>
          <p:nvPr/>
        </p:nvSpPr>
        <p:spPr>
          <a:xfrm>
            <a:off x="502920" y="180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THE FIVE SCORING CRITERIA</a:t>
            </a:r>
          </a:p>
        </p:txBody>
      </p:sp>
      <p:sp>
        <p:nvSpPr>
          <p:cNvPr id="5" name="Rectangle 4"/>
          <p:cNvSpPr/>
          <p:nvPr/>
        </p:nvSpPr>
        <p:spPr>
          <a:xfrm>
            <a:off x="502920" y="2120000"/>
            <a:ext cx="760000" cy="130000"/>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endParaRPr/>
          </a:p>
        </p:txBody>
      </p:sp>
      <p:sp>
        <p:nvSpPr>
          <p:cNvPr id="6" name="TextBox 5"/>
          <p:cNvSpPr txBox="1"/>
          <p:nvPr/>
        </p:nvSpPr>
        <p:spPr>
          <a:xfrm>
            <a:off x="1392920" y="2035000"/>
            <a:ext cx="1250000" cy="24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Regulation  30</a:t>
            </a:r>
          </a:p>
        </p:txBody>
      </p:sp>
      <p:sp>
        <p:nvSpPr>
          <p:cNvPr id="7" name="TextBox 6"/>
          <p:cNvSpPr txBox="1"/>
          <p:nvPr/>
        </p:nvSpPr>
        <p:spPr>
          <a:xfrm>
            <a:off x="2762920" y="2035000"/>
            <a:ext cx="3050000" cy="400000"/>
          </a:xfrm>
          <a:prstGeom prst="rect">
            <a:avLst/>
          </a:prstGeom>
          <a:noFill/>
        </p:spPr>
        <p:txBody>
          <a:bodyPr wrap="square" lIns="0" tIns="0" rIns="0" bIns="0" anchor="t">
            <a:spAutoFit/>
          </a:bodyPr>
          <a:lstStyle/>
          <a:p>
            <a:pPr algn="l">
              <a:lnSpc>
                <a:spcPts val="1365"/>
              </a:lnSpc>
            </a:pPr>
            <a:r>
              <a:rPr sz="1050" b="0" i="0">
                <a:solidFill>
                  <a:srgbClr val="1A1A1A"/>
                </a:solidFill>
                <a:latin typeface="Arial"/>
              </a:rPr>
              <a:t>Does the law force the plant to record process readings?</a:t>
            </a:r>
          </a:p>
        </p:txBody>
      </p:sp>
      <p:sp>
        <p:nvSpPr>
          <p:cNvPr id="8" name="TextBox 7"/>
          <p:cNvSpPr txBox="1"/>
          <p:nvPr/>
        </p:nvSpPr>
        <p:spPr>
          <a:xfrm>
            <a:off x="5912920" y="2035000"/>
            <a:ext cx="5776160" cy="500000"/>
          </a:xfrm>
          <a:prstGeom prst="rect">
            <a:avLst/>
          </a:prstGeom>
          <a:noFill/>
        </p:spPr>
        <p:txBody>
          <a:bodyPr wrap="square" lIns="0" tIns="0" rIns="0" bIns="0" anchor="t">
            <a:spAutoFit/>
          </a:bodyPr>
          <a:lstStyle/>
          <a:p>
            <a:pPr algn="l">
              <a:lnSpc>
                <a:spcPts val="1235"/>
              </a:lnSpc>
            </a:pPr>
            <a:r>
              <a:rPr sz="950" b="0" i="0">
                <a:solidFill>
                  <a:srgbClr val="5A6570"/>
                </a:solidFill>
                <a:latin typeface="Arial"/>
              </a:rPr>
              <a:t>Heaviest weight, and the reason for the whole screen. Where a rule requires a temperature or pressure to be recorded, the measurement provably happens. Where no rule exists, there may be no data at all.</a:t>
            </a:r>
          </a:p>
        </p:txBody>
      </p:sp>
      <p:sp>
        <p:nvSpPr>
          <p:cNvPr id="9" name="Rectangle 8"/>
          <p:cNvSpPr/>
          <p:nvPr/>
        </p:nvSpPr>
        <p:spPr>
          <a:xfrm>
            <a:off x="502920" y="2650000"/>
            <a:ext cx="633333" cy="13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endParaRPr/>
          </a:p>
        </p:txBody>
      </p:sp>
      <p:sp>
        <p:nvSpPr>
          <p:cNvPr id="10" name="TextBox 9"/>
          <p:cNvSpPr txBox="1"/>
          <p:nvPr/>
        </p:nvSpPr>
        <p:spPr>
          <a:xfrm>
            <a:off x="1392920" y="2565000"/>
            <a:ext cx="1250000" cy="24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Automation  25</a:t>
            </a:r>
          </a:p>
        </p:txBody>
      </p:sp>
      <p:sp>
        <p:nvSpPr>
          <p:cNvPr id="11" name="TextBox 10"/>
          <p:cNvSpPr txBox="1"/>
          <p:nvPr/>
        </p:nvSpPr>
        <p:spPr>
          <a:xfrm>
            <a:off x="2762920" y="2565000"/>
            <a:ext cx="3050000" cy="400000"/>
          </a:xfrm>
          <a:prstGeom prst="rect">
            <a:avLst/>
          </a:prstGeom>
          <a:noFill/>
        </p:spPr>
        <p:txBody>
          <a:bodyPr wrap="square" lIns="0" tIns="0" rIns="0" bIns="0" anchor="t">
            <a:spAutoFit/>
          </a:bodyPr>
          <a:lstStyle/>
          <a:p>
            <a:pPr algn="l">
              <a:lnSpc>
                <a:spcPts val="1365"/>
              </a:lnSpc>
            </a:pPr>
            <a:r>
              <a:rPr sz="1050" b="0" i="0">
                <a:solidFill>
                  <a:srgbClr val="1A1A1A"/>
                </a:solidFill>
                <a:latin typeface="Arial"/>
              </a:rPr>
              <a:t>How machine-driven is the process?</a:t>
            </a:r>
          </a:p>
        </p:txBody>
      </p:sp>
      <p:sp>
        <p:nvSpPr>
          <p:cNvPr id="12" name="TextBox 11"/>
          <p:cNvSpPr txBox="1"/>
          <p:nvPr/>
        </p:nvSpPr>
        <p:spPr>
          <a:xfrm>
            <a:off x="5912920" y="2565000"/>
            <a:ext cx="5776160" cy="500000"/>
          </a:xfrm>
          <a:prstGeom prst="rect">
            <a:avLst/>
          </a:prstGeom>
          <a:noFill/>
        </p:spPr>
        <p:txBody>
          <a:bodyPr wrap="square" lIns="0" tIns="0" rIns="0" bIns="0" anchor="t">
            <a:spAutoFit/>
          </a:bodyPr>
          <a:lstStyle/>
          <a:p>
            <a:pPr algn="l">
              <a:lnSpc>
                <a:spcPts val="1235"/>
              </a:lnSpc>
            </a:pPr>
            <a:r>
              <a:rPr sz="950" b="0" i="0">
                <a:solidFill>
                  <a:srgbClr val="5A6570"/>
                </a:solidFill>
                <a:latin typeface="Arial"/>
              </a:rPr>
              <a:t>A line run by machines emits signals. A line run by hand emits nothing, however valuable the problem.</a:t>
            </a:r>
          </a:p>
        </p:txBody>
      </p:sp>
      <p:sp>
        <p:nvSpPr>
          <p:cNvPr id="13" name="Rectangle 12"/>
          <p:cNvSpPr/>
          <p:nvPr/>
        </p:nvSpPr>
        <p:spPr>
          <a:xfrm>
            <a:off x="502920" y="3180000"/>
            <a:ext cx="506666" cy="130000"/>
          </a:xfrm>
          <a:prstGeom prst="rect">
            <a:avLst/>
          </a:prstGeom>
          <a:solidFill>
            <a:srgbClr val="3D4B5C"/>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endParaRPr/>
          </a:p>
        </p:txBody>
      </p:sp>
      <p:sp>
        <p:nvSpPr>
          <p:cNvPr id="14" name="TextBox 13"/>
          <p:cNvSpPr txBox="1"/>
          <p:nvPr/>
        </p:nvSpPr>
        <p:spPr>
          <a:xfrm>
            <a:off x="1392920" y="3095000"/>
            <a:ext cx="1250000" cy="24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Failure cost  20</a:t>
            </a:r>
          </a:p>
        </p:txBody>
      </p:sp>
      <p:sp>
        <p:nvSpPr>
          <p:cNvPr id="15" name="TextBox 14"/>
          <p:cNvSpPr txBox="1"/>
          <p:nvPr/>
        </p:nvSpPr>
        <p:spPr>
          <a:xfrm>
            <a:off x="2762920" y="3095000"/>
            <a:ext cx="3050000" cy="400000"/>
          </a:xfrm>
          <a:prstGeom prst="rect">
            <a:avLst/>
          </a:prstGeom>
          <a:noFill/>
        </p:spPr>
        <p:txBody>
          <a:bodyPr wrap="square" lIns="0" tIns="0" rIns="0" bIns="0" anchor="t">
            <a:spAutoFit/>
          </a:bodyPr>
          <a:lstStyle/>
          <a:p>
            <a:pPr algn="l">
              <a:lnSpc>
                <a:spcPts val="1365"/>
              </a:lnSpc>
            </a:pPr>
            <a:r>
              <a:rPr sz="1050" b="0" i="0">
                <a:solidFill>
                  <a:srgbClr val="1A1A1A"/>
                </a:solidFill>
                <a:latin typeface="Arial"/>
              </a:rPr>
              <a:t>What does one bad batch cost?</a:t>
            </a:r>
          </a:p>
        </p:txBody>
      </p:sp>
      <p:sp>
        <p:nvSpPr>
          <p:cNvPr id="16" name="TextBox 15"/>
          <p:cNvSpPr txBox="1"/>
          <p:nvPr/>
        </p:nvSpPr>
        <p:spPr>
          <a:xfrm>
            <a:off x="5912920" y="3095000"/>
            <a:ext cx="5776160" cy="500000"/>
          </a:xfrm>
          <a:prstGeom prst="rect">
            <a:avLst/>
          </a:prstGeom>
          <a:noFill/>
        </p:spPr>
        <p:txBody>
          <a:bodyPr wrap="square" lIns="0" tIns="0" rIns="0" bIns="0" anchor="t">
            <a:spAutoFit/>
          </a:bodyPr>
          <a:lstStyle/>
          <a:p>
            <a:pPr algn="l">
              <a:lnSpc>
                <a:spcPts val="1235"/>
              </a:lnSpc>
            </a:pPr>
            <a:r>
              <a:rPr sz="950" b="0" i="0">
                <a:solidFill>
                  <a:srgbClr val="5A6570"/>
                </a:solidFill>
                <a:latin typeface="Arial"/>
              </a:rPr>
              <a:t>A proxy for willingness to pay. Nobody buys software to prevent a cheap mistake.</a:t>
            </a:r>
          </a:p>
        </p:txBody>
      </p:sp>
      <p:sp>
        <p:nvSpPr>
          <p:cNvPr id="17" name="Rectangle 16"/>
          <p:cNvSpPr/>
          <p:nvPr/>
        </p:nvSpPr>
        <p:spPr>
          <a:xfrm>
            <a:off x="502920" y="3710000"/>
            <a:ext cx="380000" cy="130000"/>
          </a:xfrm>
          <a:prstGeom prst="rect">
            <a:avLst/>
          </a:prstGeom>
          <a:solidFill>
            <a:srgbClr val="8F9EAC"/>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endParaRPr/>
          </a:p>
        </p:txBody>
      </p:sp>
      <p:sp>
        <p:nvSpPr>
          <p:cNvPr id="18" name="TextBox 17"/>
          <p:cNvSpPr txBox="1"/>
          <p:nvPr/>
        </p:nvSpPr>
        <p:spPr>
          <a:xfrm>
            <a:off x="1392920" y="3625000"/>
            <a:ext cx="1250000" cy="24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Arena  15</a:t>
            </a:r>
          </a:p>
        </p:txBody>
      </p:sp>
      <p:sp>
        <p:nvSpPr>
          <p:cNvPr id="19" name="TextBox 18"/>
          <p:cNvSpPr txBox="1"/>
          <p:nvPr/>
        </p:nvSpPr>
        <p:spPr>
          <a:xfrm>
            <a:off x="2762920" y="3625000"/>
            <a:ext cx="3050000" cy="400000"/>
          </a:xfrm>
          <a:prstGeom prst="rect">
            <a:avLst/>
          </a:prstGeom>
          <a:noFill/>
        </p:spPr>
        <p:txBody>
          <a:bodyPr wrap="square" lIns="0" tIns="0" rIns="0" bIns="0" anchor="t">
            <a:spAutoFit/>
          </a:bodyPr>
          <a:lstStyle/>
          <a:p>
            <a:pPr algn="l">
              <a:lnSpc>
                <a:spcPts val="1365"/>
              </a:lnSpc>
            </a:pPr>
            <a:r>
              <a:rPr sz="1050" b="0" i="0">
                <a:solidFill>
                  <a:srgbClr val="1A1A1A"/>
                </a:solidFill>
                <a:latin typeface="Arial"/>
              </a:rPr>
              <a:t>How crowded is it with existing vendors?</a:t>
            </a:r>
          </a:p>
        </p:txBody>
      </p:sp>
      <p:sp>
        <p:nvSpPr>
          <p:cNvPr id="20" name="TextBox 19"/>
          <p:cNvSpPr txBox="1"/>
          <p:nvPr/>
        </p:nvSpPr>
        <p:spPr>
          <a:xfrm>
            <a:off x="5912920" y="3625000"/>
            <a:ext cx="5776160" cy="500000"/>
          </a:xfrm>
          <a:prstGeom prst="rect">
            <a:avLst/>
          </a:prstGeom>
          <a:noFill/>
        </p:spPr>
        <p:txBody>
          <a:bodyPr wrap="square" lIns="0" tIns="0" rIns="0" bIns="0" anchor="t">
            <a:spAutoFit/>
          </a:bodyPr>
          <a:lstStyle/>
          <a:p>
            <a:pPr algn="l">
              <a:lnSpc>
                <a:spcPts val="1235"/>
              </a:lnSpc>
            </a:pPr>
            <a:r>
              <a:rPr sz="950" b="0" i="0">
                <a:solidFill>
                  <a:srgbClr val="5A6570"/>
                </a:solidFill>
                <a:latin typeface="Arial"/>
              </a:rPr>
              <a:t>Deferred and applied at the end as a disqualifier — scoring crowding before surveying the market would have been circular.</a:t>
            </a:r>
          </a:p>
        </p:txBody>
      </p:sp>
      <p:sp>
        <p:nvSpPr>
          <p:cNvPr id="21" name="Rectangle 20"/>
          <p:cNvSpPr/>
          <p:nvPr/>
        </p:nvSpPr>
        <p:spPr>
          <a:xfrm>
            <a:off x="502920" y="4240000"/>
            <a:ext cx="253333" cy="130000"/>
          </a:xfrm>
          <a:prstGeom prst="rect">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endParaRPr/>
          </a:p>
        </p:txBody>
      </p:sp>
      <p:sp>
        <p:nvSpPr>
          <p:cNvPr id="22" name="TextBox 21"/>
          <p:cNvSpPr txBox="1"/>
          <p:nvPr/>
        </p:nvSpPr>
        <p:spPr>
          <a:xfrm>
            <a:off x="1392920" y="4155000"/>
            <a:ext cx="1250000" cy="240000"/>
          </a:xfrm>
          <a:prstGeom prst="rect">
            <a:avLst/>
          </a:prstGeom>
          <a:noFill/>
        </p:spPr>
        <p:txBody>
          <a:bodyPr wrap="square" lIns="0" tIns="0" rIns="0" bIns="0" anchor="t">
            <a:spAutoFit/>
          </a:bodyPr>
          <a:lstStyle/>
          <a:p>
            <a:pPr algn="l">
              <a:lnSpc>
                <a:spcPts val="1430"/>
              </a:lnSpc>
            </a:pPr>
            <a:r>
              <a:rPr sz="1100" b="1" i="0">
                <a:solidFill>
                  <a:srgbClr val="222A35"/>
                </a:solidFill>
                <a:latin typeface="Arial"/>
              </a:rPr>
              <a:t>Founder edge  10</a:t>
            </a:r>
          </a:p>
        </p:txBody>
      </p:sp>
      <p:sp>
        <p:nvSpPr>
          <p:cNvPr id="23" name="TextBox 22"/>
          <p:cNvSpPr txBox="1"/>
          <p:nvPr/>
        </p:nvSpPr>
        <p:spPr>
          <a:xfrm>
            <a:off x="2762920" y="4155000"/>
            <a:ext cx="3050000" cy="400000"/>
          </a:xfrm>
          <a:prstGeom prst="rect">
            <a:avLst/>
          </a:prstGeom>
          <a:noFill/>
        </p:spPr>
        <p:txBody>
          <a:bodyPr wrap="square" lIns="0" tIns="0" rIns="0" bIns="0" anchor="t">
            <a:spAutoFit/>
          </a:bodyPr>
          <a:lstStyle/>
          <a:p>
            <a:pPr algn="l">
              <a:lnSpc>
                <a:spcPts val="1365"/>
              </a:lnSpc>
            </a:pPr>
            <a:r>
              <a:rPr sz="1050" b="0" i="0">
                <a:solidFill>
                  <a:srgbClr val="1A1A1A"/>
                </a:solidFill>
                <a:latin typeface="Arial"/>
              </a:rPr>
              <a:t>Where does my own background help?</a:t>
            </a:r>
          </a:p>
        </p:txBody>
      </p:sp>
      <p:sp>
        <p:nvSpPr>
          <p:cNvPr id="24" name="TextBox 23"/>
          <p:cNvSpPr txBox="1"/>
          <p:nvPr/>
        </p:nvSpPr>
        <p:spPr>
          <a:xfrm>
            <a:off x="5912920" y="4155000"/>
            <a:ext cx="5776160" cy="500000"/>
          </a:xfrm>
          <a:prstGeom prst="rect">
            <a:avLst/>
          </a:prstGeom>
          <a:noFill/>
        </p:spPr>
        <p:txBody>
          <a:bodyPr wrap="square" lIns="0" tIns="0" rIns="0" bIns="0" anchor="t">
            <a:spAutoFit/>
          </a:bodyPr>
          <a:lstStyle/>
          <a:p>
            <a:pPr algn="l">
              <a:lnSpc>
                <a:spcPts val="1235"/>
              </a:lnSpc>
            </a:pPr>
            <a:r>
              <a:rPr sz="950" b="0" i="0">
                <a:solidFill>
                  <a:srgbClr val="5A6570"/>
                </a:solidFill>
                <a:latin typeface="Arial"/>
              </a:rPr>
              <a:t>Lightest weight, deliberately. It affects access to operators, not whether the opportunity is real.</a:t>
            </a:r>
          </a:p>
        </p:txBody>
      </p:sp>
      <p:sp>
        <p:nvSpPr>
          <p:cNvPr id="25" name="TextBox 24"/>
          <p:cNvSpPr txBox="1"/>
          <p:nvPr/>
        </p:nvSpPr>
        <p:spPr>
          <a:xfrm>
            <a:off x="502920" y="476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THE THREE CHOSEN — DELIBERATELY THREE DIFFERENT RULEBOOKS, BECAUSE EACH FORCES A DIFFERENT AMOUNT OF DATA TO BE RECORDED</a:t>
            </a:r>
          </a:p>
        </p:txBody>
      </p:sp>
      <p:sp>
        <p:nvSpPr>
          <p:cNvPr id="26" name="Rounded Rectangle 25"/>
          <p:cNvSpPr/>
          <p:nvPr/>
        </p:nvSpPr>
        <p:spPr>
          <a:xfrm>
            <a:off x="502920" y="5020000"/>
            <a:ext cx="3568720" cy="1450000"/>
          </a:xfrm>
          <a:prstGeom prst="roundRect">
            <a:avLst>
              <a:gd name="adj" fmla="val 8000"/>
            </a:avLst>
          </a:prstGeom>
          <a:solidFill>
            <a:srgbClr val="FAECE8"/>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625"/>
              </a:lnSpc>
            </a:pPr>
            <a:r>
              <a:rPr sz="1300" b="1" i="0">
                <a:solidFill>
                  <a:srgbClr val="222A35"/>
                </a:solidFill>
                <a:latin typeface="Arial"/>
              </a:rPr>
              <a:t>Canned vegetables &amp; soups</a:t>
            </a:r>
          </a:p>
          <a:p>
            <a:pPr algn="l">
              <a:lnSpc>
                <a:spcPts val="1187"/>
              </a:lnSpc>
              <a:spcBef>
                <a:spcPts val="300"/>
              </a:spcBef>
            </a:pPr>
            <a:r>
              <a:rPr sz="950" b="0" i="0">
                <a:solidFill>
                  <a:srgbClr val="5A6570"/>
                </a:solidFill>
                <a:latin typeface="Arial"/>
              </a:rPr>
              <a:t>115 US firms at $10–100M  ·  industry code 311421</a:t>
            </a:r>
          </a:p>
          <a:p>
            <a:pPr algn="l">
              <a:lnSpc>
                <a:spcPts val="1312"/>
              </a:lnSpc>
              <a:spcBef>
                <a:spcPts val="600"/>
              </a:spcBef>
            </a:pPr>
            <a:r>
              <a:rPr sz="1050" b="1" i="0">
                <a:solidFill>
                  <a:srgbClr val="B54F35"/>
                </a:solidFill>
                <a:latin typeface="Arial"/>
              </a:rPr>
              <a:t>FDA 21 CFR 113 + 114 — canned low-acid food</a:t>
            </a:r>
          </a:p>
          <a:p>
            <a:pPr algn="l">
              <a:lnSpc>
                <a:spcPts val="1187"/>
              </a:lnSpc>
              <a:spcBef>
                <a:spcPts val="400"/>
              </a:spcBef>
            </a:pPr>
            <a:r>
              <a:rPr sz="950" b="0" i="0">
                <a:solidFill>
                  <a:srgbClr val="5A6570"/>
                </a:solidFill>
                <a:latin typeface="Arial"/>
              </a:rPr>
              <a:t>Forces a recording of temperature, pressure and time for every batch, signed and kept three years.</a:t>
            </a:r>
          </a:p>
        </p:txBody>
      </p:sp>
      <p:sp>
        <p:nvSpPr>
          <p:cNvPr id="27" name="Rounded Rectangle 26"/>
          <p:cNvSpPr/>
          <p:nvPr/>
        </p:nvSpPr>
        <p:spPr>
          <a:xfrm>
            <a:off x="4311640" y="5020000"/>
            <a:ext cx="3568720" cy="1450000"/>
          </a:xfrm>
          <a:prstGeom prst="roundRect">
            <a:avLst>
              <a:gd name="adj" fmla="val 8000"/>
            </a:avLst>
          </a:prstGeom>
          <a:solidFill>
            <a:srgbClr val="E4ECF4"/>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625"/>
              </a:lnSpc>
            </a:pPr>
            <a:r>
              <a:rPr sz="1300" b="1" i="0">
                <a:solidFill>
                  <a:srgbClr val="222A35"/>
                </a:solidFill>
                <a:latin typeface="Arial"/>
              </a:rPr>
              <a:t>Cheese</a:t>
            </a:r>
          </a:p>
          <a:p>
            <a:pPr algn="l">
              <a:lnSpc>
                <a:spcPts val="1187"/>
              </a:lnSpc>
              <a:spcBef>
                <a:spcPts val="300"/>
              </a:spcBef>
            </a:pPr>
            <a:r>
              <a:rPr sz="950" b="0" i="0">
                <a:solidFill>
                  <a:srgbClr val="5A6570"/>
                </a:solidFill>
                <a:latin typeface="Arial"/>
              </a:rPr>
              <a:t>86 US firms at $10–100M  ·  industry code 311513</a:t>
            </a:r>
          </a:p>
          <a:p>
            <a:pPr algn="l">
              <a:lnSpc>
                <a:spcPts val="1312"/>
              </a:lnSpc>
              <a:spcBef>
                <a:spcPts val="600"/>
              </a:spcBef>
            </a:pPr>
            <a:r>
              <a:rPr sz="1050" b="1" i="0">
                <a:solidFill>
                  <a:srgbClr val="2F5D8A"/>
                </a:solidFill>
                <a:latin typeface="Arial"/>
              </a:rPr>
              <a:t>Pasteurized Milk Ordinance — the federal dairy code</a:t>
            </a:r>
          </a:p>
          <a:p>
            <a:pPr algn="l">
              <a:lnSpc>
                <a:spcPts val="1187"/>
              </a:lnSpc>
              <a:spcBef>
                <a:spcPts val="400"/>
              </a:spcBef>
            </a:pPr>
            <a:r>
              <a:rPr sz="950" b="0" i="0">
                <a:solidFill>
                  <a:srgbClr val="5A6570"/>
                </a:solidFill>
                <a:latin typeface="Arial"/>
              </a:rPr>
              <a:t>Forces continuous temperature and flow charts on the pasteuriser, with instruments re-tested twice a year.</a:t>
            </a:r>
          </a:p>
        </p:txBody>
      </p:sp>
      <p:sp>
        <p:nvSpPr>
          <p:cNvPr id="28" name="Rounded Rectangle 27"/>
          <p:cNvSpPr/>
          <p:nvPr/>
        </p:nvSpPr>
        <p:spPr>
          <a:xfrm>
            <a:off x="8120360" y="5020000"/>
            <a:ext cx="3568720" cy="1450000"/>
          </a:xfrm>
          <a:prstGeom prst="roundRect">
            <a:avLst>
              <a:gd name="adj" fmla="val 8000"/>
            </a:avLst>
          </a:prstGeom>
          <a:solidFill>
            <a:srgbClr val="E4EFED"/>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625"/>
              </a:lnSpc>
            </a:pPr>
            <a:r>
              <a:rPr sz="1300" b="1" i="0">
                <a:solidFill>
                  <a:srgbClr val="222A35"/>
                </a:solidFill>
                <a:latin typeface="Arial"/>
              </a:rPr>
              <a:t>Mayo, dressings &amp; sauces</a:t>
            </a:r>
          </a:p>
          <a:p>
            <a:pPr algn="l">
              <a:lnSpc>
                <a:spcPts val="1187"/>
              </a:lnSpc>
              <a:spcBef>
                <a:spcPts val="300"/>
              </a:spcBef>
            </a:pPr>
            <a:r>
              <a:rPr sz="950" b="0" i="0">
                <a:solidFill>
                  <a:srgbClr val="5A6570"/>
                </a:solidFill>
                <a:latin typeface="Arial"/>
              </a:rPr>
              <a:t>59 US firms at $10–100M  ·  industry code 311941</a:t>
            </a:r>
          </a:p>
          <a:p>
            <a:pPr algn="l">
              <a:lnSpc>
                <a:spcPts val="1312"/>
              </a:lnSpc>
              <a:spcBef>
                <a:spcPts val="600"/>
              </a:spcBef>
            </a:pPr>
            <a:r>
              <a:rPr sz="1050" b="1" i="0">
                <a:solidFill>
                  <a:srgbClr val="2D6E63"/>
                </a:solidFill>
                <a:latin typeface="Arial"/>
              </a:rPr>
              <a:t>FDA 21 CFR 114 — “acidified” foods, kept safe by vinegar rather than by heat alone</a:t>
            </a:r>
          </a:p>
          <a:p>
            <a:pPr algn="l">
              <a:lnSpc>
                <a:spcPts val="1187"/>
              </a:lnSpc>
              <a:spcBef>
                <a:spcPts val="400"/>
              </a:spcBef>
            </a:pPr>
            <a:r>
              <a:rPr sz="950" b="0" i="0">
                <a:solidFill>
                  <a:srgbClr val="5A6570"/>
                </a:solidFill>
                <a:latin typeface="Arial"/>
              </a:rPr>
              <a:t>Forces a pH reading for every batch — but no continuous trace. Deliberately the least-regulated of the three.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4.  Deep dive: how canned vegetables are actually made</a:t>
            </a:r>
          </a:p>
        </p:txBody>
      </p:sp>
      <p:sp>
        <p:nvSpPr>
          <p:cNvPr id="3" name="TextBox 2"/>
          <p:cNvSpPr txBox="1"/>
          <p:nvPr/>
        </p:nvSpPr>
        <p:spPr>
          <a:xfrm>
            <a:off x="502920" y="950000"/>
            <a:ext cx="11186160" cy="565785"/>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“Retorting” is cooking food inside sealed cans in a giant industrial pressure cooker, which is what makes tinned food shelf-stable without refrigeration. I walked the line step by step to find out what is measured at each point, and what a mistake costs. This is the first of the three chosen processes; cheese and sauces are still to do.</a:t>
            </a:r>
          </a:p>
        </p:txBody>
      </p:sp>
      <p:sp>
        <p:nvSpPr>
          <p:cNvPr id="4" name="TextBox 3"/>
          <p:cNvSpPr txBox="1"/>
          <p:nvPr/>
        </p:nvSpPr>
        <p:spPr>
          <a:xfrm>
            <a:off x="502920" y="1600000"/>
            <a:ext cx="500000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THE LINE — SIX STEPS</a:t>
            </a:r>
          </a:p>
        </p:txBody>
      </p:sp>
      <p:sp>
        <p:nvSpPr>
          <p:cNvPr id="5" name="Rounded Rectangle 4"/>
          <p:cNvSpPr/>
          <p:nvPr/>
        </p:nvSpPr>
        <p:spPr>
          <a:xfrm>
            <a:off x="502920" y="1900000"/>
            <a:ext cx="5000000" cy="46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222A35"/>
                </a:solidFill>
                <a:latin typeface="Arial"/>
              </a:rPr>
              <a:t>1   Prepare and batch</a:t>
            </a:r>
          </a:p>
          <a:p>
            <a:pPr algn="l">
              <a:lnSpc>
                <a:spcPts val="1125"/>
              </a:lnSpc>
            </a:pPr>
            <a:r>
              <a:rPr sz="900" b="0" i="0">
                <a:solidFill>
                  <a:srgbClr val="5A6570"/>
                </a:solidFill>
                <a:latin typeface="Arial"/>
              </a:rPr>
              <a:t>wash, sort and cut the vegetables; mix the broth</a:t>
            </a:r>
          </a:p>
        </p:txBody>
      </p:sp>
      <p:sp>
        <p:nvSpPr>
          <p:cNvPr id="6" name="Rounded Rectangle 5"/>
          <p:cNvSpPr/>
          <p:nvPr/>
        </p:nvSpPr>
        <p:spPr>
          <a:xfrm>
            <a:off x="502920" y="2434000"/>
            <a:ext cx="5000000" cy="46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222A35"/>
                </a:solidFill>
                <a:latin typeface="Arial"/>
              </a:rPr>
              <a:t>2   Fill the can</a:t>
            </a:r>
          </a:p>
          <a:p>
            <a:pPr algn="l">
              <a:lnSpc>
                <a:spcPts val="1125"/>
              </a:lnSpc>
            </a:pPr>
            <a:r>
              <a:rPr sz="900" b="0" i="0">
                <a:solidFill>
                  <a:srgbClr val="5A6570"/>
                </a:solidFill>
                <a:latin typeface="Arial"/>
              </a:rPr>
              <a:t>solids dropped in, then hot liquid poured over</a:t>
            </a:r>
          </a:p>
        </p:txBody>
      </p:sp>
      <p:sp>
        <p:nvSpPr>
          <p:cNvPr id="7" name="Rounded Rectangle 6"/>
          <p:cNvSpPr/>
          <p:nvPr/>
        </p:nvSpPr>
        <p:spPr>
          <a:xfrm>
            <a:off x="502920" y="2968000"/>
            <a:ext cx="5000000" cy="46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222A35"/>
                </a:solidFill>
                <a:latin typeface="Arial"/>
              </a:rPr>
              <a:t>3   Seal the can</a:t>
            </a:r>
          </a:p>
          <a:p>
            <a:pPr algn="l">
              <a:lnSpc>
                <a:spcPts val="1125"/>
              </a:lnSpc>
            </a:pPr>
            <a:r>
              <a:rPr sz="900" b="0" i="0">
                <a:solidFill>
                  <a:srgbClr val="5A6570"/>
                </a:solidFill>
                <a:latin typeface="Arial"/>
              </a:rPr>
              <a:t>a seamer folds the lid on at 200–600 cans a minute</a:t>
            </a:r>
          </a:p>
        </p:txBody>
      </p:sp>
      <p:sp>
        <p:nvSpPr>
          <p:cNvPr id="8" name="Rounded Rectangle 7"/>
          <p:cNvSpPr/>
          <p:nvPr/>
        </p:nvSpPr>
        <p:spPr>
          <a:xfrm>
            <a:off x="502920" y="3502000"/>
            <a:ext cx="5000000" cy="46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222A35"/>
                </a:solidFill>
                <a:latin typeface="Arial"/>
              </a:rPr>
              <a:t>4   Load the baskets</a:t>
            </a:r>
          </a:p>
          <a:p>
            <a:pPr algn="l">
              <a:lnSpc>
                <a:spcPts val="1125"/>
              </a:lnSpc>
            </a:pPr>
            <a:r>
              <a:rPr sz="900" b="0" i="0">
                <a:solidFill>
                  <a:srgbClr val="5A6570"/>
                </a:solidFill>
                <a:latin typeface="Arial"/>
              </a:rPr>
              <a:t>cans stacked into steel crates and wheeled in</a:t>
            </a:r>
          </a:p>
        </p:txBody>
      </p:sp>
      <p:sp>
        <p:nvSpPr>
          <p:cNvPr id="9" name="Rounded Rectangle 8"/>
          <p:cNvSpPr/>
          <p:nvPr/>
        </p:nvSpPr>
        <p:spPr>
          <a:xfrm>
            <a:off x="502920" y="4036000"/>
            <a:ext cx="5000000" cy="460000"/>
          </a:xfrm>
          <a:prstGeom prst="roundRect">
            <a:avLst>
              <a:gd name="adj" fmla="val 8000"/>
            </a:avLst>
          </a:prstGeom>
          <a:solidFill>
            <a:srgbClr val="B54F35"/>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FFFFFF"/>
                </a:solidFill>
                <a:latin typeface="Arial"/>
              </a:rPr>
              <a:t>5   Cook under pressure</a:t>
            </a:r>
          </a:p>
          <a:p>
            <a:pPr algn="l">
              <a:lnSpc>
                <a:spcPts val="1125"/>
              </a:lnSpc>
            </a:pPr>
            <a:r>
              <a:rPr sz="900" b="0" i="0">
                <a:solidFill>
                  <a:srgbClr val="FAECE8"/>
                </a:solidFill>
                <a:latin typeface="Arial"/>
              </a:rPr>
              <a:t>250°F steam at 15–22 PSI — the legally critical step</a:t>
            </a:r>
          </a:p>
        </p:txBody>
      </p:sp>
      <p:sp>
        <p:nvSpPr>
          <p:cNvPr id="10" name="Rounded Rectangle 9"/>
          <p:cNvSpPr/>
          <p:nvPr/>
        </p:nvSpPr>
        <p:spPr>
          <a:xfrm>
            <a:off x="502920" y="4570000"/>
            <a:ext cx="5000000" cy="46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150000" tIns="40000" rIns="150000" bIns="40000" rtlCol="0" anchor="ctr"/>
          <a:lstStyle/>
          <a:p>
            <a:pPr algn="l">
              <a:lnSpc>
                <a:spcPts val="1437"/>
              </a:lnSpc>
            </a:pPr>
            <a:r>
              <a:rPr sz="1150" b="1" i="0">
                <a:solidFill>
                  <a:srgbClr val="222A35"/>
                </a:solidFill>
                <a:latin typeface="Arial"/>
              </a:rPr>
              <a:t>6   Unload, label, pack</a:t>
            </a:r>
          </a:p>
          <a:p>
            <a:pPr algn="l">
              <a:lnSpc>
                <a:spcPts val="1125"/>
              </a:lnSpc>
            </a:pPr>
            <a:r>
              <a:rPr sz="900" b="0" i="0">
                <a:solidFill>
                  <a:srgbClr val="5A6570"/>
                </a:solidFill>
                <a:latin typeface="Arial"/>
              </a:rPr>
              <a:t>dry, label, case-pack, palletise</a:t>
            </a:r>
          </a:p>
        </p:txBody>
      </p:sp>
      <p:sp>
        <p:nvSpPr>
          <p:cNvPr id="11" name="TextBox 10"/>
          <p:cNvSpPr txBox="1"/>
          <p:nvPr/>
        </p:nvSpPr>
        <p:spPr>
          <a:xfrm>
            <a:off x="5962920" y="1600000"/>
            <a:ext cx="572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WHY STEP 5 IS THE ONE THAT MATTERS</a:t>
            </a:r>
          </a:p>
        </p:txBody>
      </p:sp>
      <p:sp>
        <p:nvSpPr>
          <p:cNvPr id="12" name="Rounded Rectangle 11"/>
          <p:cNvSpPr/>
          <p:nvPr/>
        </p:nvSpPr>
        <p:spPr>
          <a:xfrm>
            <a:off x="5962920" y="1900000"/>
            <a:ext cx="5726160" cy="1250000"/>
          </a:xfrm>
          <a:prstGeom prst="roundRect">
            <a:avLst>
              <a:gd name="adj" fmla="val 8000"/>
            </a:avLst>
          </a:prstGeom>
          <a:solidFill>
            <a:srgbClr val="FAECE8"/>
          </a:solidFill>
          <a:ln w="15875">
            <a:solidFill>
              <a:srgbClr val="B54F35"/>
            </a:solidFill>
          </a:ln>
          <a:effectLst/>
        </p:spPr>
        <p:style>
          <a:lnRef idx="1">
            <a:schemeClr val="accent1"/>
          </a:lnRef>
          <a:fillRef idx="3">
            <a:schemeClr val="accent1"/>
          </a:fillRef>
          <a:effectRef idx="2">
            <a:schemeClr val="accent1"/>
          </a:effectRef>
          <a:fontRef idx="minor">
            <a:schemeClr val="lt1"/>
          </a:fontRef>
        </p:style>
        <p:txBody>
          <a:bodyPr wrap="square" lIns="220000" tIns="40000" rIns="220000" bIns="40000" rtlCol="0" anchor="t"/>
          <a:lstStyle/>
          <a:p>
            <a:pPr algn="l">
              <a:lnSpc>
                <a:spcPts val="1562"/>
              </a:lnSpc>
            </a:pPr>
            <a:r>
              <a:rPr sz="1250" b="1" i="0">
                <a:solidFill>
                  <a:srgbClr val="B54F35"/>
                </a:solidFill>
                <a:latin typeface="Arial"/>
              </a:rPr>
              <a:t>Federal law sets the recipe for the cook</a:t>
            </a:r>
          </a:p>
          <a:p>
            <a:pPr algn="l">
              <a:lnSpc>
                <a:spcPts val="1375"/>
              </a:lnSpc>
              <a:spcBef>
                <a:spcPts val="500"/>
              </a:spcBef>
            </a:pPr>
            <a:r>
              <a:rPr sz="1100" b="0" i="0">
                <a:solidFill>
                  <a:srgbClr val="5A6570"/>
                </a:solidFill>
                <a:latin typeface="Arial"/>
              </a:rPr>
              <a:t>FDA rule 21 CFR 113 requires every batch to be held at a minimum temperature and pressure for a minimum time, because under-cooking a sealed can risks botulism. The vessel therefore carries 3–5 temperature probes, a pressure sensor, a vent thermometer and a water flow meter.</a:t>
            </a:r>
          </a:p>
        </p:txBody>
      </p:sp>
      <p:sp>
        <p:nvSpPr>
          <p:cNvPr id="13" name="Rounded Rectangle 12"/>
          <p:cNvSpPr/>
          <p:nvPr/>
        </p:nvSpPr>
        <p:spPr>
          <a:xfrm>
            <a:off x="5962920" y="3280000"/>
            <a:ext cx="5726160" cy="78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40000" rIns="220000" bIns="40000" rtlCol="0" anchor="ctr"/>
          <a:lstStyle/>
          <a:p>
            <a:pPr algn="l">
              <a:lnSpc>
                <a:spcPts val="1562"/>
              </a:lnSpc>
            </a:pPr>
            <a:r>
              <a:rPr sz="1250" b="1" i="0">
                <a:solidFill>
                  <a:srgbClr val="FFFFFF"/>
                </a:solidFill>
                <a:latin typeface="Arial"/>
              </a:rPr>
              <a:t>If pressure drops for roughly 40 seconds, the whole batch fails</a:t>
            </a:r>
          </a:p>
          <a:p>
            <a:pPr algn="l">
              <a:lnSpc>
                <a:spcPts val="1375"/>
              </a:lnSpc>
              <a:spcBef>
                <a:spcPts val="500"/>
              </a:spcBef>
            </a:pPr>
            <a:r>
              <a:rPr sz="1100" b="0" i="0">
                <a:solidFill>
                  <a:srgbClr val="C8D2DC"/>
                </a:solidFill>
                <a:latin typeface="Arial"/>
              </a:rPr>
              <a:t>Around 10,000 cans, roughly $30,000, quarantined or destroyed.</a:t>
            </a:r>
          </a:p>
        </p:txBody>
      </p:sp>
      <p:sp>
        <p:nvSpPr>
          <p:cNvPr id="14" name="Rounded Rectangle 13"/>
          <p:cNvSpPr/>
          <p:nvPr/>
        </p:nvSpPr>
        <p:spPr>
          <a:xfrm>
            <a:off x="5962920" y="4190000"/>
            <a:ext cx="5726160" cy="1180000"/>
          </a:xfrm>
          <a:prstGeom prst="roundRect">
            <a:avLst>
              <a:gd name="adj" fmla="val 8000"/>
            </a:avLst>
          </a:prstGeom>
          <a:solidFill>
            <a:srgbClr val="FFFFFF"/>
          </a:solidFill>
          <a:ln w="19050">
            <a:solidFill>
              <a:srgbClr val="222A35"/>
            </a:solidFill>
          </a:ln>
          <a:effectLst/>
        </p:spPr>
        <p:style>
          <a:lnRef idx="1">
            <a:schemeClr val="accent1"/>
          </a:lnRef>
          <a:fillRef idx="3">
            <a:schemeClr val="accent1"/>
          </a:fillRef>
          <a:effectRef idx="2">
            <a:schemeClr val="accent1"/>
          </a:effectRef>
          <a:fontRef idx="minor">
            <a:schemeClr val="lt1"/>
          </a:fontRef>
        </p:style>
        <p:txBody>
          <a:bodyPr wrap="square" lIns="220000" tIns="40000" rIns="220000" bIns="40000" rtlCol="0" anchor="t"/>
          <a:lstStyle/>
          <a:p>
            <a:pPr algn="l">
              <a:lnSpc>
                <a:spcPts val="1562"/>
              </a:lnSpc>
            </a:pPr>
            <a:r>
              <a:rPr sz="1250" b="1" i="0">
                <a:solidFill>
                  <a:srgbClr val="222A35"/>
                </a:solidFill>
                <a:latin typeface="Arial"/>
              </a:rPr>
              <a:t>And here is the finding that cuts against my own hypothesis</a:t>
            </a:r>
          </a:p>
          <a:p>
            <a:pPr algn="l">
              <a:lnSpc>
                <a:spcPts val="1375"/>
              </a:lnSpc>
              <a:spcBef>
                <a:spcPts val="500"/>
              </a:spcBef>
            </a:pPr>
            <a:r>
              <a:rPr sz="1100" b="0" i="0">
                <a:solidFill>
                  <a:srgbClr val="5A6570"/>
                </a:solidFill>
                <a:latin typeface="Arial"/>
              </a:rPr>
              <a:t>The measurement is legally required, so it definitely happens. But the record it produces is, on most mid-market lines, a circular paper chart drawn in ink on the control panel — cross-checked by an operator reading a mercury thermometer by eye. The reading exists. It is not digital, and nothing downstream can use it.</a:t>
            </a:r>
          </a:p>
        </p:txBody>
      </p:sp>
      <p:sp>
        <p:nvSpPr>
          <p:cNvPr id="15" name="TextBox 14"/>
          <p:cNvSpPr txBox="1"/>
          <p:nvPr/>
        </p:nvSpPr>
        <p:spPr>
          <a:xfrm>
            <a:off x="502920" y="5450000"/>
            <a:ext cx="11186160" cy="325755"/>
          </a:xfrm>
          <a:prstGeom prst="rect">
            <a:avLst/>
          </a:prstGeom>
          <a:noFill/>
        </p:spPr>
        <p:txBody>
          <a:bodyPr wrap="square" lIns="0" tIns="0" rIns="0" bIns="0" anchor="t">
            <a:spAutoFit/>
          </a:bodyPr>
          <a:lstStyle/>
          <a:p>
            <a:pPr algn="l">
              <a:lnSpc>
                <a:spcPts val="1282"/>
              </a:lnSpc>
            </a:pPr>
            <a:r>
              <a:rPr sz="950" b="0" i="0">
                <a:solidFill>
                  <a:srgbClr val="5A6570"/>
                </a:solidFill>
                <a:latin typeface="Arial"/>
              </a:rPr>
              <a:t>Sources: FDA 21 CFR 113; equipment makers’ own manuals and specification sheets. No plant operator has confirmed any of this yet — it is what the documents say, not what I have seen.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5.  Who already sells software into a plant like this</a:t>
            </a:r>
          </a:p>
        </p:txBody>
      </p:sp>
      <p:sp>
        <p:nvSpPr>
          <p:cNvPr id="3" name="TextBox 2"/>
          <p:cNvSpPr txBox="1"/>
          <p:nvPr/>
        </p:nvSpPr>
        <p:spPr>
          <a:xfrm>
            <a:off x="502920" y="950000"/>
            <a:ext cx="11186160" cy="377190"/>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Before looking for a gap I mapped the companies already operating here, reading each one by what data it needs rather than what it claims to do. They split cleanly into two kinds.</a:t>
            </a:r>
          </a:p>
        </p:txBody>
      </p:sp>
      <p:sp>
        <p:nvSpPr>
          <p:cNvPr id="4" name="Rounded Rectangle 3"/>
          <p:cNvSpPr/>
          <p:nvPr/>
        </p:nvSpPr>
        <p:spPr>
          <a:xfrm>
            <a:off x="502920" y="1420000"/>
            <a:ext cx="5433080" cy="760000"/>
          </a:xfrm>
          <a:prstGeom prst="roundRect">
            <a:avLst>
              <a:gd name="adj" fmla="val 8000"/>
            </a:avLst>
          </a:prstGeom>
          <a:solidFill>
            <a:srgbClr val="FFFFFF"/>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20000" tIns="40000" rIns="220000" bIns="40000" rtlCol="0" anchor="ctr"/>
          <a:lstStyle/>
          <a:p>
            <a:pPr algn="l">
              <a:lnSpc>
                <a:spcPts val="1625"/>
              </a:lnSpc>
            </a:pPr>
            <a:r>
              <a:rPr sz="1300" b="1" i="0">
                <a:solidFill>
                  <a:srgbClr val="222A35"/>
                </a:solidFill>
                <a:latin typeface="Arial"/>
              </a:rPr>
              <a:t>Application companies</a:t>
            </a:r>
          </a:p>
          <a:p>
            <a:pPr algn="l">
              <a:lnSpc>
                <a:spcPts val="1375"/>
              </a:lnSpc>
              <a:spcBef>
                <a:spcPts val="500"/>
              </a:spcBef>
            </a:pPr>
            <a:r>
              <a:rPr sz="1100" b="0" i="0">
                <a:solidFill>
                  <a:srgbClr val="5A6570"/>
                </a:solidFill>
                <a:latin typeface="Arial"/>
              </a:rPr>
              <a:t>Sell an answer to one specific problem — predicting a machine breakdown, spotting a defect with a camera, managing food-safety records.</a:t>
            </a:r>
          </a:p>
        </p:txBody>
      </p:sp>
      <p:sp>
        <p:nvSpPr>
          <p:cNvPr id="5" name="Rounded Rectangle 4"/>
          <p:cNvSpPr/>
          <p:nvPr/>
        </p:nvSpPr>
        <p:spPr>
          <a:xfrm>
            <a:off x="6256000" y="1420000"/>
            <a:ext cx="5433080" cy="760000"/>
          </a:xfrm>
          <a:prstGeom prst="roundRect">
            <a:avLst>
              <a:gd name="adj" fmla="val 8000"/>
            </a:avLst>
          </a:prstGeom>
          <a:solidFill>
            <a:srgbClr val="E4ECF4"/>
          </a:solidFill>
          <a:ln w="12700">
            <a:solidFill>
              <a:srgbClr val="2F5D8A"/>
            </a:solidFill>
          </a:ln>
          <a:effectLst/>
        </p:spPr>
        <p:style>
          <a:lnRef idx="1">
            <a:schemeClr val="accent1"/>
          </a:lnRef>
          <a:fillRef idx="3">
            <a:schemeClr val="accent1"/>
          </a:fillRef>
          <a:effectRef idx="2">
            <a:schemeClr val="accent1"/>
          </a:effectRef>
          <a:fontRef idx="minor">
            <a:schemeClr val="lt1"/>
          </a:fontRef>
        </p:style>
        <p:txBody>
          <a:bodyPr wrap="square" lIns="220000" tIns="40000" rIns="220000" bIns="40000" rtlCol="0" anchor="ctr"/>
          <a:lstStyle/>
          <a:p>
            <a:pPr algn="l">
              <a:lnSpc>
                <a:spcPts val="1625"/>
              </a:lnSpc>
            </a:pPr>
            <a:r>
              <a:rPr sz="1300" b="1" i="0">
                <a:solidFill>
                  <a:srgbClr val="222A35"/>
                </a:solidFill>
                <a:latin typeface="Arial"/>
              </a:rPr>
              <a:t>“Plumbing” companies</a:t>
            </a:r>
          </a:p>
          <a:p>
            <a:pPr algn="l">
              <a:lnSpc>
                <a:spcPts val="1375"/>
              </a:lnSpc>
              <a:spcBef>
                <a:spcPts val="500"/>
              </a:spcBef>
            </a:pPr>
            <a:r>
              <a:rPr sz="1100" b="0" i="0">
                <a:solidFill>
                  <a:srgbClr val="5A6570"/>
                </a:solidFill>
                <a:latin typeface="Arial"/>
              </a:rPr>
              <a:t>Sell no answer at all. They move the readings from the machine to wherever an answer can be computed. This is where my thesis sits.</a:t>
            </a:r>
          </a:p>
        </p:txBody>
      </p:sp>
      <p:sp>
        <p:nvSpPr>
          <p:cNvPr id="6" name="TextBox 5"/>
          <p:cNvSpPr txBox="1"/>
          <p:nvPr/>
        </p:nvSpPr>
        <p:spPr>
          <a:xfrm>
            <a:off x="502920" y="2350000"/>
            <a:ext cx="11186160" cy="220000"/>
          </a:xfrm>
          <a:prstGeom prst="rect">
            <a:avLst/>
          </a:prstGeom>
          <a:noFill/>
        </p:spPr>
        <p:txBody>
          <a:bodyPr wrap="square" lIns="0" tIns="0" rIns="0" bIns="0" anchor="t">
            <a:spAutoFit/>
          </a:bodyPr>
          <a:lstStyle/>
          <a:p>
            <a:pPr algn="l">
              <a:lnSpc>
                <a:spcPts val="1430"/>
              </a:lnSpc>
            </a:pPr>
            <a:r>
              <a:rPr sz="1100" b="1" i="0">
                <a:solidFill>
                  <a:srgbClr val="2F5D8A"/>
                </a:solidFill>
                <a:latin typeface="Arial"/>
              </a:rPr>
              <a:t>THE PLUMBING SPLITS INTO FOUR LAYERS — EACH A SEPARATE PRODUCT, USUALLY FROM A SEPARATE VENDOR</a:t>
            </a:r>
          </a:p>
        </p:txBody>
      </p:sp>
      <p:sp>
        <p:nvSpPr>
          <p:cNvPr id="7" name="Rounded Rectangle 6"/>
          <p:cNvSpPr/>
          <p:nvPr/>
        </p:nvSpPr>
        <p:spPr>
          <a:xfrm>
            <a:off x="502920" y="2650000"/>
            <a:ext cx="11186160" cy="62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ctr"/>
          <a:lstStyle/>
          <a:p>
            <a:pPr algn="l">
              <a:lnSpc>
                <a:spcPts val="1437"/>
              </a:lnSpc>
            </a:pPr>
            <a:r>
              <a:rPr sz="1150" b="1" i="0">
                <a:solidFill>
                  <a:srgbClr val="FFFFFF"/>
                </a:solidFill>
                <a:latin typeface="Arial"/>
              </a:rPr>
              <a:t>Layer 1 — Machine translator   —   e.g. Litmus Edge</a:t>
            </a:r>
          </a:p>
          <a:p>
            <a:pPr algn="l">
              <a:lnSpc>
                <a:spcPts val="1250"/>
              </a:lnSpc>
              <a:spcBef>
                <a:spcPts val="200"/>
              </a:spcBef>
            </a:pPr>
            <a:r>
              <a:rPr sz="1000" b="0" i="0">
                <a:solidFill>
                  <a:srgbClr val="D8DFE6"/>
                </a:solidFill>
                <a:latin typeface="Arial"/>
              </a:rPr>
              <a:t>Machines from different makers speak different digital languages. This layer reads them and converts everything into one readable format.</a:t>
            </a:r>
          </a:p>
        </p:txBody>
      </p:sp>
      <p:sp>
        <p:nvSpPr>
          <p:cNvPr id="8" name="Down Arrow 7"/>
          <p:cNvSpPr/>
          <p:nvPr/>
        </p:nvSpPr>
        <p:spPr>
          <a:xfrm>
            <a:off x="802920" y="3285000"/>
            <a:ext cx="150000" cy="145000"/>
          </a:xfrm>
          <a:prstGeom prst="downArrow">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920" y="3295000"/>
            <a:ext cx="10586160" cy="145000"/>
          </a:xfrm>
          <a:prstGeom prst="rect">
            <a:avLst/>
          </a:prstGeom>
          <a:noFill/>
        </p:spPr>
        <p:txBody>
          <a:bodyPr wrap="square" lIns="0" tIns="0" rIns="0" bIns="0" anchor="t">
            <a:spAutoFit/>
          </a:bodyPr>
          <a:lstStyle/>
          <a:p>
            <a:pPr algn="l">
              <a:lnSpc>
                <a:spcPts val="1170"/>
              </a:lnSpc>
            </a:pPr>
            <a:r>
              <a:rPr sz="900" b="0" i="1">
                <a:solidFill>
                  <a:srgbClr val="5A6570"/>
                </a:solidFill>
                <a:latin typeface="Arial"/>
              </a:rPr>
              <a:t>raw machine bits pass down</a:t>
            </a:r>
          </a:p>
        </p:txBody>
      </p:sp>
      <p:sp>
        <p:nvSpPr>
          <p:cNvPr id="10" name="Rounded Rectangle 9"/>
          <p:cNvSpPr/>
          <p:nvPr/>
        </p:nvSpPr>
        <p:spPr>
          <a:xfrm>
            <a:off x="502920" y="3445000"/>
            <a:ext cx="11186160" cy="620000"/>
          </a:xfrm>
          <a:prstGeom prst="roundRect">
            <a:avLst>
              <a:gd name="adj" fmla="val 8000"/>
            </a:avLst>
          </a:prstGeom>
          <a:solidFill>
            <a:srgbClr val="3D4B5C"/>
          </a:solidFill>
          <a:ln>
            <a:no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ctr"/>
          <a:lstStyle/>
          <a:p>
            <a:pPr algn="l">
              <a:lnSpc>
                <a:spcPts val="1437"/>
              </a:lnSpc>
            </a:pPr>
            <a:r>
              <a:rPr sz="1150" b="1" i="0">
                <a:solidFill>
                  <a:srgbClr val="FFFFFF"/>
                </a:solidFill>
                <a:latin typeface="Arial"/>
              </a:rPr>
              <a:t>Layer 2 — Collection and history   —   e.g. Ignition</a:t>
            </a:r>
          </a:p>
          <a:p>
            <a:pPr algn="l">
              <a:lnSpc>
                <a:spcPts val="1250"/>
              </a:lnSpc>
              <a:spcBef>
                <a:spcPts val="200"/>
              </a:spcBef>
            </a:pPr>
            <a:r>
              <a:rPr sz="1000" b="0" i="0">
                <a:solidFill>
                  <a:srgbClr val="D8DFE6"/>
                </a:solidFill>
                <a:latin typeface="Arial"/>
              </a:rPr>
              <a:t>Gathers the readings as they arrive, shows them on screens, and stores the history so past runs can be looked up.</a:t>
            </a:r>
          </a:p>
        </p:txBody>
      </p:sp>
      <p:sp>
        <p:nvSpPr>
          <p:cNvPr id="11" name="Down Arrow 10"/>
          <p:cNvSpPr/>
          <p:nvPr/>
        </p:nvSpPr>
        <p:spPr>
          <a:xfrm>
            <a:off x="802920" y="4080000"/>
            <a:ext cx="150000" cy="145000"/>
          </a:xfrm>
          <a:prstGeom prst="downArrow">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42920" y="4090000"/>
            <a:ext cx="10586160" cy="145000"/>
          </a:xfrm>
          <a:prstGeom prst="rect">
            <a:avLst/>
          </a:prstGeom>
          <a:noFill/>
        </p:spPr>
        <p:txBody>
          <a:bodyPr wrap="square" lIns="0" tIns="0" rIns="0" bIns="0" anchor="t">
            <a:spAutoFit/>
          </a:bodyPr>
          <a:lstStyle/>
          <a:p>
            <a:pPr algn="l">
              <a:lnSpc>
                <a:spcPts val="1170"/>
              </a:lnSpc>
            </a:pPr>
            <a:r>
              <a:rPr sz="900" b="0" i="1">
                <a:solidFill>
                  <a:srgbClr val="5A6570"/>
                </a:solidFill>
                <a:latin typeface="Arial"/>
              </a:rPr>
              <a:t>raw signals pass down</a:t>
            </a:r>
          </a:p>
        </p:txBody>
      </p:sp>
      <p:sp>
        <p:nvSpPr>
          <p:cNvPr id="13" name="Rounded Rectangle 12"/>
          <p:cNvSpPr/>
          <p:nvPr/>
        </p:nvSpPr>
        <p:spPr>
          <a:xfrm>
            <a:off x="502920" y="4240000"/>
            <a:ext cx="11186160" cy="620000"/>
          </a:xfrm>
          <a:prstGeom prst="roundRect">
            <a:avLst>
              <a:gd name="adj" fmla="val 8000"/>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ctr"/>
          <a:lstStyle/>
          <a:p>
            <a:pPr algn="l">
              <a:lnSpc>
                <a:spcPts val="1437"/>
              </a:lnSpc>
            </a:pPr>
            <a:r>
              <a:rPr sz="1150" b="1" i="0">
                <a:solidFill>
                  <a:srgbClr val="FFFFFF"/>
                </a:solidFill>
                <a:latin typeface="Arial"/>
              </a:rPr>
              <a:t>Layer 3 — The contextualiser   —   e.g. HighByte</a:t>
            </a:r>
          </a:p>
          <a:p>
            <a:pPr algn="l">
              <a:lnSpc>
                <a:spcPts val="1250"/>
              </a:lnSpc>
              <a:spcBef>
                <a:spcPts val="200"/>
              </a:spcBef>
            </a:pPr>
            <a:r>
              <a:rPr sz="1000" b="0" i="0">
                <a:solidFill>
                  <a:srgbClr val="D8DFE6"/>
                </a:solidFill>
                <a:latin typeface="Arial"/>
              </a:rPr>
              <a:t>Attaches meaning: this temperature trace belongs to batch 4471, product X, line 2. Without this a reading is just a number. Order and barcode data joins here.</a:t>
            </a:r>
          </a:p>
        </p:txBody>
      </p:sp>
      <p:sp>
        <p:nvSpPr>
          <p:cNvPr id="14" name="Down Arrow 13"/>
          <p:cNvSpPr/>
          <p:nvPr/>
        </p:nvSpPr>
        <p:spPr>
          <a:xfrm>
            <a:off x="802920" y="4875000"/>
            <a:ext cx="150000" cy="145000"/>
          </a:xfrm>
          <a:prstGeom prst="downArrow">
            <a:avLst/>
          </a:prstGeom>
          <a:solidFill>
            <a:srgbClr val="C8D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42920" y="4885000"/>
            <a:ext cx="10586160" cy="145000"/>
          </a:xfrm>
          <a:prstGeom prst="rect">
            <a:avLst/>
          </a:prstGeom>
          <a:noFill/>
        </p:spPr>
        <p:txBody>
          <a:bodyPr wrap="square" lIns="0" tIns="0" rIns="0" bIns="0" anchor="t">
            <a:spAutoFit/>
          </a:bodyPr>
          <a:lstStyle/>
          <a:p>
            <a:pPr algn="l">
              <a:lnSpc>
                <a:spcPts val="1170"/>
              </a:lnSpc>
            </a:pPr>
            <a:r>
              <a:rPr sz="900" b="0" i="1">
                <a:solidFill>
                  <a:srgbClr val="5A6570"/>
                </a:solidFill>
                <a:latin typeface="Arial"/>
              </a:rPr>
              <a:t>the batch, now labelled, passes down</a:t>
            </a:r>
          </a:p>
        </p:txBody>
      </p:sp>
      <p:sp>
        <p:nvSpPr>
          <p:cNvPr id="16" name="Rounded Rectangle 15"/>
          <p:cNvSpPr/>
          <p:nvPr/>
        </p:nvSpPr>
        <p:spPr>
          <a:xfrm>
            <a:off x="502920" y="5035000"/>
            <a:ext cx="11186160" cy="620000"/>
          </a:xfrm>
          <a:prstGeom prst="roundRect">
            <a:avLst>
              <a:gd name="adj" fmla="val 8000"/>
            </a:avLst>
          </a:prstGeom>
          <a:solidFill>
            <a:srgbClr val="2D6E63"/>
          </a:solidFill>
          <a:ln>
            <a:no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ctr"/>
          <a:lstStyle/>
          <a:p>
            <a:pPr algn="l">
              <a:lnSpc>
                <a:spcPts val="1437"/>
              </a:lnSpc>
            </a:pPr>
            <a:r>
              <a:rPr sz="1150" b="1" i="0">
                <a:solidFill>
                  <a:srgbClr val="FFFFFF"/>
                </a:solidFill>
                <a:latin typeface="Arial"/>
              </a:rPr>
              <a:t>Layer 4 — Intelligence   —   e.g. cloud dashboards</a:t>
            </a:r>
          </a:p>
          <a:p>
            <a:pPr algn="l">
              <a:lnSpc>
                <a:spcPts val="1250"/>
              </a:lnSpc>
              <a:spcBef>
                <a:spcPts val="200"/>
              </a:spcBef>
            </a:pPr>
            <a:r>
              <a:rPr sz="1000" b="0" i="0">
                <a:solidFill>
                  <a:srgbClr val="D8DFE6"/>
                </a:solidFill>
                <a:latin typeface="Arial"/>
              </a:rPr>
              <a:t>Turns it into something worth having: process improvements, or the FDA sterilisation paperwork produced automatically instead of by hand.</a:t>
            </a:r>
          </a:p>
        </p:txBody>
      </p:sp>
      <p:sp>
        <p:nvSpPr>
          <p:cNvPr id="17" name="TextBox 16"/>
          <p:cNvSpPr txBox="1"/>
          <p:nvPr/>
        </p:nvSpPr>
        <p:spPr>
          <a:xfrm>
            <a:off x="502920" y="5755000"/>
            <a:ext cx="11186160" cy="514350"/>
          </a:xfrm>
          <a:prstGeom prst="rect">
            <a:avLst/>
          </a:prstGeom>
          <a:noFill/>
        </p:spPr>
        <p:txBody>
          <a:bodyPr wrap="square" lIns="0" tIns="0" rIns="0" bIns="0" anchor="t">
            <a:spAutoFit/>
          </a:bodyPr>
          <a:lstStyle/>
          <a:p>
            <a:pPr algn="l">
              <a:lnSpc>
                <a:spcPts val="1350"/>
              </a:lnSpc>
            </a:pPr>
            <a:r>
              <a:rPr sz="1000" b="0" i="0">
                <a:solidFill>
                  <a:srgbClr val="5A6570"/>
                </a:solidFill>
                <a:latin typeface="Arial"/>
              </a:rPr>
              <a:t>Across every company found, only four kinds of data are ever involved: slow process readings (a temperature every few seconds) · high-frequency physics data (vibration, for predicting breakdowns) · camera images · and batch and event details (which product, which lot, which shift). The hard and valuable join is the first with the last — and that is Layer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6.  Where I think the opportunity is — three candidate plays</a:t>
            </a:r>
          </a:p>
        </p:txBody>
      </p:sp>
      <p:sp>
        <p:nvSpPr>
          <p:cNvPr id="3" name="TextBox 2"/>
          <p:cNvSpPr txBox="1"/>
          <p:nvPr/>
        </p:nvSpPr>
        <p:spPr>
          <a:xfrm>
            <a:off x="502920" y="950000"/>
            <a:ext cx="11186160" cy="377190"/>
          </a:xfrm>
          <a:prstGeom prst="rect">
            <a:avLst/>
          </a:prstGeom>
          <a:noFill/>
        </p:spPr>
        <p:txBody>
          <a:bodyPr wrap="square" lIns="0" tIns="0" rIns="0" bIns="0" anchor="t">
            <a:spAutoFit/>
          </a:bodyPr>
          <a:lstStyle/>
          <a:p>
            <a:pPr algn="l">
              <a:lnSpc>
                <a:spcPts val="1485"/>
              </a:lnSpc>
            </a:pPr>
            <a:r>
              <a:rPr sz="1100" b="0" i="0">
                <a:solidFill>
                  <a:srgbClr val="5A6570"/>
                </a:solidFill>
                <a:latin typeface="Arial"/>
              </a:rPr>
              <a:t>These are hypotheses to be tested in interviews, not conclusions. Each is stated with the thing that makes it difficult, because that is what the next few weeks have to resolve.</a:t>
            </a:r>
          </a:p>
        </p:txBody>
      </p:sp>
      <p:sp>
        <p:nvSpPr>
          <p:cNvPr id="4" name="Rectangle 3"/>
          <p:cNvSpPr/>
          <p:nvPr/>
        </p:nvSpPr>
        <p:spPr>
          <a:xfrm>
            <a:off x="502920" y="1500000"/>
            <a:ext cx="3528720" cy="640000"/>
          </a:xfrm>
          <a:prstGeom prst="rect">
            <a:avLst/>
          </a:prstGeom>
          <a:solidFill>
            <a:srgbClr val="B54F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625"/>
              </a:lnSpc>
            </a:pPr>
            <a:r>
              <a:rPr sz="1300" b="1" i="0">
                <a:solidFill>
                  <a:srgbClr val="FFFFFF"/>
                </a:solidFill>
                <a:latin typeface="Arial"/>
              </a:rPr>
              <a:t>1.  APPLICATION</a:t>
            </a:r>
          </a:p>
          <a:p>
            <a:pPr algn="ctr">
              <a:lnSpc>
                <a:spcPts val="1375"/>
              </a:lnSpc>
              <a:spcBef>
                <a:spcPts val="300"/>
              </a:spcBef>
            </a:pPr>
            <a:r>
              <a:rPr sz="1100" b="0" i="0">
                <a:solidFill>
                  <a:srgbClr val="E8EDF2"/>
                </a:solidFill>
                <a:latin typeface="Arial"/>
              </a:rPr>
              <a:t>Build for one process only</a:t>
            </a:r>
          </a:p>
        </p:txBody>
      </p:sp>
      <p:sp>
        <p:nvSpPr>
          <p:cNvPr id="5" name="Rectangle 4"/>
          <p:cNvSpPr/>
          <p:nvPr/>
        </p:nvSpPr>
        <p:spPr>
          <a:xfrm>
            <a:off x="502920" y="2140000"/>
            <a:ext cx="3528720" cy="2500000"/>
          </a:xfrm>
          <a:prstGeom prst="rect">
            <a:avLst/>
          </a:prstGeom>
          <a:solidFill>
            <a:srgbClr val="FAECE8"/>
          </a:solidFill>
          <a:ln>
            <a:no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437"/>
              </a:lnSpc>
            </a:pPr>
            <a:r>
              <a:rPr sz="1150" b="1" i="0">
                <a:solidFill>
                  <a:srgbClr val="1A1A1A"/>
                </a:solidFill>
                <a:latin typeface="Arial"/>
              </a:rPr>
              <a:t>Solve a specific problem on a specific kind of line, and go deep.</a:t>
            </a:r>
          </a:p>
          <a:p>
            <a:pPr algn="l">
              <a:lnSpc>
                <a:spcPts val="1375"/>
              </a:lnSpc>
              <a:spcBef>
                <a:spcPts val="800"/>
              </a:spcBef>
            </a:pPr>
            <a:r>
              <a:rPr sz="1100" b="0" i="0">
                <a:solidFill>
                  <a:srgbClr val="5A6570"/>
                </a:solidFill>
                <a:latin typeface="Arial"/>
              </a:rPr>
              <a:t>What a solution needs is set by the process, so a product built for pressure-cooking cans does not transfer to cheese vats. Depth is the defence against a bigger competitor.</a:t>
            </a:r>
          </a:p>
          <a:p>
            <a:pPr algn="l">
              <a:lnSpc>
                <a:spcPts val="1312"/>
              </a:lnSpc>
              <a:spcBef>
                <a:spcPts val="1000"/>
              </a:spcBef>
            </a:pPr>
            <a:r>
              <a:rPr sz="1050" b="0" i="0">
                <a:solidFill>
                  <a:srgbClr val="B54F35"/>
                </a:solidFill>
                <a:latin typeface="Arial"/>
              </a:rPr>
              <a:t>Difficulty: each process is small — 59 to 115 US firms in the target size band.</a:t>
            </a:r>
          </a:p>
        </p:txBody>
      </p:sp>
      <p:sp>
        <p:nvSpPr>
          <p:cNvPr id="6" name="Rectangle 5"/>
          <p:cNvSpPr/>
          <p:nvPr/>
        </p:nvSpPr>
        <p:spPr>
          <a:xfrm>
            <a:off x="4331640" y="1500000"/>
            <a:ext cx="3528720" cy="640000"/>
          </a:xfrm>
          <a:prstGeom prst="rect">
            <a:avLst/>
          </a:prstGeom>
          <a:solidFill>
            <a:srgbClr val="2F5D8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625"/>
              </a:lnSpc>
            </a:pPr>
            <a:r>
              <a:rPr sz="1300" b="1" i="0">
                <a:solidFill>
                  <a:srgbClr val="FFFFFF"/>
                </a:solidFill>
                <a:latin typeface="Arial"/>
              </a:rPr>
              <a:t>2.  PLUMBING</a:t>
            </a:r>
          </a:p>
          <a:p>
            <a:pPr algn="ctr">
              <a:lnSpc>
                <a:spcPts val="1375"/>
              </a:lnSpc>
              <a:spcBef>
                <a:spcPts val="300"/>
              </a:spcBef>
            </a:pPr>
            <a:r>
              <a:rPr sz="1100" b="0" i="0">
                <a:solidFill>
                  <a:srgbClr val="E8EDF2"/>
                </a:solidFill>
                <a:latin typeface="Arial"/>
              </a:rPr>
              <a:t>Build the data layer, cheaper</a:t>
            </a:r>
          </a:p>
        </p:txBody>
      </p:sp>
      <p:sp>
        <p:nvSpPr>
          <p:cNvPr id="7" name="Rectangle 6"/>
          <p:cNvSpPr/>
          <p:nvPr/>
        </p:nvSpPr>
        <p:spPr>
          <a:xfrm>
            <a:off x="4331640" y="2140000"/>
            <a:ext cx="3528720" cy="2500000"/>
          </a:xfrm>
          <a:prstGeom prst="rect">
            <a:avLst/>
          </a:prstGeom>
          <a:solidFill>
            <a:srgbClr val="E4ECF4"/>
          </a:solidFill>
          <a:ln>
            <a:no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437"/>
              </a:lnSpc>
            </a:pPr>
            <a:r>
              <a:rPr sz="1150" b="1" i="0">
                <a:solidFill>
                  <a:srgbClr val="1A1A1A"/>
                </a:solidFill>
                <a:latin typeface="Arial"/>
              </a:rPr>
              <a:t>Connect the machine readings to the batch they belong to — Layer 3 above — without the six-figure project it takes today.</a:t>
            </a:r>
          </a:p>
          <a:p>
            <a:pPr algn="l">
              <a:lnSpc>
                <a:spcPts val="1375"/>
              </a:lnSpc>
              <a:spcBef>
                <a:spcPts val="800"/>
              </a:spcBef>
            </a:pPr>
            <a:r>
              <a:rPr sz="1100" b="0" i="0">
                <a:solidFill>
                  <a:srgbClr val="5A6570"/>
                </a:solidFill>
                <a:latin typeface="Arial"/>
              </a:rPr>
              <a:t>A mid-market plant currently faces roughly $20k plus $100k for a custom build, or about $500k for a full installation. Most therefore do nothing and keep using paper. AI now makes building this far cheaper.</a:t>
            </a:r>
          </a:p>
          <a:p>
            <a:pPr algn="l">
              <a:lnSpc>
                <a:spcPts val="1312"/>
              </a:lnSpc>
              <a:spcBef>
                <a:spcPts val="1000"/>
              </a:spcBef>
            </a:pPr>
            <a:r>
              <a:rPr sz="1050" b="0" i="0">
                <a:solidFill>
                  <a:srgbClr val="2F5D8A"/>
                </a:solidFill>
                <a:latin typeface="Arial"/>
              </a:rPr>
              <a:t>Difficulty: in older plants every machine has to be connected and named one at a time, and the batch record has to be captured digitally rather than typed in.</a:t>
            </a:r>
          </a:p>
        </p:txBody>
      </p:sp>
      <p:sp>
        <p:nvSpPr>
          <p:cNvPr id="8" name="Rectangle 7"/>
          <p:cNvSpPr/>
          <p:nvPr/>
        </p:nvSpPr>
        <p:spPr>
          <a:xfrm>
            <a:off x="8160360" y="1500000"/>
            <a:ext cx="3528720" cy="640000"/>
          </a:xfrm>
          <a:prstGeom prst="rect">
            <a:avLst/>
          </a:prstGeom>
          <a:solidFill>
            <a:srgbClr val="2D6E63"/>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1625"/>
              </a:lnSpc>
            </a:pPr>
            <a:r>
              <a:rPr sz="1300" b="1" i="0">
                <a:solidFill>
                  <a:srgbClr val="FFFFFF"/>
                </a:solidFill>
                <a:latin typeface="Arial"/>
              </a:rPr>
              <a:t>3.  SELL THE DATA</a:t>
            </a:r>
          </a:p>
          <a:p>
            <a:pPr algn="ctr">
              <a:lnSpc>
                <a:spcPts val="1375"/>
              </a:lnSpc>
              <a:spcBef>
                <a:spcPts val="300"/>
              </a:spcBef>
            </a:pPr>
            <a:r>
              <a:rPr sz="1100" b="0" i="0">
                <a:solidFill>
                  <a:srgbClr val="E8EDF2"/>
                </a:solidFill>
                <a:latin typeface="Arial"/>
              </a:rPr>
              <a:t>To robotics companies</a:t>
            </a:r>
          </a:p>
        </p:txBody>
      </p:sp>
      <p:sp>
        <p:nvSpPr>
          <p:cNvPr id="9" name="Rectangle 8"/>
          <p:cNvSpPr/>
          <p:nvPr/>
        </p:nvSpPr>
        <p:spPr>
          <a:xfrm>
            <a:off x="8160360" y="2140000"/>
            <a:ext cx="3528720" cy="2500000"/>
          </a:xfrm>
          <a:prstGeom prst="rect">
            <a:avLst/>
          </a:prstGeom>
          <a:solidFill>
            <a:srgbClr val="E4EFED"/>
          </a:solidFill>
          <a:ln>
            <a:noFill/>
          </a:ln>
          <a:effectLst/>
        </p:spPr>
        <p:style>
          <a:lnRef idx="1">
            <a:schemeClr val="accent1"/>
          </a:lnRef>
          <a:fillRef idx="3">
            <a:schemeClr val="accent1"/>
          </a:fillRef>
          <a:effectRef idx="2">
            <a:schemeClr val="accent1"/>
          </a:effectRef>
          <a:fontRef idx="minor">
            <a:schemeClr val="lt1"/>
          </a:fontRef>
        </p:style>
        <p:txBody>
          <a:bodyPr wrap="square" lIns="190000" tIns="40000" rIns="190000" bIns="40000" rtlCol="0" anchor="t"/>
          <a:lstStyle/>
          <a:p>
            <a:pPr algn="l">
              <a:lnSpc>
                <a:spcPts val="1437"/>
              </a:lnSpc>
            </a:pPr>
            <a:r>
              <a:rPr sz="1150" b="1" i="0">
                <a:solidFill>
                  <a:srgbClr val="1A1A1A"/>
                </a:solidFill>
                <a:latin typeface="Arial"/>
              </a:rPr>
              <a:t>Record how people actually work on a food line, and sell that as training data.</a:t>
            </a:r>
          </a:p>
          <a:p>
            <a:pPr algn="l">
              <a:lnSpc>
                <a:spcPts val="1375"/>
              </a:lnSpc>
              <a:spcBef>
                <a:spcPts val="800"/>
              </a:spcBef>
            </a:pPr>
            <a:r>
              <a:rPr sz="1100" b="0" i="0">
                <a:solidFill>
                  <a:srgbClr val="5A6570"/>
                </a:solidFill>
                <a:latin typeface="Arial"/>
              </a:rPr>
              <a:t>Companies building humanoid robots (Figure, 1X, Tesla Optimus) need footage of humans doing dexterous physical work in messy, wet, unpredictable places. Food plants are full of exactly that: sorting produce by hand, packing cans, lifting crates.</a:t>
            </a:r>
          </a:p>
          <a:p>
            <a:pPr algn="l">
              <a:lnSpc>
                <a:spcPts val="1312"/>
              </a:lnSpc>
              <a:spcBef>
                <a:spcPts val="1000"/>
              </a:spcBef>
            </a:pPr>
            <a:r>
              <a:rPr sz="1050" b="0" i="0">
                <a:solidFill>
                  <a:srgbClr val="2D6E63"/>
                </a:solidFill>
                <a:latin typeface="Arial"/>
              </a:rPr>
              <a:t>Difficulty: it depends entirely on plants allowing workers to be recorded on the floor.</a:t>
            </a:r>
          </a:p>
        </p:txBody>
      </p:sp>
      <p:sp>
        <p:nvSpPr>
          <p:cNvPr id="10" name="Rounded Rectangle 9"/>
          <p:cNvSpPr/>
          <p:nvPr/>
        </p:nvSpPr>
        <p:spPr>
          <a:xfrm>
            <a:off x="502920" y="4880000"/>
            <a:ext cx="11186160" cy="900000"/>
          </a:xfrm>
          <a:prstGeom prst="roundRect">
            <a:avLst>
              <a:gd name="adj" fmla="val 8000"/>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240000" tIns="40000" rIns="240000" bIns="40000" rtlCol="0" anchor="ctr"/>
          <a:lstStyle/>
          <a:p>
            <a:pPr algn="l">
              <a:lnSpc>
                <a:spcPts val="1625"/>
              </a:lnSpc>
            </a:pPr>
            <a:r>
              <a:rPr sz="1300" b="1" i="0">
                <a:solidFill>
                  <a:srgbClr val="FFFFFF"/>
                </a:solidFill>
                <a:latin typeface="Arial"/>
              </a:rPr>
              <a:t>The honest status of all three</a:t>
            </a:r>
          </a:p>
          <a:p>
            <a:pPr algn="l">
              <a:lnSpc>
                <a:spcPts val="1437"/>
              </a:lnSpc>
              <a:spcBef>
                <a:spcPts val="500"/>
              </a:spcBef>
            </a:pPr>
            <a:r>
              <a:rPr sz="1150" b="0" i="0">
                <a:solidFill>
                  <a:srgbClr val="C8D2DC"/>
                </a:solidFill>
                <a:latin typeface="Arial"/>
              </a:rPr>
              <a:t>No plant operator has confirmed any of this. Everything so far comes from equipment manuals, federal regulations and vendors’ own material. The paper-chart finding on the previous slide is the first real evidence, and it points towards play 2 being about getting data off machines in the first place, rather than merely organising data that is already flowing.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5529"/>
            <a:ext cx="12192000" cy="461665"/>
          </a:xfrm>
          <a:prstGeom prst="rect">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40000" rIns="90000" bIns="40000" rtlCol="0" anchor="ctr"/>
          <a:lstStyle/>
          <a:p>
            <a:pPr algn="ctr">
              <a:lnSpc>
                <a:spcPts val="2750"/>
              </a:lnSpc>
            </a:pPr>
            <a:r>
              <a:rPr sz="2200" b="1" i="0">
                <a:solidFill>
                  <a:srgbClr val="FFFFFF"/>
                </a:solidFill>
                <a:latin typeface="Arial"/>
              </a:rPr>
              <a:t>7.  Next steps, and two asks</a:t>
            </a:r>
          </a:p>
        </p:txBody>
      </p:sp>
      <p:sp>
        <p:nvSpPr>
          <p:cNvPr id="3" name="Rounded Rectangle 2"/>
          <p:cNvSpPr/>
          <p:nvPr/>
        </p:nvSpPr>
        <p:spPr>
          <a:xfrm>
            <a:off x="502920" y="950000"/>
            <a:ext cx="5443080" cy="14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t"/>
          <a:lstStyle/>
          <a:p>
            <a:pPr algn="l">
              <a:lnSpc>
                <a:spcPts val="1250"/>
              </a:lnSpc>
            </a:pPr>
            <a:r>
              <a:rPr sz="1000" b="1" i="0">
                <a:solidFill>
                  <a:srgbClr val="2F5D8A"/>
                </a:solidFill>
                <a:latin typeface="Arial"/>
              </a:rPr>
              <a:t>BAKER LIBRARY — YOUR FEEDBACK</a:t>
            </a:r>
          </a:p>
          <a:p>
            <a:pPr algn="l">
              <a:lnSpc>
                <a:spcPts val="1687"/>
              </a:lnSpc>
              <a:spcBef>
                <a:spcPts val="400"/>
              </a:spcBef>
            </a:pPr>
            <a:r>
              <a:rPr sz="1350" b="1" i="0">
                <a:solidFill>
                  <a:srgbClr val="222A35"/>
                </a:solidFill>
                <a:latin typeface="Arial"/>
              </a:rPr>
              <a:t>There is more there than can be read</a:t>
            </a:r>
          </a:p>
          <a:p>
            <a:pPr algn="l">
              <a:lnSpc>
                <a:spcPts val="1312"/>
              </a:lnSpc>
              <a:spcBef>
                <a:spcPts val="600"/>
              </a:spcBef>
            </a:pPr>
            <a:r>
              <a:rPr sz="1050" b="0" i="0">
                <a:solidFill>
                  <a:srgbClr val="5A6570"/>
                </a:solidFill>
                <a:latin typeface="Arial"/>
              </a:rPr>
              <a:t>The databases hold far more reports than I can work through by hand in this time. I am building an AI-agent workflow to read and distil them instead of reading serially.</a:t>
            </a:r>
          </a:p>
        </p:txBody>
      </p:sp>
      <p:sp>
        <p:nvSpPr>
          <p:cNvPr id="4" name="Rounded Rectangle 3"/>
          <p:cNvSpPr/>
          <p:nvPr/>
        </p:nvSpPr>
        <p:spPr>
          <a:xfrm>
            <a:off x="6246000" y="950000"/>
            <a:ext cx="5443080" cy="14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t"/>
          <a:lstStyle/>
          <a:p>
            <a:pPr algn="l">
              <a:lnSpc>
                <a:spcPts val="1250"/>
              </a:lnSpc>
            </a:pPr>
            <a:r>
              <a:rPr sz="1000" b="1" i="0">
                <a:solidFill>
                  <a:srgbClr val="3D4B5C"/>
                </a:solidFill>
                <a:latin typeface="Arial"/>
              </a:rPr>
              <a:t>THE FOUR PLUMBING LAYERS</a:t>
            </a:r>
          </a:p>
          <a:p>
            <a:pPr algn="l">
              <a:lnSpc>
                <a:spcPts val="1687"/>
              </a:lnSpc>
              <a:spcBef>
                <a:spcPts val="400"/>
              </a:spcBef>
            </a:pPr>
            <a:r>
              <a:rPr sz="1350" b="1" i="0">
                <a:solidFill>
                  <a:srgbClr val="222A35"/>
                </a:solidFill>
                <a:latin typeface="Arial"/>
              </a:rPr>
              <a:t>Study each one properly</a:t>
            </a:r>
          </a:p>
          <a:p>
            <a:pPr algn="l">
              <a:lnSpc>
                <a:spcPts val="1312"/>
              </a:lnSpc>
              <a:spcBef>
                <a:spcPts val="600"/>
              </a:spcBef>
            </a:pPr>
            <a:r>
              <a:rPr sz="1050" b="0" i="0">
                <a:solidFill>
                  <a:srgbClr val="5A6570"/>
                </a:solidFill>
                <a:latin typeface="Arial"/>
              </a:rPr>
              <a:t>Who operates in each layer, what it costs a plant, and which parts are genuinely difficult rather than merely tedious — because only the difficult parts can support a company.</a:t>
            </a:r>
          </a:p>
        </p:txBody>
      </p:sp>
      <p:sp>
        <p:nvSpPr>
          <p:cNvPr id="5" name="Rounded Rectangle 4"/>
          <p:cNvSpPr/>
          <p:nvPr/>
        </p:nvSpPr>
        <p:spPr>
          <a:xfrm>
            <a:off x="502920" y="2510000"/>
            <a:ext cx="5443080" cy="14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t"/>
          <a:lstStyle/>
          <a:p>
            <a:pPr algn="l">
              <a:lnSpc>
                <a:spcPts val="1250"/>
              </a:lnSpc>
            </a:pPr>
            <a:r>
              <a:rPr sz="1000" b="1" i="0">
                <a:solidFill>
                  <a:srgbClr val="2D6E63"/>
                </a:solidFill>
                <a:latin typeface="Arial"/>
              </a:rPr>
              <a:t>CHEESE AND SAUCES</a:t>
            </a:r>
          </a:p>
          <a:p>
            <a:pPr algn="l">
              <a:lnSpc>
                <a:spcPts val="1687"/>
              </a:lnSpc>
              <a:spcBef>
                <a:spcPts val="400"/>
              </a:spcBef>
            </a:pPr>
            <a:r>
              <a:rPr sz="1350" b="1" i="0">
                <a:solidFill>
                  <a:srgbClr val="222A35"/>
                </a:solidFill>
                <a:latin typeface="Arial"/>
              </a:rPr>
              <a:t>Finish the other two processes</a:t>
            </a:r>
          </a:p>
          <a:p>
            <a:pPr algn="l">
              <a:lnSpc>
                <a:spcPts val="1312"/>
              </a:lnSpc>
              <a:spcBef>
                <a:spcPts val="600"/>
              </a:spcBef>
            </a:pPr>
            <a:r>
              <a:rPr sz="1050" b="0" i="0">
                <a:solidFill>
                  <a:srgbClr val="5A6570"/>
                </a:solidFill>
                <a:latin typeface="Arial"/>
              </a:rPr>
              <a:t>Walk both lines the way I walked canned vegetables, then use all three together to write specific problem statements at the level of an individual operator’s task.</a:t>
            </a:r>
          </a:p>
        </p:txBody>
      </p:sp>
      <p:sp>
        <p:nvSpPr>
          <p:cNvPr id="6" name="Rounded Rectangle 5"/>
          <p:cNvSpPr/>
          <p:nvPr/>
        </p:nvSpPr>
        <p:spPr>
          <a:xfrm>
            <a:off x="6246000" y="2510000"/>
            <a:ext cx="5443080" cy="1420000"/>
          </a:xfrm>
          <a:prstGeom prst="roundRect">
            <a:avLst>
              <a:gd name="adj" fmla="val 8000"/>
            </a:avLst>
          </a:prstGeom>
          <a:solidFill>
            <a:srgbClr val="F2F4F7"/>
          </a:solidFill>
          <a:ln w="12700">
            <a:solidFill>
              <a:srgbClr val="C8D0D8"/>
            </a:solidFill>
          </a:ln>
          <a:effectLst/>
        </p:spPr>
        <p:style>
          <a:lnRef idx="1">
            <a:schemeClr val="accent1"/>
          </a:lnRef>
          <a:fillRef idx="3">
            <a:schemeClr val="accent1"/>
          </a:fillRef>
          <a:effectRef idx="2">
            <a:schemeClr val="accent1"/>
          </a:effectRef>
          <a:fontRef idx="minor">
            <a:schemeClr val="lt1"/>
          </a:fontRef>
        </p:style>
        <p:txBody>
          <a:bodyPr wrap="square" lIns="200000" tIns="40000" rIns="200000" bIns="40000" rtlCol="0" anchor="t"/>
          <a:lstStyle/>
          <a:p>
            <a:pPr algn="l">
              <a:lnSpc>
                <a:spcPts val="1250"/>
              </a:lnSpc>
            </a:pPr>
            <a:r>
              <a:rPr sz="1000" b="1" i="0">
                <a:solidFill>
                  <a:srgbClr val="B54F35"/>
                </a:solidFill>
                <a:latin typeface="Arial"/>
              </a:rPr>
              <a:t>START THE INTERVIEWS</a:t>
            </a:r>
          </a:p>
          <a:p>
            <a:pPr algn="l">
              <a:lnSpc>
                <a:spcPts val="1687"/>
              </a:lnSpc>
              <a:spcBef>
                <a:spcPts val="400"/>
              </a:spcBef>
            </a:pPr>
            <a:r>
              <a:rPr sz="1350" b="1" i="0">
                <a:solidFill>
                  <a:srgbClr val="222A35"/>
                </a:solidFill>
                <a:latin typeface="Arial"/>
              </a:rPr>
              <a:t>Systems integrators first, then plants</a:t>
            </a:r>
          </a:p>
          <a:p>
            <a:pPr algn="l">
              <a:lnSpc>
                <a:spcPts val="1312"/>
              </a:lnSpc>
              <a:spcBef>
                <a:spcPts val="600"/>
              </a:spcBef>
            </a:pPr>
            <a:r>
              <a:rPr sz="1050" b="0" i="0">
                <a:solidFill>
                  <a:srgbClr val="5A6570"/>
                </a:solidFill>
                <a:latin typeface="Arial"/>
              </a:rPr>
              <a:t>A systems integrator is the contractor who wires up food plants for a living. They can tell me in ten minutes what is actually measured on a $40M line — which is the fastest way to confirm or kill the paper-chart finding.</a:t>
            </a:r>
          </a:p>
        </p:txBody>
      </p:sp>
      <p:sp>
        <p:nvSpPr>
          <p:cNvPr id="8" name="TextBox 7"/>
          <p:cNvSpPr txBox="1"/>
          <p:nvPr/>
        </p:nvSpPr>
        <p:spPr>
          <a:xfrm>
            <a:off x="502920" y="5450000"/>
            <a:ext cx="11186160" cy="342900"/>
          </a:xfrm>
          <a:prstGeom prst="rect">
            <a:avLst/>
          </a:prstGeom>
          <a:noFill/>
        </p:spPr>
        <p:txBody>
          <a:bodyPr wrap="square" lIns="0" tIns="0" rIns="0" bIns="0" anchor="t">
            <a:spAutoFit/>
          </a:bodyPr>
          <a:lstStyle/>
          <a:p>
            <a:pPr algn="l">
              <a:lnSpc>
                <a:spcPts val="1350"/>
              </a:lnSpc>
            </a:pPr>
            <a:r>
              <a:rPr sz="1000" b="0" i="0">
                <a:solidFill>
                  <a:srgbClr val="5A6570"/>
                </a:solidFill>
                <a:latin typeface="Arial"/>
              </a:rPr>
              <a:t>Deliverable unchanged, 11 December: a written market study — the operating map with cost structure, the vendor landscape, what the interviews show about adoption and who holds the budget, and three to five opportunity theses, each with the assumption it depends on and the evidence that would kill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2680</Words>
  <Application>Microsoft Office PowerPoint</Application>
  <PresentationFormat>Widescreen</PresentationFormat>
  <Paragraphs>165</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Aman</cp:lastModifiedBy>
  <cp:revision>3</cp:revision>
  <dcterms:created xsi:type="dcterms:W3CDTF">2013-01-27T09:14:16Z</dcterms:created>
  <dcterms:modified xsi:type="dcterms:W3CDTF">2026-09-21T18:36:42Z</dcterms:modified>
  <cp:category/>
</cp:coreProperties>
</file>