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" y="1051560"/>
            <a:ext cx="310896" cy="310896"/>
          </a:xfrm>
          <a:prstGeom prst="ellipse">
            <a:avLst/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80744" y="1207008"/>
            <a:ext cx="1313688" cy="0"/>
          </a:xfrm>
          <a:prstGeom prst="line">
            <a:avLst/>
          </a:prstGeom>
          <a:noFill/>
          <a:ln w="19050">
            <a:solidFill>
              <a:srgbClr val="EDF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94432" y="1051560"/>
            <a:ext cx="310896" cy="310896"/>
          </a:xfrm>
          <a:prstGeom prst="ellipse">
            <a:avLst/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05328" y="1207008"/>
            <a:ext cx="1313688" cy="0"/>
          </a:xfrm>
          <a:prstGeom prst="line">
            <a:avLst/>
          </a:prstGeom>
          <a:noFill/>
          <a:ln w="19050">
            <a:solidFill>
              <a:srgbClr val="EDF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19016" y="1051560"/>
            <a:ext cx="310896" cy="310896"/>
          </a:xfrm>
          <a:prstGeom prst="ellipse">
            <a:avLst/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29912" y="1207008"/>
            <a:ext cx="1313688" cy="0"/>
          </a:xfrm>
          <a:prstGeom prst="line">
            <a:avLst/>
          </a:prstGeom>
          <a:noFill/>
          <a:ln w="19050">
            <a:solidFill>
              <a:srgbClr val="EDF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051560"/>
            <a:ext cx="310896" cy="310896"/>
          </a:xfrm>
          <a:prstGeom prst="ellipse">
            <a:avLst/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207008"/>
            <a:ext cx="1313688" cy="0"/>
          </a:xfrm>
          <a:prstGeom prst="line">
            <a:avLst/>
          </a:prstGeom>
          <a:noFill/>
          <a:ln w="19050">
            <a:solidFill>
              <a:srgbClr val="EDF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68184" y="1051560"/>
            <a:ext cx="310896" cy="310896"/>
          </a:xfrm>
          <a:prstGeom prst="ellipse">
            <a:avLst/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79080" y="1207008"/>
            <a:ext cx="1313688" cy="0"/>
          </a:xfrm>
          <a:prstGeom prst="line">
            <a:avLst/>
          </a:prstGeom>
          <a:noFill/>
          <a:ln w="19050">
            <a:solidFill>
              <a:srgbClr val="EDF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92768" y="1051560"/>
            <a:ext cx="310896" cy="310896"/>
          </a:xfrm>
          <a:prstGeom prst="ellipse">
            <a:avLst/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3664" y="1207008"/>
            <a:ext cx="1313688" cy="0"/>
          </a:xfrm>
          <a:prstGeom prst="line">
            <a:avLst/>
          </a:prstGeom>
          <a:noFill/>
          <a:ln w="19050">
            <a:solidFill>
              <a:srgbClr val="EDF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17352" y="1051560"/>
            <a:ext cx="310896" cy="310896"/>
          </a:xfrm>
          <a:prstGeom prst="ellipse">
            <a:avLst/>
          </a:prstGeom>
          <a:solidFill>
            <a:srgbClr val="D99000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6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MAP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Beverage / CPG — India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MAP-mode output · Problem-Statement Engine §1 (1a–1e)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frame · value chain · step structure · seams · why-now vectors · 35-problem inventory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July 2026 · Companion deck: United States · Sources: searched current-year references; numbers as ranges; conflicts recorded, not resolved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· Scope &amp; method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· Choose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#1 in the running order: F&amp;B / CPG — home turf, densest founder-edge coverage (cold chain, planning, traceability, distribution, manufacturing ops). Geography: India + US mapped in parallel, one deck each.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25112" y="12801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07992" y="18288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industry vertical, walked end-to-end along its own value chain (7 steps + enabling layers). Not a single functional lane; not a whole meta-sector.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01584" y="12801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84464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discipline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84464" y="18288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searched sources only — no model memory for facts. Numbers as ranges with source notes. Where sources conflict, the conflict is recorded rather than resolved. ITC firsthand knowledge used for calibration only.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discipline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holds industry-structure depth only: cost structure, margin pools, power, players, 3-year change, pains. Solution depth, DMU, feasibility = EVALUATE mode, run only on triage survivors.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5112" y="3703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format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07992" y="4251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problem written durable-by-construction: sufferer · recurring task that fails · quantified cost. Time-bound catalysts stripped out into a separate why-now register, linked to the problems they accelerate.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1584" y="3703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84464" y="4251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deck: 1a aerial frame, 1b chain, 1c structure per step, 1d six seams, why-now register, 1e inventory (35 problems, tagged by step). Full text exported to the tracker's Inventory tab.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finds problems with the value-chain lens; EVALUATE chooses them with the edge + problem-quality lens. No solutions appear in this document by design.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1a · Aerial view — size &amp; growth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44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$210–290B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1911096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retail value, 2025 (consensus ~$250–290B; IBEF: ₹25 lakh crore ≈ $289B, 2025)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25112" y="12344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1344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462272" y="1911096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FY26 revenue growth (CRISIL); underlying volume growth ~4–5%; Q2 FY26 value +12.9%, volume +5.4%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101584" y="12344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38744" y="1344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~43%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38744" y="1911096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beverages' share of FMCG sales — the largest segment; F&amp;B 10-yr revenue CAGR ~11%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$354→535B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5800" y="3950208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sector, FY24 → FY26 projection (IBEF); 32% of India's total food market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25112" y="327355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33832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₹5k→40k cr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462272" y="3950208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GMV, 2021→2026 (RedSeer; second source ₹25k cr FY25-26 — scope conflict); 60–75% of online FMCG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1584" y="327355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33832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+7.7%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238744" y="3950208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volume growth Q2 FY26 — after a 2025 mid-year flip in rural vs urban momentum (both narratives in sources)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D99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50468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recorded:  </a:t>
            </a:r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market-size estimates span $211B–$758B across research houses (outlier excluded); q-commerce GMV ₹25k vs ₹40k crore by scope; rural-vs-urban momentum reversed between H1 and full-year 2025 reads. Ranges used throughout; long-run 17–21% CAGR projections treated as inflated.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1a · Structure, power &amp; regulatory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~13M kirana stores carry ~90% of FMCG sales; offline ~76% share by another definition — hyper-fragmented retail under a concentrated brand layer (HUL, ITC, Nestlé, Britannia, Dabur, Marico, Amul…)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contested middle: 450k+ distributors (AICPDF); HUL reaches 9M+ outlets via ~3,500 distributors at 23.5% EBITDA; ITC directly services ~2.9M outlets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Q-commerce now up to 18% of FMCG sales in top-8 cities; AICPDF alleges ~2 lakh kirana closures; majors pivoted back to general trade in 2025 with better margins and tools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verdict circulating in the industry: distribution reach has become 'the floor, not the moat' — shared infrastructure, no longer an isolating mechanism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63640" y="1234440"/>
            <a:ext cx="5349240" cy="5212080"/>
          </a:xfrm>
          <a:prstGeom prst="roundRect">
            <a:avLst>
              <a:gd name="adj" fmla="val 1404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MACRO FORCES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1810512"/>
            <a:ext cx="4892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2.0 (Sept 2025): daily-goods rates cut 18%→5% — demand stimulus through the chain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enforcement surge: 3.97 lakh inspections, ₹155 crore penalties in FY25-26; surprise dark-store raids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Shelf-life-at-delivery rule for e-com/q-com: ≥30% shelf life or 45 days remaining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/ Plastic Waste Rules enter the digital-enforcement era from April 2026: QR labelling, verified recyclers, rising recycled-content targets to 2028-29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wave: PLISFPI ₹10,900 cr (to FY27), PMKSY topped to ₹6,520 cr, AIF ₹1 lakh cr, 35–50% cold-chain subsidies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as a route-to-market wildcard; CCI examining q-commerce practices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 · The value 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57984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3113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57984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67328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67328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76672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86016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D99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9168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86016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95360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D99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8512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4704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D99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7785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04704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waste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514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67328" y="2514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86016" y="251460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 →  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06324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172968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layers (cut across all steps):  </a:t>
            </a:r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data (SFA + DMS + retailer apps) · Compliance (FSSAI, Legal Metrology, EPR/CPCB) · Finance &amp; credit (distributor working capital is the chain's bank; ~80% of kiranas credit-dependent) · Tooling (ERP, WMS, TMS, traceability).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 ≠ GOODS FLOW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Goods: brand → C&amp;FA → super-stockist → distributor → retailer. Money: distributor pays the brand up front, then extends 30–45-day credit down the chain — the distributor is the working-capital bank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stack set by brands via PTS/PTR: distributor 3–15%, wholesaler ~20–30% (loose categories), retailer 10–25%; distributor's real return is velocity on working capital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routes now run alongside: q-commerce platforms appointed as direct distributors (18–28% commission, weekly payment), eB2B, ONDC — same SKUs, different prices, hence the MOP war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&amp; sourcing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receive just 10–23% of the consumer price for produce (US/EU: 64–81%) — the step's margin pools sit with mandi agents and wholesalers, earned on information asymmetry and credit, not value-add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 of agricultural production lost annually post-harvest; horticulture alone ~49.9M MT/yr; ~₹90,000 crore of food lost each year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smallholders → aggregation-to-spec is structurally hard; FPOs are the designated fix but carry a GST/compliance handicap; 18% GST on warehousing &amp; cold chain taxes the very fix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(~3 yrs): AIF ₹1 lakh crore collateral-free infra credit; PMKSY top-up + 50 irradiation units; GST cuts on agri equipment (Sept 2025); APMC reform frozen; agritech intermediary shakeout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uniform-quality volume from fragmented smallholders — rejections, premiums, chronic under-supply of plants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glut vs year-round capacity — buy-and-store working capital or lean-season premiums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First-mile post-harvest loss (~33% of production; ₹90k cr/yr)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farmgate grading — disputes, adulteration, downstream rejects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S1-IN-05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chain structurally erases provenance — export rejections, lost certified premiums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S1-IN-06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 formalization burden — can't claim ITC efficiently; structural cost disadvantage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&amp; manufacturing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games: branded manufacturing (HUL 23.5% EBITDA ceiling; Nestlé India Q3 FY26 profit +46%; ITC ₹20,000 cr investment plan) vs contract manufacturing — re-rated from fragmented low-margin to a 'quasi-consumer play' (KPMG), consolidating via M&amp;A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PLISFPI added ~35 lakh MT/yr capacity; ₹9,200+ cr invested; China-plus-one routing global volumes to Indian CMs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tightening faster than MSME capability: BIS QCOs on 769+ products; FSSAI standardization; 100 new NABL testing labs funded FY25-26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Q-commerce SKU/pack proliferation shrinking run lengths — changeover economics deteriorating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liquid market matching spare qualified CM capacity to brand demand — brokers &amp; word-of-mouth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compliance capability gap vs FSSAI/BIS/buyer audits — penalties, lost contracts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Short-run changeover economics breaking under SKU proliferation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under stochastic raw-material arrival — reactive replanning, utilization loss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S2-IN-05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Arm's-length QA across third-party plants — periodic audits vs continuous risk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&amp; labeling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MAKE→MOVE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packaging ~$20–25B (rigid-only vs total scope conflict recorded); packaging ~8–15% of FMCG COGS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inverted the dependency: liability sits on the brand owner, but material &amp; recycling data sit with fragmented converters and recyclers; EPR certificates ₹1–3/kg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(sachet economy) is the costliest EPR category — non-recyclable, 2026 EC-rate hike; recycled-content and reuse targets rise annually to 2028-29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April 2026: QR labelling mandatory, enforcement shifted from declarations to verified physical recycling; FSSAI migration-testing tightening for food-contact plastics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an auditable EPR plastic footprint across dozens of converters/recyclers — crore-level exposure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dependence vs recyclability mandates — costliest obligation or risky format redesign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Food-grade rPET/rHDPE sourcing at mandated %, against thin domestic supply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Label/claim compliance churn on email-and-PDF artwork control — relabeling, write-offs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S3-IN-05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migration/food-contact/EPR claims across MSME converters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storage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market $15–25B growing high-single to mid-teens % (scope conflicts recorded); storage dominates revenue, margin concentrating in transport &amp; value-added services (e-grocery cold demand +28%/yr)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~39.5M MT cold storage exists but the gap is compositional: potato-belt skew (UP/WB hold 25M+ MT; Northeast &lt;2M MT); gap estimates conflict 8M vs 35M MT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Costs: construction ₹2,500–4,500/sq ft; opex 15–40% of capex/yr, energy-dominated with diesel backup; logistics cost 8–13% of GDP (definitional dispute recorded)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Changed: National Cold Chain Grid + 35–50% subsidies; q-commerce dark-store cold layer; FSSAI licensing reach into storage/transport; refrigerant (HFC) transition schedule — verify at EVALUATE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Perishables move uncooled in first/middle mile — pack-house &amp; pre-cooling gaps at origin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capacity discovery mismatch — assets idle in potato belts while shippers can't find compliant space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cost &amp; grid unreliability drag on cold assets — excursions when economizing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custody unverifiable across fragmented handoffs — disputed spoilage, expiry returns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S4-IN-05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Multi-echelon replenishment for days-of-shelf-life SKUs at dark-store granularity — stockouts + expiry at once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&amp; wholesale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gross margins 3–15%; hidden costs eat 2–6 pts: WC interest 0.6–1.25%, spoilage/expiry 0.5–2%, billing errors 0.15–0.5%, unclaimed schemes 0.5–1.5%, defaults 0.25–1%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claim cycles run 30–90 days — the single biggest hidden cost of brand distribution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revolt: AICPDF (450k+ members) demanding MOP protection &amp; guaranteed return rights; ~2 lakh kirana closures alleged; brands re-courting GT with margins, analytics, faster replenishment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 now table stakes: DMS + GST e-invoicing + digital POD expected by every major brand; DMS adoption lifts distributor net margins 2–4 pts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Scheme/claim settlement: 30–90-day cycles, 0.5–1.5% leakage on 3–15% margins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working-capital compression as q-commerce diverts volume; credit cycles stretch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channel price-integrity (MOP) monitoring across GT/MT/QC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Secondary-sales blindness kills regional brands' state expansions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S5-IN-05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Returns/unsellables reconciliation — no timelines, disputed write-offs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&amp; channels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retail $1.06T (2024) → $1.93T projected (2030); GT still ~90% of FMCG volume nationally; q-commerce up to 18% of FMCG sales in top-8 cities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economics: QC commission 18–28% + weekly payment vs GT trade discounts 28–35% + 45-day credit — different margin, different cash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runs on memory and salesman push; ~80% credit-dependent; the squeezed end of the distributor WC chain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flywheel works: QC trial → kirana repeat scaled challengers ₹10→100 cr in 3–4 years; FSSAI raiding dark stores; CCI examining platform practices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S6-IN-01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ordering/inventory economics across 1,000+ SKUs on memory — dead stock + stockouts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S6-IN-02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Dark-store fresh assortment &amp; depth at 2–4 km catchments — waste + misses in traffic categories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S6-IN-03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On-shelf availability &amp; execution visibility in GT — self-reported SFA data, phantom distribution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S6-IN-04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inventory credit access as distributor credit compresses upstream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Consumer, returns &amp; waste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mandate: ≥30% shelf life / 45 days remaining at delivery; surprise dark-store inspections; 57% of consumers worried about missing best-before display online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Two-regulator gap: freshness-at-delivery = FSSAI; display-before-purchase = Legal Metrology / Dept of Consumer Affairs — compliance data flows to neither systematically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shadow economy: expired FMCG diverted, dates forged (solvent-wiped), re-injected into retail — enabled by an unaudited, under-funded reverse logistics chain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India pushing dynamic 2D/QR codes carrying mfg date, expiry, shelf life as the standards fix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S7-IN-01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Batch/expiry-level visibility at high-churn dark stores &amp; shelves — systems count SKUs, not dates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S7-IN-02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verification &amp; certified destruction — the unaudited reverse chain feeds the forged-date racket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S7-IN-03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liquidation without MOP/channel damage — write-offs vs channel fires, weekly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S7-IN-04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Two-regulator compliance data (FSSAI + Legal Metrology) — per-item dates never sync to listings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· The seams — where handoffs break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109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60520"/>
                <a:gridCol w="2148840"/>
                <a:gridCol w="3246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breaks in the handoff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pays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neither side fixes it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Farmgate → Factory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Variability meets fixed capacity: arrival timing, volume and quality all stochastic; no grading standard; provenance stripped in the mandi auction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 (utilization, rejections) and farmer (price discounts)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owns the aggregation layer; mandi opacity IS the intermediary's margin; APMC reform frozen; FPOs too weak to standardize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→ 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→ Pack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EPR liability lands on the brand owner while material &amp; recyclate data live with fragmented MSME converters; artwork changes outrun production runs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(penalties, certificate over-purchase); converter (margin compression)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common data standard across thousands of small converters; compliance is new and enforcement just went digital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→ 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→ Move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 is designed for shelf impact and unit cost; transit damage, cube waste and cold-chain dependence land in a different department's budget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budget first, total margin second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Departmental silos — joint pack-and-logistics optimization has no organizational owner (the reefer-elimination redesign proved the prize: −70% cost)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→ 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→ Distribute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 see primary sales (what distributors buy), not secondary (what sells); inventory positioned to targets → channel stuffing → expiry downstream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 working capital first; brand via returns disputes later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incentives are set on primary; real secondary visibility would expose the stuffing that makes quarterly numbers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 → Retail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MOP integrity, credit and returns all fracture across parallel GT / q-commerce routes selling identical SKUs at different prices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 → kirana → brand equity, in that order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 profit short-term from QC growth; fixing parity is a collective-action problem no single player wants to move first 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→ 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→ Consumer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Freshness/expiry data doesn't cross the last handoff; the reverse chain (returns → destruction) is unaudited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safety, brand liability, platform fines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logistics costs more than its perceived benefit; enforcement split across two regulators dilutes pressure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problem shapes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failing tasks recur across steps and geographies — the densest ground for EVALUATE mode.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Regulatory-object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SKU/pack × rule × jurisdiction × date, then execute the change. Same failing task whether the object is an ingredient, a label, a package or a record. (S2-IN-02, S3-IN-01/-04, S7-IN-04)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783080"/>
            <a:ext cx="457200" cy="45720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02352" y="18013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Capacity–demand matching in fragmented networks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07992" y="2560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physical capacity exists but can't find demand — and vice versa. Processing capacity (S2-IN-01), cold storage &amp; reefer (S4-IN-02).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783080"/>
            <a:ext cx="457200" cy="45720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78824" y="18013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vs fixed assets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84464" y="2560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supply or demand against rigid capacity: harvest gluts (S1-IN-02), plant planning (S2-IN-04), fresh multi-echelon replenishment (S4-IN-05, S6-IN-02).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25880" y="4361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reconciliation across parties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1206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money flows (schemes, returns, credits) settled slowly and disputably between brand and channel: S5-IN-01, S5-IN-05 — the chain's biggest hidden cost.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25112" y="4160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DF4EE"/>
          </a:solidFill>
          <a:ln w="12700">
            <a:solidFill>
              <a:srgbClr val="EDF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4343400"/>
            <a:ext cx="457200" cy="45720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102352" y="4361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verification at the edge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07992" y="51206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 paid-for or contracted physical action happened on someone else's assets: temperature custody (S4-IN-04), shelf execution (S6-IN-03), CM quality (S2-IN-05), destruction of expired stock (S7-IN-02).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Why-now vector register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1109960" cy="914400"/>
        </p:xfrm>
        <a:graphic>
          <a:graphicData uri="http://schemas.openxmlformats.org/drawingml/2006/table">
            <a:tbl>
              <a:tblPr/>
              <a:tblGrid>
                <a:gridCol w="6766560"/>
                <a:gridCol w="16916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EPR digital-enforcement era: QR labelling live Apr 2026; verified recyclers; recycled-content &amp; reuse targets rising to 2028-29; MLP EC-rate hike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Dated, phased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S3-IN-01, -02, -03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FSSAI enforcement surge (3.97L inspections, ₹155 cr penalties FY25-26) + shelf-life-at-delivery rule + dark-store raids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ramp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S2-IN-02, S7-IN-01/-04, S1-IN-05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Q-commerce shock (₹5k→₹25–40k cr GMV; 18% of top-8-city FMCG) + AICPDF revolt + 2025 GT pivot-back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Structural, acute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S5-IN-01…05, S6-IN-01/-04, S2-IN-03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Subsidy capital windows: AIF ₹1L cr, PMKSY to Mar 2026, PLISFPI to FY27, 35–50% cold-chain grants, National Cold Chain Grid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windows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S1-IN-02/-03, S2-IN-01, S4-IN-01/-02/-03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2.0 rate cuts (Sept 2025) stimulating volumes through the chain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(tailwind)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5–6 broadly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 + GST e-invoicing + digital POD becoming brand-mandated across distribution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S5-IN-01, -04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China-plus-one volume inflows + contract-manufacturing consolidation &amp; re-rating (KPMG M&amp;A wave)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S2-IN-01, -05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GS1 2D/QR date-carrying barcode standards push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 window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S7-IN-01, -04, S4-IN-04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ONDC maturation as an alternative route-to-market rail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S6-IN-01, S5-IN-04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Refrigerant/HFC transition schedule for cold-chain equipment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verify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S4-IN-03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 · Problem inventory (1/2)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· 22 problems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INPUTS &amp; SOURCING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380744"/>
            <a:ext cx="36118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aggregation to spec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glut vs year-round capacity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First-mile post-harvest loss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Farmgate quality assessment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S1-IN-05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erasure in the mandi chain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S1-IN-06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 formalization burden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361688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PROCESSING &amp; MFG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61688" y="138074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capacity–demand matching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compliance capability gap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Short-run changeover economics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under raw-material volatility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S2-IN-05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Arm's-length QA across CM sites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361688" y="2697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PACKAGING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1688" y="302666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data assembly across the chain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dependence vs recyclability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Food-grade recycled resin sourcing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Label/claim compliance churn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S3-IN-05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quality/compliance verification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174736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LOGISTICS &amp; STORAGE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74736" y="138074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Uncooled first &amp; middle mile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capacity discovery mismatch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cost &amp; reliability drag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 temperature custody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S4-IN-05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Multi-echelon fresh replenishment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8174736" y="2697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PROBLEM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74736" y="30266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SM-IN-01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× logistics joint-design blindness (3→4 seam)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sufferer · task-that-fails · cost text for every problem: see Inventory tab export (xlsx).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 · Problem inventory (2/2)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5–7 · 13 problems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DISTRIBUTION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38074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Scheme/claim settlement (30–90 days)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working-capital compression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price-integrity (MOP) monitoring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Secondary-sales blindness (regional brands)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S5-IN-05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unsellables reconciliation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361688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RETAIL &amp; CHANNELS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61688" y="1380744"/>
            <a:ext cx="3611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S6-IN-01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ordering &amp; inventory economics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S6-IN-02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Dark-store fresh assortment &amp; depth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S6-IN-03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availability &amp; execution visibility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S6-IN-04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credit access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174736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CONSUMER, RETURNS, WASTE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74736" y="1380744"/>
            <a:ext cx="3611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S7-IN-01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Batch/expiry visibility at the edge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S7-IN-02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verification &amp; secure disposal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S7-IN-03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liquidation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S7-IN-04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Two-regulator compliance data gap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sufferer · task-that-fails · cost text for every problem: see Inventory tab export (xlsx).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map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D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Densest problem clusters crossed against the founder-edge heat matrix — candidate batches for EVALUATE mode.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57800" cy="1389888"/>
          </a:xfrm>
          <a:prstGeom prst="roundRect">
            <a:avLst>
              <a:gd name="adj" fmla="val 5263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38528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flow under uncertainty  ·  planning × cold chain ★★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2331720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S4-IN-05 dark-store fresh replenishment · S6-IN-02 assortment · S1-IN-02/S2-IN-04 upstream twins. Your forecast-free hub-and-spoke history is this exact problem.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389888"/>
          </a:xfrm>
          <a:prstGeom prst="roundRect">
            <a:avLst>
              <a:gd name="adj" fmla="val 5263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1938528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Freshness, custody &amp; the reverse chain  ·  traceability ★★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6248" y="2331720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S4-IN-04 temperature custody · S7-IN-01 expiry at the edge · S7-IN-02 returns/destruction. QR-traceability scar tissue + a live FSSAI mandate + GS1 standards window.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3447288"/>
            <a:ext cx="5257800" cy="1389888"/>
          </a:xfrm>
          <a:prstGeom prst="roundRect">
            <a:avLst>
              <a:gd name="adj" fmla="val 5263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557016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money reconciliation  ·  distribution 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3950208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S5-IN-01 schemes · S5-IN-05 returns · S5-IN-03 MOP. The chain's biggest hidden cost, mid-revolt; you know this buyer cold.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3447288"/>
            <a:ext cx="5257800" cy="1389888"/>
          </a:xfrm>
          <a:prstGeom prst="roundRect">
            <a:avLst>
              <a:gd name="adj" fmla="val 5263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3557016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Make-side matching &amp; compliance  ·  mfg ops 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56248" y="3950208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S2-IN-01 CM capacity marketplace-shape · S2-IN-02 MSME compliance · S3-IN-01 EPR data. Subsidy + China-plus-one + enforcement all pulling at once.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to EVALUATE: pull one cluster per week → fast triage → seven-block deep-dives → edge filter → score into the tracker → weekend Mom Test interviews on the riskiest assumption. All 35 problems exported to the Inventory tab; nothing filtered at this stage by design.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2026-07-19T07:00:51Z</dcterms:created>
  <dcterms:modified xsi:type="dcterms:W3CDTF">2026-07-19T07:00:51Z</dcterms:modified>
</cp:coreProperties>
</file>