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" y="1051560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80744" y="1207008"/>
            <a:ext cx="1313688" cy="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94432" y="1051560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05328" y="1207008"/>
            <a:ext cx="1313688" cy="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19016" y="1051560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29912" y="1207008"/>
            <a:ext cx="1313688" cy="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051560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54496" y="1207008"/>
            <a:ext cx="1313688" cy="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8184" y="1051560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9080" y="1207008"/>
            <a:ext cx="1313688" cy="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92768" y="1051560"/>
            <a:ext cx="310896" cy="310896"/>
          </a:xfrm>
          <a:prstGeom prst="ellipse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3664" y="1207008"/>
            <a:ext cx="1313688" cy="0"/>
          </a:xfrm>
          <a:prstGeom prst="line">
            <a:avLst/>
          </a:prstGeom>
          <a:noFill/>
          <a:ln w="1905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17352" y="1051560"/>
            <a:ext cx="310896" cy="310896"/>
          </a:xfrm>
          <a:prstGeom prst="ellipse">
            <a:avLst/>
          </a:prstGeom>
          <a:solidFill>
            <a:srgbClr val="C1121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6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MAP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Beverage / CPG — United States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MAP-mode output · Problem-Statement Engine §1 (1a–1e)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frame · value chain · step structure · seams · why-now vectors · 32-problem inventory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July 2026 · Companion deck: India · Sources: searched current-year references; numbers as ranges; conflicts recorded, not resolved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· Scope &amp; method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· Choose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#1 in the running order: F&amp;B / CPG — home turf, densest founder-edge coverage (cold chain, planning, traceability, distribution, manufacturing ops). Geography: US + India mapped in parallel, one deck each.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25112" y="12801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07992" y="18288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industry vertical, walked end-to-end along its own value chain (7 steps + enabling layers). Not a single functional lane; not a whole meta-sector.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01584" y="12801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84464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discipline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84464" y="18288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searched sources only — no model memory for facts. Numbers as ranges with source notes. Where sources conflict, the conflict is recorded rather than resolved. CPG operating experience used for calibration only.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discipline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holds industry-structure depth only: cost structure, margin pools, power, players, 3-year change, pains. Solution depth, DMU, feasibility = EVALUATE mode, run only on triage survivors.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5112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format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07992" y="4251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 written durable-by-construction: sufferer · recurring task that fails · quantified cost. Time-bound catalysts stripped out into a separate why-now register, linked to the problems they accelerate.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1584" y="37033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84464" y="4251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deck: 1a aerial frame, 1b chain, 1c structure per step, 1d six seams, why-now register, 1e inventory (32 problems, tagged by step). Full text exported to the tracker's Inventory tab.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finds problems with the value-chain lens; EVALUATE chooses them with the edge + problem-quality lens. No solutions appear in this document by design.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1a · Aerial view — size &amp; growth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44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$2.63T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1911096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 food sales — retail + foodservice combined (USDA, 2024); grocery ~half, restaurants/institutions ~half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25112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2272" y="1344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~$881B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462272" y="1911096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&amp; grocery store sales, 2025 — ~87% of food &amp; beverage retail (Statista)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101584" y="12344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38744" y="1344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~$1.05–1.1T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38744" y="1911096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 manufacturing shipments, annualized (Census M3, Dec 2025 run-rate); largest US manufacturing subsector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832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5800" y="3950208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 midpoint forecast for 2026 grocery inflation (range −2.3% to +6.0%) — below the 20-yr avg of 2.6%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5112" y="32735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62272" y="33832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+12.9% / +17.5%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462272" y="3950208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/ coffee price growth y/y (May 2026) vs wheat &amp; sugar at historic lows — extreme commodity dispersion under a calm average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1584" y="327355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33832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238744" y="3950208"/>
            <a:ext cx="3246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share of total US retail (2026); food &amp; bev = 28.1% of retail e-commerce, up from 12.8% in 2017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50468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recorded:  </a:t>
            </a:r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Cold-storage market $48–52B with 12.5–13.6% forecast CAGRs — against a 20-year-high vacancy in the physical market (Newmark). Retail-media 2026 US spend cited at $69B and $128B by scope. Growth is nominal and inflation-led; volumes are soft (GLP-1 + price fatigue).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1a · Structure, power &amp; regulatory context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concentrated: leading grocers hold ~2/3 of the market, Walmart #1; FTC blocked Kroger–Albertsons ($25B, Dec 2024); consolidation shifted to wholesale — C&amp;S to acquire SpartanNash ($1.77B, ~60 DCs serving ~10,000 independents)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bifurcated: 42,708 establishments; meat = 26.2% of processing sales; category CR4s high (meat) but top-5 global F&amp;B players hold only ~25% combined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power is the chain's dominant fact: slotting, trade spend, private label (record 23.8% unit share), retail media, OTIF fines, data paywalls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Foodservice (Sysco, US Foods, PFG) is a parallel half of food spend with structurally healthier distribution margins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63640" y="1234440"/>
            <a:ext cx="5349240" cy="5212080"/>
          </a:xfrm>
          <a:prstGeom prst="roundRect">
            <a:avLst>
              <a:gd name="adj" fmla="val 1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MACRO FORCES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1810512"/>
            <a:ext cx="4892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Dye phase-out: Red 3 revoked (effective 2027); six petroleum dyes targeted by end-2026 via voluntary 'understanding'; ~40% of industry pledged (most by late 2027)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teeth are states + retailers: WV ban (2028), TX warning labels (44 ingredients), CA laws; Walmart private label dye-free by Jan 2027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 self-affirmation reform pending at OIRA; 20–25 states 'in the mix' on additive bans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FSMA 204 enforcement barred before July 20, 2028 (Congress, Nov 2025) — but Walmart demands supplier compliance regardless; some retailers want data in 2 hours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Packaging: 7 state EPR programs (fees to ~1% of sales/jurisdiction; CA SB 54 permanent regs May 2026); PFAS food-packaging bans in 12 states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regime volatile (SCOTUS case pending); GLP-1 reshaping demand toward protein/fiber; UPF litigation building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· The value 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57984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1D35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3113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57984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67328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457B9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67328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76672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457B9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86016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C11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59168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86016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95360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C11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204704" y="146304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C112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7785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04704" y="1664208"/>
            <a:ext cx="1481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waste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514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67328" y="2514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86016" y="251460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 →  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06324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172968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layers (cut across all steps):  </a:t>
            </a:r>
            <a:pPr indent="0" marL="0">
              <a:buNone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data (POS syndication — Circana/Nielsen — behind paywalls; retail media data) · Compliance (FDA/USDA, FSMA 204, GRAS, state patchworks) · Finance (trade-spend settlement, deductions, SCF) · Tooling (ERP, WMS, TMS, TPM, traceability).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 ≠ GOODS FLOW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Goods: manufacturer → retailer DC (large chains) / wholesaler (independents) / DSD (velocity categories) → store. Foodservice runs a parallel chain via broadline distributors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flows backwards at scale: trade spend (slotting, promos, chargebacks) = 15–25% of gross sales, the 2nd-largest P&amp;L line after COGS; retailers short-pay invoices and the burden of proof sits with the supplier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backward flow: retail media — 39% of CPG ad budgets now paid to the same retailers, converging with trade spend into one hard-to-measure retailer-payment bucket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&amp; sourcing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dispersion is the story: beef +12.9%, coffee +17.5%, beverage materials +10.8%, fresh veg +11.9% y/y — while wheat and sugar sit at lows; tariffs add pass-through and uncertainty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reformulation created a new margin pool: natural colors run 5–15x synthetic cost at 10–50x use levels; Sensient investing $225–250M capex; supply crunch predicted Q4 2026–Q1 2027 (industry needs ~10x current natural-color supply)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~11.5% of US packaged-food SKUs contain synthetic dyes; each conversion takes 6–12 months (reformulate, stability, consumer test, scale)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Changed: Red 3 revoked; six-dye phase-out 'understanding'; state bans multiplying; GRAS reform pending; Walmart private-label mandate Jan 2027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reformulation management under rolling regulation — SKU × rule × state × date, in spreadsheets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Substitute-ingredient qualification that survives the product matrix — 6–12 months per SKU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Ag-sourced specialty-ingredient supply assurance (crop risk, some cold-chain)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Input-cost risk management below the hedging tier — margin whiplash on annual contracts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S1-US-05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 ingredient-rule intelligence — a moving target by design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&amp; manufacturing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is the swing cost: 622,000 manufacturing jobs unfilled; 2.1M projected permanently vacant by 2030; 68% of manufacturers report labor costs up — food plants (24/7, perishable, thin-margin) absorb the worst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response is real but top-heavy: 80% plan ≥20% of improvement budgets on smart manufacturing; 40%+ of large ops run digital twins; predictive-maintenance AI cuts unplanned downtime ~75% — SMEs priced out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pressured by soft volumes (GLP-1 + price fatigue); food M&amp;A expected to rebound in 2026 as tariff impacts cycle through; better-for-you brands = targets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Reformulation at portfolio scale is a plant program: new packaging, new formulation, scale-up per SKU; school channel first (summer 2026), flagships next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staffing at mid-market perishable plants — spoilage, overtime, sanitation risk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adoption below the top tier — capex + un-quantifiable ROI lock out SMEs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under technician scarcity — knowledge walking out with retirees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Reformulation execution on the floor — parallel line trials across hundreds of SKUs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S2-US-05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debt on newly connected lines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&amp; labeling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MAKE→MOVE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state EPR programs enacted (OR, CO, CA, ME, MN, MD, WA); early fee estimates up to ~1% of sales per jurisdiction; CA SB 54 permanent regs effective May 1, 2026; 11+ new state bills in 2026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PFAS: twelve states restrict intentionally added PFAS in food packaging (IL from Jan 2026 incl. inks/closures/labels; ME fiber packaging from May 2026); certificates + 100 ppm TOF test data now standard buyer asks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Eco-modulation monetizes design: per-pound fee bonuses/penalties on recyclability, PCR content, PFAS, Prop-65 chemicals; CA PCR mandate 25%→50% by 2030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is live: Oregon publicly lists noncompliant producers and refers cases; annual PRO reporting cycles (Mar 31) demand item-level packaging data ERPs never captured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S3-US-01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packaging-compliance management — 7 EPR + 12 PFAS + PCR + labeling regimes stacked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S3-US-02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packaging data readiness for EPR reporting — annual data archaeology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S3-US-03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PFAS-free substitution and proof across fragmented suppliers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S3-US-04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Design-to-fee optimization — no tooling encodes the eco-modulated fee landscape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storage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storage: $48–52B market with double-digit forecast CAGRs — but vacancy at a 20-year high after a building boom (7.4M sq ft under construction) met soft inventories; average facility age 37 years (energy waste, spoilage risk); automation benchmark: −66% energy, 99.9% accuracy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compliance regimes financialized: Walmart OTIF ~98% target, chargebacks ~3% of COGS per non-compliant case, measured monthly; Target/Kroger/Costco run parallel programs at 95–98%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FSMA 204 privatized: Walmart expects supplier traceability compliance regardless of the FDA's 2028 extension; some retailers demand data within 2 hours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20–30% of deductions get disputed though many are invalid — one supplier cut penalties 80% by proving the retailer's own lead-time data wrong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OTIF/deduction management as a permanent ~3%-of-COGS tax across non-reconciling portals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Lot-level KDE/CTE data exchange under buyer mandates, across mixed 3PL/co-packer systems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37-year-old cold assets — retrofit vs rebuild under rate-suppressing oversupply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capacity procurement volatility — surge costs cascading into OTIF fines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S4-US-05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Cold-network planning as GLP-1/e-grocery shift demand against long-lease assets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&amp; wholesale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spend = 15–25% of gross sales (can reach 30–40%) — 2nd-largest P&amp;L line after COGS; ~$500B globally per year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25–70% of trade promotion spend is ineffective (or: 59–72% of promotions unprofitable); for every $1B revenue, tens of millions lost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deduct 5–15% of gross sales before paying; validating each deduction means reconciling contract + proof-of-performance + shipping docs + invoice — burden entirely on the manufacturer; 1–2% of trade spend routinely invalid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consolidating (C&amp;S–SpartanNash); specialty/natural channel (UNFI, KeHE) notoriously opaque on chargebacks and true net price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S5-US-01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Trade-spend effectiveness measurement — 'did it work?' unanswerable across fragmented calendars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S5-US-02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validation &amp; recovery — only 20–30% disputed; hours of manual matching weekly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S5-US-03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accrual accuracy — contra-revenue distorting true profitability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S5-US-04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data opacity killing emerging brands (MCBs, spoilage allowances, net price)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channels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label at records: $282.8B sales 2025 (+3.3%, ~3x national brands); 23.8% unit share all-time high; grocer margins &gt;40% on PL vs 25–35% on national brands; Walmart relaunched Great Value (Apr 2026); national-brand units −7% since 2021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media: US 2026 spend $69–128B by scope (conflict recorded), growing ~17.8%/yr; CPG brands allocate 39% of ad budgets (from &lt;25% three years ago); Walmart Connect alone $4.82B (2025); brands average 6 networks heading to 11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gap: dashboards show impressions/ROAS, not whether spend moved product or protected shelf — spend is effectively compulsory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net margins thin (~1–3%, directional) — which is exactly why PL and media, the two levers brands can't control, are the retailer's growth engines. Structural caution: problems here often require the retailer's permission to solve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S6-US-01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Retail-media ROI accountability across 6–11 non-comparable networks — 39% of ad budget on faith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S6-US-02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National-brand price-premium defense SKU-by-SKU against quality-parity private label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S6-US-03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Independent-grocer competitiveness at sub-scale (pricing, PL, e-commerce)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S6-US-04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Shelf/promo execution verification across thousands of stores — paying for execution that never happened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Consumer, returns &amp; waste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0" y="475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WHAT CHANGED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7607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food: 73.9M tons = 31% of the US food supply, worth $382B (~1.3% of GDP); food businesses lose $230B of revenue to unsold food; consumers waste ~$800/person/yr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dynamics shifted from frequency to blast radius: 567 F&amp;B recalls in 2025 (vs 513); Q1 2026 recalled units hit 57.4M — nearly double q/q; undeclared allergens ≈46% of all recalls — labeling failures, not contamination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solution economy exists: Afresh chainwide at Albertsons; Spoiler Alert at Danone; Flashfood/TGTG; ReFED's math: $16B/yr into modeled solutions returns 3.8x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edge is state organics-landfill bans raising disposal cost; federal date-label standardization stalled; 100 state food-waste bills introduced in 2024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234440"/>
            <a:ext cx="5029200" cy="5257800"/>
          </a:xfrm>
          <a:prstGeom prst="roundRect">
            <a:avLst>
              <a:gd name="adj" fmla="val 1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417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HARVESTED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810512"/>
            <a:ext cx="46177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S7-US-01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Fresh-department ordering vs shrink — the retail share of $230B in unsold-food losses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S7-US-02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routing decisions (discount vs donate vs organics vs landfill) — value decaying on the clock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S7-US-03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Label-accuracy failure as the recall engine — ~46% of recalls; reformulation waves raise the risk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S7-US-04  </a:t>
            </a:r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scope control without lot-level traceability — over-recalling entire lines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· The seams — where handoffs break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109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60520"/>
                <a:gridCol w="2148840"/>
                <a:gridCol w="3246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Seam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breaks in the handoff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pays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neither side fixes it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Regulation → Plant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Substitutions decided in compliance/R&amp;D, executed on lines; supplier ingredient changes don't propagate to specs and labels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via recalls; ops via trial downtime on revenue lines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PLM, ERP and label systems were never connected; the regulatory pace is new; co-man distance adds a wall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→ 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→ Label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allergen-recall engine: wrong film on the right line, shared lines, unpropagated formula changes — ~46% of all recalls are labeling failures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Manufacturer: multi-million-unit recalls, litigation, brand damage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changes run as artwork projects, not data flows; nobody owns formula-to-package sync end-to-end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→ 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→ Data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Item-level packaging composition (for EPR fees) and case-level data carriers (for traceability) were never captured in ERPs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Brand: misreported fees, penalties, retailer chargebacks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predate the mandates; retrofitting data capture competes with every other IT priority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→ 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→ Settlement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carrier failure becomes an OTIF fine becomes an AR deduction — three systems that never reconcile, reviewed by program instead of by PO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supplier, always — burden of proof sits with the manufacturer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retailer has zero incentive: deductions are float and margin; suppliers under-dispute (20–30%)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$ → Shelf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paid for promotions and displays whose execution nobody verifies — the proof-of-performance gap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brand, via the ineffective 25–70% of a 15–25%-of-revenue budget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across 30k+ stores is costly and the retailer owns the ground truth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→ 7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D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→ Waste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 vs actual consumption mismatch in fresh; date-label confusion; recall scope guessed without lot data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Retailer (shrink), consumer ($800/person), manufacturer (blast radius)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forecasting is genuinely hard; date standardization stalled federally; traceability enforcement pushed to 2028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problem shapes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failing tasks recur across steps and geographies — the densest ground for EVALUATE mode.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Regulatory-object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SKU/pack × rule × jurisdiction × date, then execute the change — ingredients (S1-US-01/-05), plant execution (S2-US-04), packaging (S3-US-01/-02/-03). The regulated object changes; the failing task doesn't.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83080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02352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Capacity–demand matching in fragmented networks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07992" y="2560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procurement between rigid RFPs and volatile spot (S4-US-04); cold-network capacity stranded in the wrong places (S4-US-05, S4-US-03).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783080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78824" y="18013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vs fixed assets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84464" y="256032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shift and volatility against long-lease, long-life assets: fresh ordering vs shrink (S7-US-01), cold-network planning (S4-US-05), PO volatility absorption (SM-US-01).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25880" y="4361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reconciliation across parties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 fines (S4-US-01), deductions (S5-US-02), accruals (S5-US-03), trade effectiveness (S5-US-01) — the densest single cluster in the US map, with named budget owners.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25112" y="416052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4343400"/>
            <a:ext cx="457200" cy="45720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02352" y="4361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verification at the edge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07992" y="51206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contracted physical actions happened on someone else's assets: shelf &amp; display execution (S6-US-04), proof-of-performance (S5-US-02), traceability custody (S4-US-02).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Why-now vector register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1109960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16916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Dye phase-out deadlines 2026–27 + Red 3 revocation + state bans + Walmart private-label mandate (Jan 2027)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S1-US-01/-02/-05, S2-US-04, S7-US-03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Natural-color supply crunch predicted Q4 2026–Q1 2027 (demand ~10x current supply)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Sharp, dated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S1-US-03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 self-affirmation reform pending at OIRA; 20+ states pursuing additive restrictions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S1-US-01, -05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FSMA 204 enforcement moved to July 2028 — but privatized by retailers (Walmart timelines regardless; 2-hour data demands)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Buyer-driven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S4-US-02, S7-US-04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OTIF regimes tightened to ~98% with monthly automated fines across retailers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S4-US-01, -04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EPR wave (OR fees live; CA SB 54 permanent regs May 2026; 11+ new bills) + PFAS bans reaching 12 states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S3-US-01…04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Cold-storage 20-yr-high vacancy + 37-yr-old asset base → retrofit/automation cycle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+ structural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S4-US-03, -05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softness (GLP-1 + price fatigue) → CFO scrutiny of trade waste; food M&amp;A rebound expected 2026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S5-US-01/-02/-03, S2-US-02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label at record share; Great Value relaunch (Apr 2026)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S6-US-02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media growing ~17.8%/yr with a widening accountability gap; cookie deprecation forcing first-party data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S6-US-01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blast-radius explosion (57.4M units Q1 2026) + reformulation waves mechanically raising label-error volume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Worsening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S7-US-03, -04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organics-landfill bans raising disposal costs; 100 state food-waste bills (2024)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4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S7-US-01, -02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292" marR="50292" marT="50292" marB="50292" anchor="t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 · Problem inventory (1/2)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· 20 problems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INPUTS &amp; SOURCING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38074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reformulation management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Substitute-ingredient qualification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Specialty-ingredient supply assurance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Input-cost risk below the hedging tier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S1-US-05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Multi-jurisdiction rule intelligence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361688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PROCESSING &amp; MFG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61688" y="138074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staffing at mid-market plants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adoption below the top tier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under technician scarcity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Reformulation execution on the floor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S2-US-05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security debt on connected lines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361688" y="2697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PACKAGING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61688" y="3026664"/>
            <a:ext cx="3611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S3-US-01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packaging compliance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S3-US-02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packaging data readiness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S3-US-03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PFAS-free substitution &amp; verification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S3-US-04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Design-to-fee optimization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8174736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LOGISTICS &amp; STORAGE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74736" y="1380744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 &amp; deduction management tax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data exchange (buyer-driven)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37-year-old cold assets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Reefer procurement volatility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S4-US-05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Cold-network planning under demand shift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8174736" y="2697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74736" y="30266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SM-US-01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PO volatility absorption without shared forecasts (4→5 seam)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sufferer · task-that-fails · cost text for every problem: see Inventory tab export (xlsx).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 · Problem inventory (2/2)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457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5–7 · 12 problems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DISTRIBUTION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380744"/>
            <a:ext cx="3611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S5-US-01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Trade-spend effectiveness measurement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S5-US-02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validation &amp; recovery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S5-US-03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accrual accuracy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S5-US-04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data opacity (emerging brands)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361688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RETAIL &amp; CHANNELS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61688" y="1380744"/>
            <a:ext cx="3611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S6-US-01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Retail-media ROI accountability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S6-US-02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National-brand defense vs private label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S6-US-03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Independent-grocer competitiveness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S6-US-04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Shelf/promo execution verification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174736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CONSUMER, RETURNS, WASTE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174736" y="1380744"/>
            <a:ext cx="3611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S7-US-01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Fresh-department ordering vs shrink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S7-US-02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routing decisions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S7-US-03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accuracy as the recall engine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S7-US-04  </a:t>
            </a:r>
            <a:pPr indent="0" marL="0">
              <a:spcAft>
                <a:spcPts val="400"/>
              </a:spcAft>
              <a:buNone/>
            </a:pPr>
            <a:r>
              <a:rPr lang="en-US" sz="880" dirty="0">
                <a:solidFill>
                  <a:srgbClr val="24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scope control without lot data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sufferer · task-that-fails · cost text for every problem: see Inventory tab export (xlsx).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map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Densest problem clusters crossed against the founder-edge heat matrix — candidate batches for EVALUATE mode.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57800" cy="1389888"/>
          </a:xfrm>
          <a:prstGeom prst="roundRect">
            <a:avLst>
              <a:gd name="adj" fmla="val 5263"/>
            </a:avLst>
          </a:prstGeom>
          <a:solidFill>
            <a:srgbClr val="152740"/>
          </a:solidFill>
          <a:ln w="12700">
            <a:solidFill>
              <a:srgbClr val="152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38528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money reconciliation  ·  cost-optimization muscle ★★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2331720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S4-US-01 OTIF fines · S5-US-02 deductions · S5-US-01 trade effectiveness · S5-US-03 accruals. Frequent, intense, quantified (3% COGS; 15–25% of revenue), named budget owner — the densest US cluster.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1389888"/>
          </a:xfrm>
          <a:prstGeom prst="roundRect">
            <a:avLst>
              <a:gd name="adj" fmla="val 5263"/>
            </a:avLst>
          </a:prstGeom>
          <a:solidFill>
            <a:srgbClr val="152740"/>
          </a:solidFill>
          <a:ln w="12700">
            <a:solidFill>
              <a:srgbClr val="152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1938528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Regulatory-object management  ·  platform shape 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6248" y="2331720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S1-US-01/-05 ingredients · S3-US-01/-02 packaging · S2-US-04 execution. One failing task, three regulated objects, overwhelming multi-year why-now (dyes → GRAS → PFAS → EPR).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3447288"/>
            <a:ext cx="5257800" cy="1389888"/>
          </a:xfrm>
          <a:prstGeom prst="roundRect">
            <a:avLst>
              <a:gd name="adj" fmla="val 5263"/>
            </a:avLst>
          </a:prstGeom>
          <a:solidFill>
            <a:srgbClr val="152740"/>
          </a:solidFill>
          <a:ln w="12700">
            <a:solidFill>
              <a:srgbClr val="15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557016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&amp; waste under uncertainty  ·  planning ★★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3950208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S7-US-01 fresh ordering vs shrink · S7-US-02 surplus routing · S4-US-05 cold-network planning. $230B business-loss pool; proven spend (Afresh at Albertsons); your forecast-free replenishment history.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55080" y="3447288"/>
            <a:ext cx="5257800" cy="1389888"/>
          </a:xfrm>
          <a:prstGeom prst="roundRect">
            <a:avLst>
              <a:gd name="adj" fmla="val 5263"/>
            </a:avLst>
          </a:prstGeom>
          <a:solidFill>
            <a:srgbClr val="152740"/>
          </a:solidFill>
          <a:ln w="12700">
            <a:solidFill>
              <a:srgbClr val="152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3557016"/>
            <a:ext cx="4855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integrity &amp; recall scope  ·  traceability 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56248" y="3950208"/>
            <a:ext cx="4855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S7-US-03 label accuracy · S7-US-04 recall scope · S4-US-02 custody data. Blast-radius era + reformulation waves; commercial case survives the FSMA delay via retailer mandates.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to EVALUATE: pull one cluster per week → fast triage → seven-block deep-dives → edge filter → score into the tracker → weekend Mom Test interviews on the riskiest assumption. Caution flag carried from Step 6: problems requiring the retailer's permission to solve (retail media, PL defense) score badly on 'margin leaks to a player above you.' All 32 problems exported to the Inventory tab.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2026-07-19T07:00:51Z</dcterms:created>
  <dcterms:modified xsi:type="dcterms:W3CDTF">2026-07-19T07:00:51Z</dcterms:modified>
</cp:coreProperties>
</file>