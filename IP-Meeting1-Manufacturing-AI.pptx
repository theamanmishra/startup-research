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30-minute meeting. Eleven slides, then discussion. Appendix has the detail and the full source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framed as a question. The four explanations are mutually exclusive enough that operator interviews can distinguish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answers 'why not others'. Be ready for the pushback that edge-first is backwards — the answer is that access and question quality dominate in an interview-led study of this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to defend a single star: manufacturing ops x F&amp;B rests on five years of running exactly that, with cost numbers attached. The weakest star is planning x F&amp;B, which rests on one project rather than a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short on time this slide can be skipped and the next one presented alone. But it is the honest account of why the nomenclature is home-made rather than borrowed.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overlapping domains: supply chain is the spine running underneath all three steps; manufacturing tech and commerce are the two end-caps sitting above the ends, kept deliberately in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and move collapse into one firm here - at a co-manufacturer the making and the moving are the same business. That is why the loop replaces the make/move/sell frame at this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context if asked: US market plausibly $100-150B, recorded as a range because two sources conflict; roughly 5,000-10,000 co-mans, triangulated not censused. Appendix 3 has it with flags.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spend time on. The whole project rests on the multiplication claim, and it is currently supported by an industry source rather than by a plant operator.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Roughly 7 hours a week. Interviews are the long pole and start in week 5, so outreach has to be running by week 3. Biweekly check-ins throughout; formal reviews in weeks 1, 6 and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asks. The introductions matter more than anything else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rgbClr val="2734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754880"/>
            <a:ext cx="2377440" cy="2377440"/>
          </a:xfrm>
          <a:prstGeom prst="ellipse">
            <a:avLst/>
          </a:prstGeom>
          <a:solidFill>
            <a:srgbClr val="2734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5544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HBS INDEPENDENT PROJECT  ·  FALL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956816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Study for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AI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74904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adoption stalls in the small and mid-market plants that make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what America consumes — and whether there is a company in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4663440"/>
            <a:ext cx="2926080" cy="0"/>
          </a:xfrm>
          <a:prstGeom prst="line">
            <a:avLst/>
          </a:prstGeom>
          <a:noFill/>
          <a:ln w="12700">
            <a:solidFill>
              <a:srgbClr val="4552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48463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Mishra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D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supervisor: Prof. Kris Ferreira, Technology &amp; Operations Management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D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1  ·  3 credits / 90 hours  ·  11 Sep – 11 Dec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93776"/>
            <a:ext cx="11055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is not reaching the plants that do the making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42416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manufacturing is overwhelmingly small firms, and the adoption data splits sharply by size.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3584448" cy="1737360"/>
          </a:xfrm>
          <a:prstGeom prst="roundRect">
            <a:avLst>
              <a:gd name="adj" fmla="val 4211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86384" y="1792224"/>
            <a:ext cx="3145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304288"/>
            <a:ext cx="3145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 manufacturing firms have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than 100 employees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301752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Association of Manufacturers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471416" y="1664208"/>
            <a:ext cx="3584448" cy="1737360"/>
          </a:xfrm>
          <a:prstGeom prst="roundRect">
            <a:avLst>
              <a:gd name="adj" fmla="val 4211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90872" y="1792224"/>
            <a:ext cx="3145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37% → flat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4690872" y="2304288"/>
            <a:ext cx="3145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at 250+ employees, versus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movement at all under 20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690872" y="301752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Bureau BTOS, through May 2026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375904" y="1664208"/>
            <a:ext cx="3584448" cy="1737360"/>
          </a:xfrm>
          <a:prstGeom prst="roundRect">
            <a:avLst>
              <a:gd name="adj" fmla="val 4211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595360" y="1792224"/>
            <a:ext cx="3145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5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2304288"/>
            <a:ext cx="3145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scaled beyond one site,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84% reporting value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301752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Deloitte, 140+ manufacturers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66928" y="3657600"/>
            <a:ext cx="11055096" cy="2304288"/>
          </a:xfrm>
          <a:prstGeom prst="roundRect">
            <a:avLst>
              <a:gd name="adj" fmla="val 3175"/>
            </a:avLst>
          </a:prstGeom>
          <a:solidFill>
            <a:srgbClr val="EDEFF1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41248" y="3822192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candidate explanations. Which one it is decides whether there is a company to build.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77824" y="4242816"/>
            <a:ext cx="329184" cy="329184"/>
          </a:xfrm>
          <a:prstGeom prst="ellipse">
            <a:avLst/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7824" y="4242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35024" y="422452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products are designed for large, multi-line plants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18504" y="4242816"/>
            <a:ext cx="329184" cy="329184"/>
          </a:xfrm>
          <a:prstGeom prst="ellipse">
            <a:avLst/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18504" y="4242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775704" y="422452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shop-floor data a model would need does not exist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77824" y="4956048"/>
            <a:ext cx="329184" cy="329184"/>
          </a:xfrm>
          <a:prstGeom prst="ellipse">
            <a:avLst/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7824" y="4956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35024" y="493776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worked out how to sell into a 40-person business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18504" y="4956048"/>
            <a:ext cx="329184" cy="329184"/>
          </a:xfrm>
          <a:prstGeom prst="ellipse">
            <a:avLst/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18504" y="4956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775704" y="493776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genuinely is not there at that scale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77824" y="563270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is built to distinguish between them, not to argue for one.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34593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i="1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 nam.org/facts-about-manufacturing  ·  census.gov/hfp/btos  ·  Deloitte 2026 manufacturing AI survey.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SCOPE NARROWED ·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93776"/>
            <a:ext cx="11055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industries and not others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42416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vertical list is the output of two screens, applied in this order.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7223760" cy="1371600"/>
          </a:xfrm>
          <a:prstGeom prst="roundRect">
            <a:avLst>
              <a:gd name="adj" fmla="val 5333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55648"/>
            <a:ext cx="636422" cy="219456"/>
          </a:xfrm>
          <a:prstGeom prst="roundRect">
            <a:avLst>
              <a:gd name="adj" fmla="val 25000"/>
            </a:avLst>
          </a:prstGeom>
          <a:solidFill>
            <a:srgbClr val="1F2A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755648"/>
            <a:ext cx="6364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587398" y="173736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industry have a physical value chain — make, move, sell?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084832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Excluded: financial services, software and IT, media, professional services, healthcare delivery, education, hospitality, real estate. No physical production or flow to digitise, and no operating edge in any of them.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3127248"/>
            <a:ext cx="7223760" cy="1572768"/>
          </a:xfrm>
          <a:prstGeom prst="roundRect">
            <a:avLst>
              <a:gd name="adj" fmla="val 4651"/>
            </a:avLst>
          </a:prstGeom>
          <a:solidFill>
            <a:srgbClr val="EDEFF1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4672" y="323697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seven physical-goods verticals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5295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Food &amp; beverage / CPG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270248" y="35295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Fresh produce, dairy, meat &amp; agri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37856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Pharma &amp; life sciences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270248" y="37856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Electronics &amp; hardware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0416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Automotive &amp; industrial equipment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270248" y="40416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Chemicals &amp; process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2976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Apparel &amp; textiles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4828032"/>
            <a:ext cx="7223760" cy="1316736"/>
          </a:xfrm>
          <a:prstGeom prst="roundRect">
            <a:avLst>
              <a:gd name="adj" fmla="val 5556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956048"/>
            <a:ext cx="636422" cy="219456"/>
          </a:xfrm>
          <a:prstGeom prst="roundRect">
            <a:avLst>
              <a:gd name="adj" fmla="val 25000"/>
            </a:avLst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4956048"/>
            <a:ext cx="6364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587398" y="493776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those seven by founder edge — defined on the next slide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41248" y="5312664"/>
            <a:ext cx="128016" cy="128016"/>
          </a:xfrm>
          <a:prstGeom prst="ellipse">
            <a:avLst/>
          </a:prstGeom>
          <a:solidFill>
            <a:srgbClr val="4F7C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2416" y="52578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deepest edge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182112" y="525780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F&amp;B / CPG  ·  Fresh &amp; agri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1248" y="5586984"/>
            <a:ext cx="128016" cy="128016"/>
          </a:xfrm>
          <a:prstGeom prst="ellipse">
            <a:avLst/>
          </a:prstGeom>
          <a:solidFill>
            <a:srgbClr val="C9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42416" y="55321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reach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182112" y="553212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&amp; life sciences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1248" y="5861304"/>
            <a:ext cx="128016" cy="128016"/>
          </a:xfrm>
          <a:prstGeom prst="ellipse">
            <a:avLst/>
          </a:prstGeom>
          <a:solidFill>
            <a:srgbClr val="6E7B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2416" y="580644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park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182112" y="58064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Electronics, automotive, chemicals, apparel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65008" y="1627632"/>
            <a:ext cx="4123944" cy="4517136"/>
          </a:xfrm>
          <a:prstGeom prst="roundRect">
            <a:avLst>
              <a:gd name="adj" fmla="val 1774"/>
            </a:avLst>
          </a:prstGeom>
          <a:solidFill>
            <a:srgbClr val="F6E7E2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302752" y="181051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edge-first screen, not a market-size-first screen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02752" y="237744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market-size screen would rank these differently. Electronics and automotive are larger; pharma pays more per seat.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ordering here is deliberate, for one reason: the output of a 90-hour study is a set of opportunity theses, and the quality of those theses depends almost entirely on whether operators take the call and whether I can ask a question that reveals something.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depth buys both. Market size is applied later, as a sanity check on whether the surviving cell is big enough to matter — not as the first filter.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is parked rather than killed: any of the four re-enters if a specific why-now turns out to be overwhelming.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SCOPE NARROWED ·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93776"/>
            <a:ext cx="11055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grid, and what “edge” actually means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42416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run across, verticals run down. The deep-dive unit is one cell, because the same function is a different business in each industry.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92224"/>
          <a:ext cx="68580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234440"/>
                <a:gridCol w="914400"/>
                <a:gridCol w="1051560"/>
                <a:gridCol w="731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Manufacturing ops &amp; Industry 4.0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AB4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chain &amp; perishables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AB4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&amp; decision intelligence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AB4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Traceability &amp;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AB4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CPG distribution &amp; retail execution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AB4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AB4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&amp; sourcing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AB4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1792224"/>
            <a:ext cx="6858000" cy="347472"/>
          </a:xfrm>
          <a:prstGeom prst="rect">
            <a:avLst/>
          </a:prstGeom>
          <a:solidFill>
            <a:srgbClr val="1F2A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0936" y="179222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↓ / Vertical →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493008" y="179222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F&amp;B / CPG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727448" y="179222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&amp; Agri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641848" y="179222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693408" y="179222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ind.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422452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“Heavy industrial” collapses the four Tier 3 verticals into one column, for contrast rather than analysis.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744968" y="1792224"/>
            <a:ext cx="4443984" cy="4206240"/>
          </a:xfrm>
          <a:prstGeom prst="roundRect">
            <a:avLst>
              <a:gd name="adj" fmla="val 1739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982712" y="19385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symbols mean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982712" y="2212848"/>
            <a:ext cx="3968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is not “do I find this interesting.” It is: would I be unusually hard to beat in this cell?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982712" y="27614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293608" y="2761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edge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982712" y="3017520"/>
            <a:ext cx="3968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 operating credential in that exact cell, with a number attached.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982712" y="35478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293608" y="3547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982712" y="3803904"/>
            <a:ext cx="3968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carries over but the domain knowledge does not. Pharma is the clearest case: the cold-chain logistics transfers, the regulatory depth does not.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7982712" y="43342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293608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982712" y="4590288"/>
            <a:ext cx="3968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particular reason I would be hard to beat.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982712" y="5120640"/>
            <a:ext cx="3968496" cy="768096"/>
          </a:xfrm>
          <a:prstGeom prst="roundRect">
            <a:avLst>
              <a:gd name="adj" fmla="val 7143"/>
            </a:avLst>
          </a:prstGeom>
          <a:solidFill>
            <a:srgbClr val="E4EB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092440" y="517550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stars behind the stars:  5 years at ITC — manufacturing cost −20%, packaging automation 50%, 3 sites scaled; forecast-free cold chain and India's first cold-chain co-loading; packaging that removed reefer trucks, −70% cost; traceability cutting expiries −30%; 1,000+ distributors, 42 warehouses, fulfilment 40→80%.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SCOPE NARROWED ·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93776"/>
            <a:ext cx="11055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standard labels did not work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42416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search space could be scoped, it had to be named. Three authoritative systems give three different answers to one question: is this one industry, or two?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3584448" cy="1773936"/>
          </a:xfrm>
          <a:prstGeom prst="roundRect">
            <a:avLst>
              <a:gd name="adj" fmla="val 4124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86384" y="17739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NAICS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73552" y="1792224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1F2A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73552" y="179222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2066544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 government's production-based system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2322576"/>
            <a:ext cx="31455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is sectors 31–33. Transportation &amp; warehousing is 48–49. Wholesale (42) and retail (44–45) sit in between. So make → move → sell literally spans four top-level sectors.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71416" y="1664208"/>
            <a:ext cx="3584448" cy="1773936"/>
          </a:xfrm>
          <a:prstGeom prst="roundRect">
            <a:avLst>
              <a:gd name="adj" fmla="val 4124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90872" y="17739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GICS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520940" y="1792224"/>
            <a:ext cx="315468" cy="219456"/>
          </a:xfrm>
          <a:prstGeom prst="roundRect">
            <a:avLst>
              <a:gd name="adj" fmla="val 25000"/>
            </a:avLst>
          </a:prstGeom>
          <a:solidFill>
            <a:srgbClr val="4F7C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20940" y="1792224"/>
            <a:ext cx="315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690872" y="2066544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investors use for public equities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690872" y="2322576"/>
            <a:ext cx="31455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Goods — manufacturing and machinery — and Transportation are bundled together into a single Industrials sector. The investor lens treats them as one thing.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375904" y="1664208"/>
            <a:ext cx="3584448" cy="1773936"/>
          </a:xfrm>
          <a:prstGeom prst="roundRect">
            <a:avLst>
              <a:gd name="adj" fmla="val 4124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595360" y="17739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 theses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1151108" y="1792224"/>
            <a:ext cx="589788" cy="219456"/>
          </a:xfrm>
          <a:prstGeom prst="roundRect">
            <a:avLst>
              <a:gd name="adj" fmla="val 25000"/>
            </a:avLst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151108" y="1792224"/>
            <a:ext cx="5897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2066544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funds in this space actually use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595360" y="2322576"/>
            <a:ext cx="31455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Umbrellas that deliberately cut across both: “supply chain &amp; logistics tech”, “industrial tech / Manufacturing 4.0”, a16z's American Dynamism bundling supply chain, industrials, manufacturing, defence and energy.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3584448"/>
            <a:ext cx="11055096" cy="1316736"/>
          </a:xfrm>
          <a:prstGeom prst="roundRect">
            <a:avLst>
              <a:gd name="adj" fmla="val 5556"/>
            </a:avLst>
          </a:prstGeom>
          <a:solidFill>
            <a:srgbClr val="EDEFF1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41248" y="3694176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phrase “supply chain” carries two different meanings, an order of magnitude apart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77824" y="400507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— the everyday sense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77824" y="4242816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and storing goods. Logistics, freight, warehousing, inventory. Just the move.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318504" y="400507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— the SCOR model practitioners use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318504" y="4242816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source → make → deliver → return. Here manufacturing sits inside supply chain, as the production node.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5047488"/>
            <a:ext cx="11055096" cy="1097280"/>
          </a:xfrm>
          <a:prstGeom prst="roundRect">
            <a:avLst>
              <a:gd name="adj" fmla="val 6667"/>
            </a:avLst>
          </a:prstGeom>
          <a:solidFill>
            <a:srgbClr val="F6E7E2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41248" y="5157216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mattered rather than being a semantic quibble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41248" y="5431536"/>
            <a:ext cx="10506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labels silently fixes a different search space, and the choice is made before a single problem is examined. “Supply chain tech” in the narrow sense would have cut the factory out; in the broad sense it would have pulled it back in. “Manufacturing tech” would have cut out everything downstream of the loading dock. Picking a label would have been deciding the answer by choosing the vocabulary.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34593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i="1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 NAICS sector definitions: census.gov/naics  ·  GICS structure: msci.com/our-solutions/indexes/gics  ·  SCOR model: ascm.org/corporate-transformation/standards-tools/scor  ·  Venture framing per industry-priorities.md, project repo.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SCOPE NARROWED ·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93776"/>
            <a:ext cx="11055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the boundary describes a flow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42416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→ move → sell is not a taxonomy. It is a description of what physically happens to a good, which is why it does not inherit the disagreement on the previous slide.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115568" y="1664208"/>
            <a:ext cx="3108960" cy="512064"/>
          </a:xfrm>
          <a:prstGeom prst="roundRect">
            <a:avLst>
              <a:gd name="adj" fmla="val 12500"/>
            </a:avLst>
          </a:prstGeom>
          <a:solidFill>
            <a:srgbClr val="DCE3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166420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TECH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973568" y="1664208"/>
            <a:ext cx="3108960" cy="512064"/>
          </a:xfrm>
          <a:prstGeom prst="roundRect">
            <a:avLst>
              <a:gd name="adj" fmla="val 12500"/>
            </a:avLst>
          </a:prstGeom>
          <a:solidFill>
            <a:srgbClr val="DCE3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73568" y="166420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/ RETAIL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21945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· vision QC · maintenance · process design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973568" y="21945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· pricing · merchandising · the transaction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15568" y="2505456"/>
            <a:ext cx="3108960" cy="585216"/>
          </a:xfrm>
          <a:prstGeom prst="roundRect">
            <a:avLst>
              <a:gd name="adj" fmla="val 10938"/>
            </a:avLst>
          </a:prstGeom>
          <a:solidFill>
            <a:srgbClr val="1F2A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2505456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224528" y="2505456"/>
            <a:ext cx="320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44568" y="2505456"/>
            <a:ext cx="3108960" cy="585216"/>
          </a:xfrm>
          <a:prstGeom prst="roundRect">
            <a:avLst>
              <a:gd name="adj" fmla="val 10938"/>
            </a:avLst>
          </a:prstGeom>
          <a:solidFill>
            <a:srgbClr val="1F2A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44568" y="2505456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653528" y="2505456"/>
            <a:ext cx="320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73568" y="2505456"/>
            <a:ext cx="3108960" cy="585216"/>
          </a:xfrm>
          <a:prstGeom prst="roundRect">
            <a:avLst>
              <a:gd name="adj" fmla="val 10938"/>
            </a:avLst>
          </a:prstGeom>
          <a:solidFill>
            <a:srgbClr val="1F2A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73568" y="2505456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115568" y="3218688"/>
            <a:ext cx="9966960" cy="530352"/>
          </a:xfrm>
          <a:prstGeom prst="roundRect">
            <a:avLst>
              <a:gd name="adj" fmla="val 12069"/>
            </a:avLst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15568" y="321868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— the end-to-end operational spine   (plan · source · make · deliver · return)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3895344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04672" y="400507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at the make end, deliberately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261104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treats production only as a flow node — how much, and when. It excludes the engineering of production: automation, machine maintenance, vision QC, process design. That is a separate domain, and it is where the ITC and GE work sits.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3895344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547104" y="400507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at the sell end, deliberately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547104" y="4261104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stops at delivery. The actual selling — demand generation, pricing, retail merchandising, the transaction — is commerce. That is where the CPG distribution edge sits.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5212080"/>
            <a:ext cx="11055096" cy="987552"/>
          </a:xfrm>
          <a:prstGeom prst="roundRect">
            <a:avLst>
              <a:gd name="adj" fmla="val 7407"/>
            </a:avLst>
          </a:prstGeom>
          <a:solidFill>
            <a:srgbClr val="E4EBE8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41248" y="5212080"/>
            <a:ext cx="105064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this is closer to Porter's value chain, which includes marketing and sales, than to supply chain, which is its operations-heavy core. The practical consequence: two of the five sharpest edges — manufacturing ops and CPG distribution — sit in exactly the end-zones a pure supply-chain scope clips off. Naming the search “supply chain” would have discarded about a third of the edge before any problem was examined.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93776"/>
            <a:ext cx="11055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co-manufacturer's own operating loop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42416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F&amp;B, the first pass's strongest thread was contract manufacturing. Unit of analysis is the plant as a business — its loop walked end to end.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2121408" cy="530352"/>
          </a:xfrm>
          <a:prstGeom prst="roundRect">
            <a:avLst>
              <a:gd name="adj" fmla="val 12069"/>
            </a:avLst>
          </a:prstGeom>
          <a:solidFill>
            <a:srgbClr val="1F2A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883664"/>
            <a:ext cx="2121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12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WORK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468880"/>
            <a:ext cx="2121408" cy="1152144"/>
          </a:xfrm>
          <a:prstGeom prst="roundRect">
            <a:avLst>
              <a:gd name="adj" fmla="val 6349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94944" y="2560320"/>
            <a:ext cx="18653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RFQ, quoting,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transfer,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688336" y="1883664"/>
            <a:ext cx="201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89504" y="1883664"/>
            <a:ext cx="2121408" cy="530352"/>
          </a:xfrm>
          <a:prstGeom prst="roundRect">
            <a:avLst>
              <a:gd name="adj" fmla="val 12069"/>
            </a:avLst>
          </a:prstGeom>
          <a:solidFill>
            <a:srgbClr val="1F2A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89504" y="1883664"/>
            <a:ext cx="2121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12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889504" y="2468880"/>
            <a:ext cx="2121408" cy="1152144"/>
          </a:xfrm>
          <a:prstGeom prst="roundRect">
            <a:avLst>
              <a:gd name="adj" fmla="val 6349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017520" y="2560320"/>
            <a:ext cx="18653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Materials, customer-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supplied inventory,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allergens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010912" y="1883664"/>
            <a:ext cx="201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0" y="1883664"/>
            <a:ext cx="2121408" cy="530352"/>
          </a:xfrm>
          <a:prstGeom prst="roundRect">
            <a:avLst>
              <a:gd name="adj" fmla="val 12069"/>
            </a:avLst>
          </a:prstGeom>
          <a:solidFill>
            <a:srgbClr val="1F2A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12080" y="1883664"/>
            <a:ext cx="2121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12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212080" y="2468880"/>
            <a:ext cx="2121408" cy="1152144"/>
          </a:xfrm>
          <a:prstGeom prst="roundRect">
            <a:avLst>
              <a:gd name="adj" fmla="val 6349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340096" y="2560320"/>
            <a:ext cx="18653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OEE,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333488" y="1883664"/>
            <a:ext cx="201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34656" y="1883664"/>
            <a:ext cx="2121408" cy="530352"/>
          </a:xfrm>
          <a:prstGeom prst="roundRect">
            <a:avLst>
              <a:gd name="adj" fmla="val 12069"/>
            </a:avLst>
          </a:prstGeom>
          <a:solidFill>
            <a:srgbClr val="1F2A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34656" y="1883664"/>
            <a:ext cx="2121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12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534656" y="2468880"/>
            <a:ext cx="2121408" cy="1152144"/>
          </a:xfrm>
          <a:prstGeom prst="roundRect">
            <a:avLst>
              <a:gd name="adj" fmla="val 6349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662672" y="2560320"/>
            <a:ext cx="18653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QC, FSQA docs,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SQF / BRC, customer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656064" y="1883664"/>
            <a:ext cx="201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857232" y="1883664"/>
            <a:ext cx="2121408" cy="530352"/>
          </a:xfrm>
          <a:prstGeom prst="roundRect">
            <a:avLst>
              <a:gd name="adj" fmla="val 12069"/>
            </a:avLst>
          </a:prstGeom>
          <a:solidFill>
            <a:srgbClr val="1F2A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57232" y="1883664"/>
            <a:ext cx="2121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12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857232" y="2468880"/>
            <a:ext cx="2121408" cy="1152144"/>
          </a:xfrm>
          <a:prstGeom prst="roundRect">
            <a:avLst>
              <a:gd name="adj" fmla="val 6349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985248" y="2560320"/>
            <a:ext cx="18653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Invoicing, deductions,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true-ups,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claims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3840480"/>
            <a:ext cx="11055096" cy="1042416"/>
          </a:xfrm>
          <a:prstGeom prst="roundRect">
            <a:avLst>
              <a:gd name="adj" fmla="val 7018"/>
            </a:avLst>
          </a:prstGeom>
          <a:solidFill>
            <a:srgbClr val="E4EBE8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41248" y="3950208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the seam that cuts across all five: the co-manufacturer ↔ brand relationship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41248" y="4224528"/>
            <a:ext cx="10506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churn  ·  forecast volatility  ·  audit duplication  ·  chargebacks.  This is the seam I sat on from the brand side at ITC, and seams are exactly what a step-by-step desk map tends to undersell.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5029200"/>
            <a:ext cx="11055096" cy="1005840"/>
          </a:xfrm>
          <a:prstGeom prst="roundRect">
            <a:avLst>
              <a:gd name="adj" fmla="val 7273"/>
            </a:avLst>
          </a:prstGeom>
          <a:solidFill>
            <a:srgbClr val="EDEFF1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41248" y="5138928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loop and not the vertical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41248" y="5413248"/>
            <a:ext cx="10506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 has to clear a company-shaped bar — a system of record or action for a slice of the plant's P&amp;L, with a wedge and an expansion path. The first pass's failure mode was producing point tools that read as features rather than companies.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RESEARCH · SUPPLY SIDE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93776"/>
            <a:ext cx="11055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money has already gone, and the gaps it left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42416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is: the competitive map, drawn before harvesting a single problem, so the search points at cells nobody sells into rather than at pain already addressed. The conclusion is the three cells at the bottom, not the table.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55096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754880"/>
                <a:gridCol w="1371600"/>
                <a:gridCol w="364845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Keychain, PartnerSlate  (Paperless Parts in job shops)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$68M / $4M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side claimed; plant side empty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Semia, PlanetTogether, enterprise APS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 claimed, none co-man-specific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Tulip, MaintainX, Pico MES, Takt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$291M / $254M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funded step. Claimed.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SafetyChain, Allera, TraceGains, Trustwell, FoodReady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~$50M / $4M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Claimed at 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Glimpse, SupplyPike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$35M (a16z)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Brand↔retailer only; plant edge empty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1737360"/>
            <a:ext cx="11055096" cy="365760"/>
          </a:xfrm>
          <a:prstGeom prst="rect">
            <a:avLst/>
          </a:prstGeom>
          <a:solidFill>
            <a:srgbClr val="1F2A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737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step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players found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601968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019288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3877056"/>
            <a:ext cx="11055096" cy="1481328"/>
          </a:xfrm>
          <a:prstGeom prst="roundRect">
            <a:avLst>
              <a:gd name="adj" fmla="val 4938"/>
            </a:avLst>
          </a:prstGeom>
          <a:solidFill>
            <a:srgbClr val="F6E7E2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41248" y="3986784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cells came back empty — each recorded with the searches run and a hypothesis for why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77824" y="4297680"/>
            <a:ext cx="246888" cy="246888"/>
          </a:xfrm>
          <a:prstGeom prst="ellipse">
            <a:avLst/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7824" y="429768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225296" y="42702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Plant-side win-work — responding to RFQs, costing a formulation run, executing tech transfer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77824" y="4617720"/>
            <a:ext cx="246888" cy="246888"/>
          </a:xfrm>
          <a:prstGeom prst="ellipse">
            <a:avLst/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77824" y="46177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225296" y="45902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co-manufacturer ↔ brand settle edge — yield true-ups and chargebacks, one hop up from where Glimpse sits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77824" y="4937760"/>
            <a:ext cx="246888" cy="246888"/>
          </a:xfrm>
          <a:prstGeom prst="ellipse">
            <a:avLst/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7824" y="493776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225296" y="491032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duplication — N brand customers means N overlapping audits on top of SQF/BRC certification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5468112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inferences from search absence, not facts — each carries its queries so the claim can be audited or overturned.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634593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i="1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 Keychain: prnewswire.com/news-releases/keychain-raises-30-million-series-b…302532859.html  ·  PartnerSlate: foodnavigator-usa.com/Article/2023/06/12/PartnerSlate-connects-food-brands-with-co-manufacturers-raises-4-million-in-funding  ·  Tulip: media.mit.edu/posts/tulip-raises-120m-series-d-at-1-3b-valuation  ·  MaintainX: getmaintainx.com/newsroom/maintainx-raises-150m  ·  Glimpse: tamradar.com/funding-rounds/glimpse-series-a-35m  ·  Paperless Parts: paperlessparts.com/press  ·  Semia: semia.ai  ·  Allera: alleratech.com  ·  SafetyChain ~$50M via CB Insights [UNVERIFIED, secondary]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THESIS, AND ITS HONEST PROBLEM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03504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those gaps might exist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9728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D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is: an empty cell is not evidence of an opportunity until you can say why it is empty. This is our explanation — and it is the single assumption the whole study rests 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536192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2734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2763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65376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maintains ONE spec format</a:t>
            </a:r>
            <a:endParaRPr lang="en-US" sz="16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pushes it outward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309360" y="1536192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65392" y="162763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co-manufacturer with twenty customers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65392" y="1865376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RECEIVES twenty formats,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twenty questionnaires, twenty portals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66928" y="2852928"/>
            <a:ext cx="504749" cy="219456"/>
          </a:xfrm>
          <a:prstGeom prst="roundRect">
            <a:avLst>
              <a:gd name="adj" fmla="val 25000"/>
            </a:avLst>
          </a:prstGeom>
          <a:solidFill>
            <a:srgbClr val="C9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852928"/>
            <a:ext cx="5047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E-WEAK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217981" y="2834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by an industry source, not yet by a plant operator. Interview question one.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145536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translation cost is structurally concentrated on the plant side, and it scales with the number of customers — which is exactly what a co-manufacturer is trying to grow. That is the strongest available explanation for why brand-side software has not solved it.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657600"/>
            <a:ext cx="5349240" cy="1316736"/>
          </a:xfrm>
          <a:prstGeom prst="roundRect">
            <a:avLst>
              <a:gd name="adj" fmla="val 5556"/>
            </a:avLst>
          </a:prstGeom>
          <a:solidFill>
            <a:srgbClr val="2C3A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7673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the thesis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059936"/>
            <a:ext cx="4846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by evidence and ranking by competition give opposite answers. Audit documentation is the best-evidenced task — and the most crowded cell, defended by SafetyChain across 2,500+ facilities.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3657600"/>
            <a:ext cx="5349240" cy="1316736"/>
          </a:xfrm>
          <a:prstGeom prst="roundRect">
            <a:avLst>
              <a:gd name="adj" fmla="val 5556"/>
            </a:avLst>
          </a:prstGeom>
          <a:solidFill>
            <a:srgbClr val="2C3A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65392" y="37673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left, stated narrowly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65392" y="4059936"/>
            <a:ext cx="4846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incumbent found organises the plant's own data. None was found selling the inbound problem — absorbing whatever twenty customers send and turning it into one internal standard.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5102352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" y="5102352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first plants say “SafetyChain already handles that,” the study reports it and re-aims. A negative result is a legitimate outcome, and still a market study.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34593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i="1" dirty="0">
                <a:solidFill>
                  <a:srgbClr val="7C8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 Multiplication claim: AlphaSense synthesis supported by an FMCG contract-manufacturer prospectus, 30 Jun 2026  ·  SafetyChain scale and positioning: safetychain.com, self-reported  ·  Incumbent scan detail and per-quote attribution in the appendix.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93776"/>
            <a:ext cx="11055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Thirteen weeks, a deliverable each week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3657600" cy="585216"/>
          </a:xfrm>
          <a:prstGeom prst="roundRect">
            <a:avLst>
              <a:gd name="adj" fmla="val 12500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365760" cy="365760"/>
          </a:xfrm>
          <a:prstGeom prst="ellipse">
            <a:avLst/>
          </a:prstGeom>
          <a:solidFill>
            <a:srgbClr val="1F2A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22529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 Library — Hoovers, PitchBook, IBISWorld, AlphaSense, Capital IQ, CPA report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71416" y="1188720"/>
            <a:ext cx="3657600" cy="585216"/>
          </a:xfrm>
          <a:prstGeom prst="roundRect">
            <a:avLst>
              <a:gd name="adj" fmla="val 12500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36008" y="1280160"/>
            <a:ext cx="365760" cy="365760"/>
          </a:xfrm>
          <a:prstGeom prst="ellipse">
            <a:avLst/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6008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122529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side — vendor landscape, founder and integrator conversations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375904" y="1188720"/>
            <a:ext cx="3657600" cy="585216"/>
          </a:xfrm>
          <a:prstGeom prst="roundRect">
            <a:avLst>
              <a:gd name="adj" fmla="val 12500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40496" y="1280160"/>
            <a:ext cx="365760" cy="365760"/>
          </a:xfrm>
          <a:prstGeom prst="ellipse">
            <a:avLst/>
          </a:prstGeom>
          <a:solidFill>
            <a:srgbClr val="4F7C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40496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979408" y="122529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side — 20–25 operator interviews, Mom Test form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1975104"/>
            <a:ext cx="438912" cy="512064"/>
          </a:xfrm>
          <a:prstGeom prst="roundRect">
            <a:avLst>
              <a:gd name="adj" fmla="val 12500"/>
            </a:avLst>
          </a:prstGeom>
          <a:solidFill>
            <a:srgbClr val="1F2A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1975104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198424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locked with Prof. Ferreira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22128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2-page scope memo: vertical vs horizontal, geography, research questions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" y="2578608"/>
            <a:ext cx="438912" cy="512064"/>
          </a:xfrm>
          <a:prstGeom prst="roundRect">
            <a:avLst>
              <a:gd name="adj" fmla="val 12500"/>
            </a:avLst>
          </a:prstGeom>
          <a:solidFill>
            <a:srgbClr val="1F2A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2578608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58775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 Library session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28163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Data-access plan; first Hoovers and IBISWorld pulls; CPA report request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6928" y="3182112"/>
            <a:ext cx="438912" cy="512064"/>
          </a:xfrm>
          <a:prstGeom prst="roundRect">
            <a:avLst>
              <a:gd name="adj" fmla="val 12500"/>
            </a:avLst>
          </a:prstGeom>
          <a:solidFill>
            <a:srgbClr val="3645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182112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" y="319125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landscape v1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15568" y="34198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 vendors by loop step with funding, pricing, positioning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66928" y="3785616"/>
            <a:ext cx="438912" cy="512064"/>
          </a:xfrm>
          <a:prstGeom prst="roundRect">
            <a:avLst>
              <a:gd name="adj" fmla="val 12500"/>
            </a:avLst>
          </a:prstGeom>
          <a:solidFill>
            <a:srgbClr val="3645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3785616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115568" y="379476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map v1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115568" y="4023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$10–250M plant does daily, with rough cost structure per step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66928" y="4389120"/>
            <a:ext cx="438912" cy="512064"/>
          </a:xfrm>
          <a:prstGeom prst="roundRect">
            <a:avLst>
              <a:gd name="adj" fmla="val 12500"/>
            </a:avLst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6928" y="4389120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115568" y="439826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1–5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115568" y="46268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operator notes; the asymmetry hypothesis confirmed or killed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66928" y="4992624"/>
            <a:ext cx="438912" cy="512064"/>
          </a:xfrm>
          <a:prstGeom prst="roundRect">
            <a:avLst>
              <a:gd name="adj" fmla="val 12500"/>
            </a:avLst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66928" y="4992624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115568" y="500176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6–10  ·  mid-point review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1115568" y="5230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memo: which hypotheses survived, which died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66928" y="5596128"/>
            <a:ext cx="438912" cy="512064"/>
          </a:xfrm>
          <a:prstGeom prst="roundRect">
            <a:avLst>
              <a:gd name="adj" fmla="val 12500"/>
            </a:avLst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66928" y="5596128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56052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11–15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1115568" y="58338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and integrator calls; arena map revised against what plants run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309360" y="1975104"/>
            <a:ext cx="438912" cy="512064"/>
          </a:xfrm>
          <a:prstGeom prst="roundRect">
            <a:avLst>
              <a:gd name="adj" fmla="val 12500"/>
            </a:avLst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09360" y="1975104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0" y="198424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16–20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6858000" y="22128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ownership and pricing evidence; first ACV estimates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309360" y="2578608"/>
            <a:ext cx="438912" cy="512064"/>
          </a:xfrm>
          <a:prstGeom prst="roundRect">
            <a:avLst>
              <a:gd name="adj" fmla="val 12500"/>
            </a:avLst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309360" y="2578608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858000" y="258775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21–25  ·  close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6858000" y="28163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evidence table, every claim traced to a source or interview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309360" y="3182112"/>
            <a:ext cx="438912" cy="512064"/>
          </a:xfrm>
          <a:prstGeom prst="roundRect">
            <a:avLst>
              <a:gd name="adj" fmla="val 12500"/>
            </a:avLst>
          </a:prstGeom>
          <a:solidFill>
            <a:srgbClr val="4F7C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309360" y="3182112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6858000" y="319125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6858000" y="34198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opportunity theses, each with its riskiest assumption and kill criterion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309360" y="3785616"/>
            <a:ext cx="438912" cy="512064"/>
          </a:xfrm>
          <a:prstGeom prst="roundRect">
            <a:avLst>
              <a:gd name="adj" fmla="val 12500"/>
            </a:avLst>
          </a:prstGeom>
          <a:solidFill>
            <a:srgbClr val="4F7C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309360" y="3785616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6858000" y="379476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market study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6858000" y="4023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draft circulated for comment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309360" y="4389120"/>
            <a:ext cx="438912" cy="512064"/>
          </a:xfrm>
          <a:prstGeom prst="roundRect">
            <a:avLst>
              <a:gd name="adj" fmla="val 12500"/>
            </a:avLst>
          </a:prstGeom>
          <a:solidFill>
            <a:srgbClr val="4F7C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309360" y="4389120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858000" y="439826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6858000" y="46268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write-up; appendix of interview notes and source list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309360" y="4992624"/>
            <a:ext cx="438912" cy="512064"/>
          </a:xfrm>
          <a:prstGeom prst="roundRect">
            <a:avLst>
              <a:gd name="adj" fmla="val 12500"/>
            </a:avLst>
          </a:prstGeom>
          <a:solidFill>
            <a:srgbClr val="4F7C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309360" y="4992624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6858000" y="500176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and reflect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6858000" y="5230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Presentation; closing section on where my assumptions were wrong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66928" y="6089904"/>
            <a:ext cx="11055096" cy="530352"/>
          </a:xfrm>
          <a:prstGeom prst="roundRect">
            <a:avLst>
              <a:gd name="adj" fmla="val 13793"/>
            </a:avLst>
          </a:prstGeom>
          <a:solidFill>
            <a:srgbClr val="E4EBE8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69" name="Text 67"/>
          <p:cNvSpPr txBox="1"/>
          <p:nvPr/>
        </p:nvSpPr>
        <p:spPr>
          <a:xfrm>
            <a:off x="841248" y="6089904"/>
            <a:ext cx="10506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built: a 1,155-company US co-manufacturer database with named contacts and a working outreach pipeline. The interview plan does not start from zero.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WRONG, AND WHAT I NEED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asks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99616"/>
            <a:ext cx="6858000" cy="859536"/>
          </a:xfrm>
          <a:prstGeom prst="roundRect">
            <a:avLst>
              <a:gd name="adj" fmla="val 7447"/>
            </a:avLst>
          </a:prstGeom>
          <a:solidFill>
            <a:srgbClr val="2734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9105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 rests on one unproven hypothesis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65376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multiplication effect does not hold at plant level, the wedge disappears. Tested in the first five interviews, deliberately.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2450592"/>
            <a:ext cx="6858000" cy="859536"/>
          </a:xfrm>
          <a:prstGeom prst="roundRect">
            <a:avLst>
              <a:gd name="adj" fmla="val 7447"/>
            </a:avLst>
          </a:prstGeom>
          <a:solidFill>
            <a:srgbClr val="2734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542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best-evidenced wedge is crowded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16352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SafetyChain is inside 2,500+ facilities. A negative finding here is a real possible outcome.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3401568"/>
            <a:ext cx="6858000" cy="859536"/>
          </a:xfrm>
          <a:prstGeom prst="roundRect">
            <a:avLst>
              <a:gd name="adj" fmla="val 7447"/>
            </a:avLst>
          </a:prstGeom>
          <a:solidFill>
            <a:srgbClr val="2734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4930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access to small private plants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67328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Owner-run businesses do not answer cold email reliably. Response evidence still thin.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4352544"/>
            <a:ext cx="6858000" cy="859536"/>
          </a:xfrm>
          <a:prstGeom prst="roundRect">
            <a:avLst>
              <a:gd name="adj" fmla="val 7447"/>
            </a:avLst>
          </a:prstGeom>
          <a:solidFill>
            <a:srgbClr val="2734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44398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Clean-data dependency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718304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 warned the approach “requires a lot of front-end engineered clean data.” If plant specs are not written down, there is nothing to map onto.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54112" y="1499616"/>
            <a:ext cx="4434840" cy="3840480"/>
          </a:xfrm>
          <a:prstGeom prst="roundRect">
            <a:avLst>
              <a:gd name="adj" fmla="val 1905"/>
            </a:avLst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10144" y="16642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asks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010144" y="2139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10144" y="2139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394192" y="21031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scope: one vertical end to end, rather than one function across all of manufacturing.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10144" y="294436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10144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394192" y="29077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food manufacturing operators through the TOM and HBS networks — the highest-value input by far.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10144" y="374904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10144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394192" y="3712464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Baker librarian contact, to request the Contract Packaging Association State of the Industry report.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10144" y="45537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10144" y="4553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394192" y="4517136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read: is the asymmetry hypothesis the right first test, or is there a better first question?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554126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E9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Deliverable, 11 December: a written market study — operating map with cost structure, AI vendor landscape, what interviews show about adoption and budget ownership, and three to five opportunity theses. Every claim traced to a published source or a named interview.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8346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DETAIL AND FULL SOURCE LIST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20040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93776"/>
            <a:ext cx="11055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pass, and the lesson it produced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2615184" cy="1133856"/>
          </a:xfrm>
          <a:prstGeom prst="roundRect">
            <a:avLst>
              <a:gd name="adj" fmla="val 6452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5544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011680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harvested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sufferer · task · cost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19856" y="1463040"/>
            <a:ext cx="2615184" cy="1133856"/>
          </a:xfrm>
          <a:prstGeom prst="roundRect">
            <a:avLst>
              <a:gd name="adj" fmla="val 6452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21024" y="15544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621024" y="2011680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searches on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and moat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72784" y="1463040"/>
            <a:ext cx="2615184" cy="1133856"/>
          </a:xfrm>
          <a:prstGeom prst="roundRect">
            <a:avLst>
              <a:gd name="adj" fmla="val 6452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73952" y="15544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2011680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to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interview-eligible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25712" y="1463040"/>
            <a:ext cx="2615184" cy="1133856"/>
          </a:xfrm>
          <a:prstGeom prst="roundRect">
            <a:avLst>
              <a:gd name="adj" fmla="val 6452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326880" y="15544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2011680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problem cleared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2779776"/>
            <a:ext cx="5806440" cy="1463040"/>
          </a:xfrm>
          <a:prstGeom prst="roundRect">
            <a:avLst>
              <a:gd name="adj" fmla="val 5000"/>
            </a:avLst>
          </a:prstGeom>
          <a:solidFill>
            <a:srgbClr val="EDEFF1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28895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finding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163824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legible US software cluster was already occupied by a funded 2023–25 entrant — Confido, Specright, TraceGains, Afresh, Formic, Augury among them.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47688" y="2779776"/>
            <a:ext cx="5541264" cy="1463040"/>
          </a:xfrm>
          <a:prstGeom prst="roundRect">
            <a:avLst>
              <a:gd name="adj" fmla="val 5000"/>
            </a:avLst>
          </a:prstGeom>
          <a:solidFill>
            <a:srgbClr val="F6E7E2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903720" y="28895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316382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research reproduces publicly quantified pain — precisely where funded competitors sit. What survives a competitive screen is “least crowded,” not “most demanded.”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443984"/>
            <a:ext cx="11055096" cy="1371600"/>
          </a:xfrm>
          <a:prstGeom prst="roundRect">
            <a:avLst>
              <a:gd name="adj" fmla="val 5333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41248" y="4553712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rules carried into this project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50976" y="4828032"/>
            <a:ext cx="103235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funded arena before harvesting problems, not after.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problems at operator-task level — if a generic consultant could write the line without sources, it is a situation, not a problem.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enters the tracker as validated until an operator has said it.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34593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i="1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 Full record: fnb/fnb-research-record.md in the project repo. Scoring weights, funnel counts and per-candidate verdicts held in the accompanying tracker.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93776"/>
            <a:ext cx="11055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 food contract manufacturing — size and why-now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42416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ranges rather than point estimates, because the available figures conflict.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86384" y="182880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$100–150B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267712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market, recorded as a range because two report-mill sources conflict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71416" y="173736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90872" y="182880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11.9%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690872" y="2267712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over five years — 2–4x faster than the industries it serves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375904" y="173736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595360" y="182880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5,000–10,000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2267712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food &amp; CPG co-manufacturers, triangulated from marketplace databases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3163824"/>
            <a:ext cx="5806440" cy="1280160"/>
          </a:xfrm>
          <a:prstGeom prst="roundRect">
            <a:avLst>
              <a:gd name="adj" fmla="val 5714"/>
            </a:avLst>
          </a:prstGeom>
          <a:solidFill>
            <a:srgbClr val="E4EBE8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32735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demand-side why-now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547872"/>
            <a:ext cx="5303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CPG brand owners outsource 10–49% of production; 67% plan to maintain or increase it and only 19% to reduce. Outsourced production is taking share of total production.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47688" y="3163824"/>
            <a:ext cx="5541264" cy="1280160"/>
          </a:xfrm>
          <a:prstGeom prst="roundRect">
            <a:avLst>
              <a:gd name="adj" fmla="val 5714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903720" y="32735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more vectors, each to be kill-tested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013448" y="354787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FSMA 204 traceability deadline, July 2028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roll-ups professionalising the buyer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 curve reaching document-heavy work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scarcity in QA and maintenance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4590288"/>
            <a:ext cx="11055096" cy="1170432"/>
          </a:xfrm>
          <a:prstGeom prst="roundRect">
            <a:avLst>
              <a:gd name="adj" fmla="val 6250"/>
            </a:avLst>
          </a:prstGeom>
          <a:solidFill>
            <a:srgbClr val="EDEFF1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41248" y="4700016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flags, carried forward per the project's own source rules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4974336"/>
            <a:ext cx="105064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market-size figures come from low-credibility report mills; only the Contract Packaging Association figure comes from a primary industry body. The firm count is a triangulation, not a census. No co-manufacturer margin benchmark was found at all — it is an interview question, not a desk estimate.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34593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i="1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 $138B→$303B: openpr.com/news/4468870  ·  $404B→$692B: fortunebusinessinsights.com/food-contract-manufacturing-market-115888  ·  11.9% CAGR: contractpackaging.org/state-of-the-industry-report and packworld.com/…13375428  ·  Outsourcing shares: packworld.com/…22938542  ·  NAICS 311 firm count: naicslist.com/naics/311  ·  ~6,000 co-mans: foodnavigator-usa.com/Article/2023/06/12  ·  FSMA 204: alleratech.com/blog/food-safety-software-guide [verify at FDA directly]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93776"/>
            <a:ext cx="11055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moments documents move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42416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four AlphaSense expert-call reports plus SEC filings and published supplier terms.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349240" cy="1938528"/>
          </a:xfrm>
          <a:prstGeom prst="roundRect">
            <a:avLst>
              <a:gd name="adj" fmla="val 3774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01952"/>
            <a:ext cx="329184" cy="329184"/>
          </a:xfrm>
          <a:prstGeom prst="ellipse">
            <a:avLst/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901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43584" y="190195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→ quote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304288"/>
            <a:ext cx="4882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sends description, volume, pack format, sometimes a formula. Plant judges feasibility and prices it.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834640"/>
            <a:ext cx="4882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the trope is paper and pencil, it’s not. It’s email and spreadsheets.”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291840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Director of Product Management, Xometry — expert call, 20 Jul 2026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09360" y="1737360"/>
            <a:ext cx="5349240" cy="1938528"/>
          </a:xfrm>
          <a:prstGeom prst="roundRect">
            <a:avLst>
              <a:gd name="adj" fmla="val 3774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47104" y="1901952"/>
            <a:ext cx="329184" cy="329184"/>
          </a:xfrm>
          <a:prstGeom prst="ellipse">
            <a:avLst/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47104" y="1901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986016" y="190195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→ tech transfer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47104" y="2304288"/>
            <a:ext cx="4882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to costed BOM, ingredient qualification, item masters, batch records, trials, questionnaires.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547104" y="2834640"/>
            <a:ext cx="4882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months to first paid run, up to 24 for regulated lines.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547104" y="3291840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sources; Mi3 Limited filing, 22 Jul 2024, records a launch slipping a year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66928" y="3840480"/>
            <a:ext cx="5349240" cy="1938528"/>
          </a:xfrm>
          <a:prstGeom prst="roundRect">
            <a:avLst>
              <a:gd name="adj" fmla="val 3774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005072"/>
            <a:ext cx="329184" cy="329184"/>
          </a:xfrm>
          <a:prstGeom prst="ellipse">
            <a:avLst/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4005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43584" y="40050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production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407408"/>
            <a:ext cx="4882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lot produces a COA; every incoming ingredient arrives with one to check against spec.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4937760"/>
            <a:ext cx="4882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“questionnaires, scientific data, certifications, affidavits, certificates of analysis…”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" y="5394960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Hain Celestial 10-K, 15 Sep 2025; Gehl Foods supplier terms, Feb 2026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309360" y="3840480"/>
            <a:ext cx="5349240" cy="1938528"/>
          </a:xfrm>
          <a:prstGeom prst="roundRect">
            <a:avLst>
              <a:gd name="adj" fmla="val 3774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47104" y="4005072"/>
            <a:ext cx="329184" cy="329184"/>
          </a:xfrm>
          <a:prstGeom prst="ellipse">
            <a:avLst/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47104" y="4005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986016" y="40050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and disputes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547104" y="4407408"/>
            <a:ext cx="4882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audits sit on top of SQF/BRC certification, each with its own document pack.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547104" y="4937760"/>
            <a:ext cx="4882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Off-spec exposure runs to destruction, arbitration and litigation.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547104" y="5394960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Custom Beverage v. Reed’s; Ascot Valley / ADF Foods disgorgement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634593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i="1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 Expert calls accessed through AlphaSense under HBS licence — no public URL; speaker role, employer and call date given per quote. Filings via SEC EDGAR.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93776"/>
            <a:ext cx="11055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by task — including what we killed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42416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fourth expert-call pass tested each candidate task against operator voice rather than industry synthesis.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73936"/>
          <a:ext cx="11055096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88720"/>
                <a:gridCol w="7031736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&amp; certification document packs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7C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“SQF requires inspections, audits, documentation on a monthly and weekly basis. Right now, it’s done just through an Excel.” — Director of EHS, Shehadey Family Foods, 25 Dec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change &amp; label updates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7C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Digitising change control sustained First Time Right quality above 99% — Tasty Bite Eatables annual report, 22 Jul 2026. High stakes: a label error can trigger a recall.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intake &amp; customer questionnaires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98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confirmed by Hain Celestial and Upfield filings, but the cost is stated by brands, not the plants bearing it.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Recipe → costed BOM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98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as cross-functional and slow, but no operator quantified the hours. May be coordination rather than data entry.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Checking incoming ingredient COAs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“If there’s 30 COAs, they’ll have to spend 10 minutes looking at them.” — VP Technical Services, IEH Laboratories, 5 Apr 2026. Twenty seconds each.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Producing lot COAs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“The cost of compliance shows up as lab capacity, hold time, and occasional lot segregation — not just as paperwork.” — Tridge, 7 Jul 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1773936"/>
            <a:ext cx="11055096" cy="365760"/>
          </a:xfrm>
          <a:prstGeom prst="rect">
            <a:avLst/>
          </a:prstGeom>
          <a:solidFill>
            <a:srgbClr val="1F2A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7739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3401568" y="17739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681728" y="177393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decided it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566928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six candidate tasks were removed by this pass. Killing them before interviews rather than after is the point of running it.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634593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i="1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 All quotes from AlphaSense expert calls under HBS licence, attributed by role, employer and date. Tasty Bite and Hain Celestial from published annual reports and SEC filings.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93776"/>
            <a:ext cx="11055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interview plan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42416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Test form throughout — what firms bought, what they later removed, and what a failure cost them.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73936"/>
            <a:ext cx="5806440" cy="676656"/>
          </a:xfrm>
          <a:prstGeom prst="roundRect">
            <a:avLst>
              <a:gd name="adj" fmla="val 10811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49808" y="1801368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12–15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792224" y="183794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Co-manufacturer operators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792224" y="209397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Owners, GMs, plant managers, QA and food-safety directors at $10–250M plants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2523744"/>
            <a:ext cx="5806440" cy="676656"/>
          </a:xfrm>
          <a:prstGeom prst="roundRect">
            <a:avLst>
              <a:gd name="adj" fmla="val 10811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49808" y="2551176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792224" y="25877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Brand-side co-man managers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792224" y="284378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native persona from ITC — the other side of the seam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3273552"/>
            <a:ext cx="5806440" cy="676656"/>
          </a:xfrm>
          <a:prstGeom prst="roundRect">
            <a:avLst>
              <a:gd name="adj" fmla="val 10811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9808" y="3300984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3–4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792224" y="33375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and integrators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792224" y="359359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sell, what they deploy, and what demand they turn away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928" y="4023360"/>
            <a:ext cx="5806440" cy="676656"/>
          </a:xfrm>
          <a:prstGeom prst="roundRect">
            <a:avLst>
              <a:gd name="adj" fmla="val 10811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49808" y="4050792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792224" y="40873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792224" y="43434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Eclipse, Schematic, Dynamo and similar — why they have or have not funded this cell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47688" y="1773936"/>
            <a:ext cx="5541264" cy="3017520"/>
          </a:xfrm>
          <a:prstGeom prst="roundRect">
            <a:avLst>
              <a:gd name="adj" fmla="val 2424"/>
            </a:avLst>
          </a:prstGeom>
          <a:solidFill>
            <a:srgbClr val="EDEFF1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903720" y="19019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questions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22008" y="2249424"/>
            <a:ext cx="256032" cy="256032"/>
          </a:xfrm>
          <a:prstGeom prst="ellipse">
            <a:avLst/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22008" y="2249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287768" y="2194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me through the last customer you onboarded. What did they send, in what format, and who turned it into something the plant could use?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22008" y="2743200"/>
            <a:ext cx="256032" cy="256032"/>
          </a:xfrm>
          <a:prstGeom prst="ellipse">
            <a:avLst/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22008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287768" y="268833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between signing and the first paid run? What was the longest wait caused by paperwork rather than production?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22008" y="3236976"/>
            <a:ext cx="256032" cy="256032"/>
          </a:xfrm>
          <a:prstGeom prst="ellipse">
            <a:avLst/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22008" y="3236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287768" y="31821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fills in customer quality questionnaires, and how long does one take?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22008" y="3730752"/>
            <a:ext cx="256032" cy="256032"/>
          </a:xfrm>
          <a:prstGeom prst="ellipse">
            <a:avLst/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22008" y="3730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287768" y="36758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did a COA or spec last get disputed, and what did it cost to resolve?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22008" y="4224528"/>
            <a:ext cx="256032" cy="256032"/>
          </a:xfrm>
          <a:prstGeom prst="ellipse">
            <a:avLst/>
          </a:prstGeom>
          <a:solidFill>
            <a:srgbClr val="C1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22008" y="4224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287768" y="41696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have you bought to make this easier — and what did you stop using, and why?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6928" y="4901184"/>
            <a:ext cx="11055096" cy="950976"/>
          </a:xfrm>
          <a:prstGeom prst="roundRect">
            <a:avLst>
              <a:gd name="adj" fmla="val 7692"/>
            </a:avLst>
          </a:prstGeom>
          <a:solidFill>
            <a:srgbClr val="E4EBE8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841248" y="4992624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asks about the past, never about whether AI sounds useful.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41248" y="5266944"/>
            <a:ext cx="10506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five does the most work: what a plant removed after buying it tells you more than any stated preference. Question one confirms or kills the asymmetry hypothesis, so it goes first in every conversation.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634593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i="1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 Question design follows Rob Fitzpatrick, The Mom Test. Sampling frame drawn from the project's 1,155-company co-manufacturer database, built from a D&amp;B Hoovers export via Baker Library merged with a public web sweep.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93776"/>
            <a:ext cx="11055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source list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42416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numeric or named claim in this deck, with its source. Claims without a primary source are flagged rather than smoothed.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5349240" cy="2066544"/>
          </a:xfrm>
          <a:prstGeom prst="roundRect">
            <a:avLst>
              <a:gd name="adj" fmla="val 3540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86384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— the adoption gap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12140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1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Firm-size distribution: National Association of Manufacturers, facts about manufacturing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by firm size: US Census Bureau, Business Trends and Outlook Survey, through May 2026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beyond one site: Deloitte 2026 survey, 140+ manufacturers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[FLAG] All three carried from the IP registration form; exact URLs to be re-verified at write-up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309360" y="1700784"/>
            <a:ext cx="5349240" cy="2066544"/>
          </a:xfrm>
          <a:prstGeom prst="roundRect">
            <a:avLst>
              <a:gd name="adj" fmla="val 3540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28816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3–6 — the screen and the boundary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638544" y="212140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1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taxonomy: NAICS (census.gov/naics), GICS (msci.com), SCOR (ascm.org)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list, tiering, heat matrix and the make/move/sell framing: industry-priorities.md, project repo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credentials: founder-profile.md, project repo — each traces to a named project at ITC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3931920"/>
            <a:ext cx="5349240" cy="2066544"/>
          </a:xfrm>
          <a:prstGeom prst="roundRect">
            <a:avLst>
              <a:gd name="adj" fmla="val 3540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86384" y="40599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— the arena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4352544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1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Keychain $68M / $30M Series B: prnewswire.com … 302532859.html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PartnerSlate $4M: foodnavigator-usa.com/Article/2023/06/12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Tulip $291M, $1.3B valuation: media.mit.edu/posts/tulip-raises-120m-series-d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MaintainX $254M, $2.5B valuation: getmaintainx.com/newsroom/maintainx-raises-150m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Glimpse $35M (a16z): tamradar.com/funding-rounds/glimpse-series-a-35m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[FLAG] SafetyChain ~$50M and FoodReady $4M: secondary search results, not company filings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309360" y="3931920"/>
            <a:ext cx="5349240" cy="2066544"/>
          </a:xfrm>
          <a:prstGeom prst="roundRect">
            <a:avLst>
              <a:gd name="adj" fmla="val 3540"/>
            </a:avLst>
          </a:prstGeom>
          <a:solidFill>
            <a:srgbClr val="F7F8F9"/>
          </a:solidFill>
          <a:ln w="9525">
            <a:solidFill>
              <a:srgbClr val="DFE3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D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528816" y="40599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and Appendices 3–4 — operator evidence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638544" y="4352544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1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calls via AlphaSense under HBS licence; no public URL. Cited by role, employer, date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Hain Celestial 10-K, 15 Sep 2025; Mi3 Limited filing, 22 Jul 2024 — SEC EDGAR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Tasty Bite Eatables annual report, 22 Jul 2026; Gehl Foods supplier terms, Feb 2026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[FLAG] The multiplication claim is an AlphaSense synthesis supported by an industry prospectus — not yet a plant operator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14476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github.com/theamanmishra/Startup-Research — every claim above carries an inline URL in the underlying research file.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Study for Manufacturing AI</dc:title>
  <dc:subject>PptxGenJS Presentation</dc:subject>
  <dc:creator>Aman Mishra</dc:creator>
  <cp:lastModifiedBy>Aman Mishra</cp:lastModifiedBy>
  <cp:revision>1</cp:revision>
  <dcterms:created xsi:type="dcterms:W3CDTF">2026-09-14T13:19:47Z</dcterms:created>
  <dcterms:modified xsi:type="dcterms:W3CDTF">2026-09-14T13:19:47Z</dcterms:modified>
</cp:coreProperties>
</file>