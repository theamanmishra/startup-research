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 rows are mutually exclusive on what a product primarily does to the data. The right column holds systems that own a business obligation and attach at several rows, which is why they are not in the stack. Full roster of 163 companies and formal definitions: manu-data-layer/mdl-market-map.md.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2A35"/>
        </a:solidFill>
        <a:effectLst/>
      </p:bgPr>
    </p:bg>
    <p:spTree>
      <p:nvGrpSpPr>
        <p:cNvPr id="1" name=""/>
        <p:cNvGrpSpPr/>
        <p:nvPr/>
      </p:nvGrpSpPr>
      <p:grpSpPr/>
      <p:sp>
        <p:nvSpPr>
          <p:cNvPr id="2" name="TextBox 1"/>
          <p:cNvSpPr txBox="1"/>
          <p:nvPr/>
        </p:nvSpPr>
        <p:spPr>
          <a:xfrm>
            <a:off x="502920" y="700000"/>
            <a:ext cx="11186160" cy="300000"/>
          </a:xfrm>
          <a:prstGeom prst="rect">
            <a:avLst/>
          </a:prstGeom>
          <a:noFill/>
        </p:spPr>
        <p:txBody>
          <a:bodyPr wrap="square" lIns="0" rIns="0" tIns="0" bIns="0" anchor="t">
            <a:spAutoFit/>
          </a:bodyPr>
          <a:lstStyle/>
          <a:p>
            <a:pPr algn="l">
              <a:lnSpc>
                <a:spcPts val="1495"/>
              </a:lnSpc>
            </a:pPr>
            <a:r>
              <a:rPr sz="1150" b="1" i="0">
                <a:solidFill>
                  <a:srgbClr val="8FA8C4"/>
                </a:solidFill>
                <a:latin typeface="Arial"/>
              </a:rPr>
              <a:t>HBS INDEPENDENT PROJECT  ·  WEEK 3 OF 13  ·  28 SEPTEMBER 2026</a:t>
            </a:r>
          </a:p>
        </p:txBody>
      </p:sp>
      <p:sp>
        <p:nvSpPr>
          <p:cNvPr id="3" name="TextBox 2"/>
          <p:cNvSpPr txBox="1"/>
          <p:nvPr/>
        </p:nvSpPr>
        <p:spPr>
          <a:xfrm>
            <a:off x="502920" y="1060000"/>
            <a:ext cx="11186160" cy="900000"/>
          </a:xfrm>
          <a:prstGeom prst="rect">
            <a:avLst/>
          </a:prstGeom>
          <a:noFill/>
        </p:spPr>
        <p:txBody>
          <a:bodyPr wrap="square" lIns="0" rIns="0" tIns="0" bIns="0" anchor="t">
            <a:spAutoFit/>
          </a:bodyPr>
          <a:lstStyle/>
          <a:p>
            <a:pPr algn="l">
              <a:lnSpc>
                <a:spcPts val="4420"/>
              </a:lnSpc>
            </a:pPr>
            <a:r>
              <a:rPr sz="3400" b="1" i="0">
                <a:solidFill>
                  <a:srgbClr val="FFFFFF"/>
                </a:solidFill>
                <a:latin typeface="Arial"/>
              </a:rPr>
              <a:t>Market Study for Manufacturing AI</a:t>
            </a:r>
          </a:p>
        </p:txBody>
      </p:sp>
      <p:sp>
        <p:nvSpPr>
          <p:cNvPr id="4" name="TextBox 3"/>
          <p:cNvSpPr txBox="1"/>
          <p:nvPr/>
        </p:nvSpPr>
        <p:spPr>
          <a:xfrm>
            <a:off x="502920" y="1600000"/>
            <a:ext cx="11186160" cy="400000"/>
          </a:xfrm>
          <a:prstGeom prst="rect">
            <a:avLst/>
          </a:prstGeom>
          <a:noFill/>
        </p:spPr>
        <p:txBody>
          <a:bodyPr wrap="square" lIns="0" rIns="0" tIns="0" bIns="0" anchor="t">
            <a:spAutoFit/>
          </a:bodyPr>
          <a:lstStyle/>
          <a:p>
            <a:pPr algn="l">
              <a:lnSpc>
                <a:spcPts val="1560"/>
              </a:lnSpc>
            </a:pPr>
            <a:r>
              <a:rPr sz="1200" b="0" i="0">
                <a:solidFill>
                  <a:srgbClr val="8FA8C4"/>
                </a:solidFill>
                <a:latin typeface="Arial"/>
              </a:rPr>
              <a:t>Aman Mishra   ·   supervisor: Prof. Kris Ferreira, Technology &amp; Operations Management</a:t>
            </a:r>
          </a:p>
        </p:txBody>
      </p:sp>
      <p:sp>
        <p:nvSpPr>
          <p:cNvPr id="5" name="Rounded Rectangle 4"/>
          <p:cNvSpPr/>
          <p:nvPr/>
        </p:nvSpPr>
        <p:spPr>
          <a:xfrm>
            <a:off x="502920" y="2180000"/>
            <a:ext cx="11186160" cy="3560000"/>
          </a:xfrm>
          <a:prstGeom prst="roundRect">
            <a:avLst>
              <a:gd name="adj" fmla="val 8000"/>
            </a:avLst>
          </a:prstGeom>
          <a:solidFill>
            <a:srgbClr val="2C36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6" name="TextBox 5"/>
          <p:cNvSpPr txBox="1"/>
          <p:nvPr/>
        </p:nvSpPr>
        <p:spPr>
          <a:xfrm>
            <a:off x="802920" y="2330000"/>
            <a:ext cx="10586160" cy="300000"/>
          </a:xfrm>
          <a:prstGeom prst="rect">
            <a:avLst/>
          </a:prstGeom>
          <a:noFill/>
        </p:spPr>
        <p:txBody>
          <a:bodyPr wrap="square" lIns="0" rIns="0" tIns="0" bIns="0" anchor="t">
            <a:spAutoFit/>
          </a:bodyPr>
          <a:lstStyle/>
          <a:p>
            <a:pPr algn="l">
              <a:lnSpc>
                <a:spcPts val="1430"/>
              </a:lnSpc>
            </a:pPr>
            <a:r>
              <a:rPr sz="1100" b="1" i="0">
                <a:solidFill>
                  <a:srgbClr val="C98A6E"/>
                </a:solidFill>
                <a:latin typeface="Arial"/>
              </a:rPr>
              <a:t>THE UPDATE IN ONE MINUTE</a:t>
            </a:r>
          </a:p>
        </p:txBody>
      </p:sp>
      <p:sp>
        <p:nvSpPr>
          <p:cNvPr id="7" name="TextBox 6"/>
          <p:cNvSpPr txBox="1"/>
          <p:nvPr/>
        </p:nvSpPr>
        <p:spPr>
          <a:xfrm>
            <a:off x="802920" y="2680000"/>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Your challenge was the right one.</a:t>
            </a:r>
          </a:p>
        </p:txBody>
      </p:sp>
      <p:sp>
        <p:nvSpPr>
          <p:cNvPr id="8" name="TextBox 7"/>
          <p:cNvSpPr txBox="1"/>
          <p:nvPr/>
        </p:nvSpPr>
        <p:spPr>
          <a:xfrm>
            <a:off x="802920" y="2866181"/>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You asked which business decisions a data layer would improve, how those decisions are made today, and what the revenue or cost impact would be. This update takes that seriously and reports how far desk research can get.</a:t>
            </a:r>
          </a:p>
        </p:txBody>
      </p:sp>
      <p:sp>
        <p:nvSpPr>
          <p:cNvPr id="9" name="TextBox 8"/>
          <p:cNvSpPr txBox="1"/>
          <p:nvPr/>
        </p:nvSpPr>
        <p:spPr>
          <a:xfrm>
            <a:off x="802920" y="3348226"/>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I built the market map properly.</a:t>
            </a:r>
          </a:p>
        </p:txBody>
      </p:sp>
      <p:sp>
        <p:nvSpPr>
          <p:cNvPr id="10" name="TextBox 9"/>
          <p:cNvSpPr txBox="1"/>
          <p:nvPr/>
        </p:nvSpPr>
        <p:spPr>
          <a:xfrm>
            <a:off x="802920" y="3534407"/>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Benchmarked against ISA-95, the standard the industry itself uses, then rebuilt so the categories are mutually exclusive. 163 companies placed. It locates the opportunity as one cell rather than a vague layer.</a:t>
            </a:r>
          </a:p>
        </p:txBody>
      </p:sp>
      <p:sp>
        <p:nvSpPr>
          <p:cNvPr id="11" name="TextBox 10"/>
          <p:cNvSpPr txBox="1"/>
          <p:nvPr/>
        </p:nvSpPr>
        <p:spPr>
          <a:xfrm>
            <a:off x="802920" y="4016452"/>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I can answer half your question.</a:t>
            </a:r>
          </a:p>
        </p:txBody>
      </p:sp>
      <p:sp>
        <p:nvSpPr>
          <p:cNvPr id="12" name="TextBox 11"/>
          <p:cNvSpPr txBox="1"/>
          <p:nvPr/>
        </p:nvSpPr>
        <p:spPr>
          <a:xfrm>
            <a:off x="802920" y="4202633"/>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The decisions are nameable and so is how a plant makes them today — on paper charts, by destructive sampling, by reconstructing events over several days.</a:t>
            </a:r>
          </a:p>
        </p:txBody>
      </p:sp>
      <p:sp>
        <p:nvSpPr>
          <p:cNvPr id="13" name="TextBox 12"/>
          <p:cNvSpPr txBox="1"/>
          <p:nvPr/>
        </p:nvSpPr>
        <p:spPr>
          <a:xfrm>
            <a:off x="802920" y="4684678"/>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I cannot answer the other half, and now know why.</a:t>
            </a:r>
          </a:p>
        </p:txBody>
      </p:sp>
      <p:sp>
        <p:nvSpPr>
          <p:cNvPr id="14" name="TextBox 13"/>
          <p:cNvSpPr txBox="1"/>
          <p:nvPr/>
        </p:nvSpPr>
        <p:spPr>
          <a:xfrm>
            <a:off x="802920" y="4870859"/>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I read 36 published vendor case studies. Not one states what the decision cost before the software. Every food example is a multi-billion-dollar company, none the size of my target. That is a property of vendor evidence, not a gap in my searching.</a:t>
            </a:r>
          </a:p>
        </p:txBody>
      </p:sp>
      <p:sp>
        <p:nvSpPr>
          <p:cNvPr id="15" name="TextBox 14"/>
          <p:cNvSpPr txBox="1"/>
          <p:nvPr/>
        </p:nvSpPr>
        <p:spPr>
          <a:xfrm>
            <a:off x="802920" y="5352904"/>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So the next phase is primary research.</a:t>
            </a:r>
          </a:p>
        </p:txBody>
      </p:sp>
      <p:sp>
        <p:nvSpPr>
          <p:cNvPr id="16" name="TextBox 15"/>
          <p:cNvSpPr txBox="1"/>
          <p:nvPr/>
        </p:nvSpPr>
        <p:spPr>
          <a:xfrm>
            <a:off x="802920" y="5539085"/>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Two tracks: written mini-cases on the vendors themselves, and a hands-on project with a Boston-area plant — the only route to what a decision actually costs.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1.  Your challenge, and how far desk research could take it</a:t>
            </a:r>
          </a:p>
        </p:txBody>
      </p:sp>
      <p:sp>
        <p:nvSpPr>
          <p:cNvPr id="3" name="Rounded Rectangle 2"/>
          <p:cNvSpPr/>
          <p:nvPr/>
        </p:nvSpPr>
        <p:spPr>
          <a:xfrm>
            <a:off x="502920" y="1000000"/>
            <a:ext cx="11186160" cy="100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TextBox 3"/>
          <p:cNvSpPr txBox="1"/>
          <p:nvPr/>
        </p:nvSpPr>
        <p:spPr>
          <a:xfrm>
            <a:off x="762920" y="1090000"/>
            <a:ext cx="10666160" cy="240000"/>
          </a:xfrm>
          <a:prstGeom prst="rect">
            <a:avLst/>
          </a:prstGeom>
          <a:noFill/>
        </p:spPr>
        <p:txBody>
          <a:bodyPr wrap="square" lIns="0" rIns="0" tIns="0" bIns="0" anchor="t">
            <a:spAutoFit/>
          </a:bodyPr>
          <a:lstStyle/>
          <a:p>
            <a:pPr algn="l">
              <a:lnSpc>
                <a:spcPts val="1300"/>
              </a:lnSpc>
            </a:pPr>
            <a:r>
              <a:rPr sz="1000" b="1" i="0">
                <a:solidFill>
                  <a:srgbClr val="2F5D8A"/>
                </a:solidFill>
                <a:latin typeface="Arial"/>
              </a:rPr>
              <a:t>FROM YOUR EMAIL, 21 SEPTEMBER</a:t>
            </a:r>
          </a:p>
        </p:txBody>
      </p:sp>
      <p:sp>
        <p:nvSpPr>
          <p:cNvPr id="5" name="TextBox 4"/>
          <p:cNvSpPr txBox="1"/>
          <p:nvPr/>
        </p:nvSpPr>
        <p:spPr>
          <a:xfrm>
            <a:off x="762920" y="1360000"/>
            <a:ext cx="10666160" cy="560000"/>
          </a:xfrm>
          <a:prstGeom prst="rect">
            <a:avLst/>
          </a:prstGeom>
          <a:noFill/>
        </p:spPr>
        <p:txBody>
          <a:bodyPr wrap="square" lIns="0" rIns="0" tIns="0" bIns="0" anchor="t">
            <a:spAutoFit/>
          </a:bodyPr>
          <a:lstStyle/>
          <a:p>
            <a:pPr algn="l">
              <a:lnSpc>
                <a:spcPts val="1552"/>
              </a:lnSpc>
            </a:pPr>
            <a:r>
              <a:rPr sz="1150" b="0" i="1">
                <a:solidFill>
                  <a:srgbClr val="1A1A1A"/>
                </a:solidFill>
                <a:latin typeface="Arial"/>
              </a:rPr>
              <a:t>“Just because data exists doesn’t mean it’s useful… you’ll need to connect how your solution improves business decision-making (which decisions?). For each business decision impacted, try to figure out how they currently make the decision without your proposed data solution, and what impact your solution would have on revenue and/or cost.”</a:t>
            </a:r>
          </a:p>
        </p:txBody>
      </p:sp>
      <p:sp>
        <p:nvSpPr>
          <p:cNvPr id="6" name="Rounded Rectangle 5"/>
          <p:cNvSpPr/>
          <p:nvPr/>
        </p:nvSpPr>
        <p:spPr>
          <a:xfrm>
            <a:off x="502920" y="2180000"/>
            <a:ext cx="3568720" cy="1320000"/>
          </a:xfrm>
          <a:prstGeom prst="roundRect">
            <a:avLst>
              <a:gd name="adj" fmla="val 8000"/>
            </a:avLst>
          </a:prstGeom>
          <a:solidFill>
            <a:srgbClr val="E4EFED"/>
          </a:solidFill>
          <a:ln w="1905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7" name="TextBox 6"/>
          <p:cNvSpPr txBox="1"/>
          <p:nvPr/>
        </p:nvSpPr>
        <p:spPr>
          <a:xfrm>
            <a:off x="702920" y="2280000"/>
            <a:ext cx="3168720" cy="185928"/>
          </a:xfrm>
          <a:prstGeom prst="rect">
            <a:avLst/>
          </a:prstGeom>
          <a:noFill/>
        </p:spPr>
        <p:txBody>
          <a:bodyPr wrap="square" lIns="0" rIns="0" tIns="0" bIns="0" anchor="t">
            <a:spAutoFit/>
          </a:bodyPr>
          <a:lstStyle/>
          <a:p>
            <a:pPr algn="l">
              <a:lnSpc>
                <a:spcPts val="1560"/>
              </a:lnSpc>
            </a:pPr>
            <a:r>
              <a:rPr sz="1200" b="1" i="0">
                <a:solidFill>
                  <a:srgbClr val="2D6E63"/>
                </a:solidFill>
                <a:latin typeface="Arial"/>
              </a:rPr>
              <a:t>WHICH DECISIONS</a:t>
            </a:r>
          </a:p>
        </p:txBody>
      </p:sp>
      <p:sp>
        <p:nvSpPr>
          <p:cNvPr id="8" name="TextBox 7"/>
          <p:cNvSpPr txBox="1"/>
          <p:nvPr/>
        </p:nvSpPr>
        <p:spPr>
          <a:xfrm>
            <a:off x="702920" y="2475928"/>
            <a:ext cx="3168720" cy="139446"/>
          </a:xfrm>
          <a:prstGeom prst="rect">
            <a:avLst/>
          </a:prstGeom>
          <a:noFill/>
        </p:spPr>
        <p:txBody>
          <a:bodyPr wrap="square" lIns="0" rIns="0" tIns="0" bIns="0" anchor="t">
            <a:spAutoFit/>
          </a:bodyPr>
          <a:lstStyle/>
          <a:p>
            <a:pPr algn="l">
              <a:lnSpc>
                <a:spcPts val="1170"/>
              </a:lnSpc>
            </a:pPr>
            <a:r>
              <a:rPr sz="900" b="1" i="1">
                <a:solidFill>
                  <a:srgbClr val="2D6E63"/>
                </a:solidFill>
                <a:latin typeface="Arial"/>
              </a:rPr>
              <a:t>ANSWERABLE FROM DESK</a:t>
            </a:r>
          </a:p>
        </p:txBody>
      </p:sp>
      <p:sp>
        <p:nvSpPr>
          <p:cNvPr id="9" name="TextBox 8"/>
          <p:cNvSpPr txBox="1"/>
          <p:nvPr/>
        </p:nvSpPr>
        <p:spPr>
          <a:xfrm>
            <a:off x="702920" y="2665374"/>
            <a:ext cx="3168720" cy="5143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Named, and tied to specific process steps. Slide 3 lists five, drawn from walking a canned-food line end to end.</a:t>
            </a:r>
          </a:p>
        </p:txBody>
      </p:sp>
      <p:sp>
        <p:nvSpPr>
          <p:cNvPr id="10" name="Rounded Rectangle 9"/>
          <p:cNvSpPr/>
          <p:nvPr/>
        </p:nvSpPr>
        <p:spPr>
          <a:xfrm>
            <a:off x="4311640" y="2180000"/>
            <a:ext cx="3568720" cy="1320000"/>
          </a:xfrm>
          <a:prstGeom prst="roundRect">
            <a:avLst>
              <a:gd name="adj" fmla="val 8000"/>
            </a:avLst>
          </a:prstGeom>
          <a:solidFill>
            <a:srgbClr val="E4EFED"/>
          </a:solidFill>
          <a:ln w="1905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1" name="TextBox 10"/>
          <p:cNvSpPr txBox="1"/>
          <p:nvPr/>
        </p:nvSpPr>
        <p:spPr>
          <a:xfrm>
            <a:off x="4511640" y="2280000"/>
            <a:ext cx="3168720" cy="185928"/>
          </a:xfrm>
          <a:prstGeom prst="rect">
            <a:avLst/>
          </a:prstGeom>
          <a:noFill/>
        </p:spPr>
        <p:txBody>
          <a:bodyPr wrap="square" lIns="0" rIns="0" tIns="0" bIns="0" anchor="t">
            <a:spAutoFit/>
          </a:bodyPr>
          <a:lstStyle/>
          <a:p>
            <a:pPr algn="l">
              <a:lnSpc>
                <a:spcPts val="1560"/>
              </a:lnSpc>
            </a:pPr>
            <a:r>
              <a:rPr sz="1200" b="1" i="0">
                <a:solidFill>
                  <a:srgbClr val="2D6E63"/>
                </a:solidFill>
                <a:latin typeface="Arial"/>
              </a:rPr>
              <a:t>HOW THEY ARE MADE TODAY</a:t>
            </a:r>
          </a:p>
        </p:txBody>
      </p:sp>
      <p:sp>
        <p:nvSpPr>
          <p:cNvPr id="12" name="TextBox 11"/>
          <p:cNvSpPr txBox="1"/>
          <p:nvPr/>
        </p:nvSpPr>
        <p:spPr>
          <a:xfrm>
            <a:off x="4511640" y="2475928"/>
            <a:ext cx="3168720" cy="139446"/>
          </a:xfrm>
          <a:prstGeom prst="rect">
            <a:avLst/>
          </a:prstGeom>
          <a:noFill/>
        </p:spPr>
        <p:txBody>
          <a:bodyPr wrap="square" lIns="0" rIns="0" tIns="0" bIns="0" anchor="t">
            <a:spAutoFit/>
          </a:bodyPr>
          <a:lstStyle/>
          <a:p>
            <a:pPr algn="l">
              <a:lnSpc>
                <a:spcPts val="1170"/>
              </a:lnSpc>
            </a:pPr>
            <a:r>
              <a:rPr sz="900" b="1" i="1">
                <a:solidFill>
                  <a:srgbClr val="2D6E63"/>
                </a:solidFill>
                <a:latin typeface="Arial"/>
              </a:rPr>
              <a:t>ANSWERABLE FROM DESK</a:t>
            </a:r>
          </a:p>
        </p:txBody>
      </p:sp>
      <p:sp>
        <p:nvSpPr>
          <p:cNvPr id="13" name="TextBox 12"/>
          <p:cNvSpPr txBox="1"/>
          <p:nvPr/>
        </p:nvSpPr>
        <p:spPr>
          <a:xfrm>
            <a:off x="4511640" y="2665374"/>
            <a:ext cx="3168720" cy="5143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Also answerable, and more damning than expected: a paper chart recorder, three cans destroyed every few hours, a clipboard.</a:t>
            </a:r>
          </a:p>
        </p:txBody>
      </p:sp>
      <p:sp>
        <p:nvSpPr>
          <p:cNvPr id="14" name="Rounded Rectangle 13"/>
          <p:cNvSpPr/>
          <p:nvPr/>
        </p:nvSpPr>
        <p:spPr>
          <a:xfrm>
            <a:off x="8120360" y="2180000"/>
            <a:ext cx="3568720" cy="1320000"/>
          </a:xfrm>
          <a:prstGeom prst="roundRect">
            <a:avLst>
              <a:gd name="adj" fmla="val 8000"/>
            </a:avLst>
          </a:prstGeom>
          <a:solidFill>
            <a:srgbClr val="FAECE8"/>
          </a:solidFill>
          <a:ln w="19050">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8320360" y="2280000"/>
            <a:ext cx="3168720" cy="185928"/>
          </a:xfrm>
          <a:prstGeom prst="rect">
            <a:avLst/>
          </a:prstGeom>
          <a:noFill/>
        </p:spPr>
        <p:txBody>
          <a:bodyPr wrap="square" lIns="0" rIns="0" tIns="0" bIns="0" anchor="t">
            <a:spAutoFit/>
          </a:bodyPr>
          <a:lstStyle/>
          <a:p>
            <a:pPr algn="l">
              <a:lnSpc>
                <a:spcPts val="1560"/>
              </a:lnSpc>
            </a:pPr>
            <a:r>
              <a:rPr sz="1200" b="1" i="0">
                <a:solidFill>
                  <a:srgbClr val="B54F35"/>
                </a:solidFill>
                <a:latin typeface="Arial"/>
              </a:rPr>
              <a:t>WHAT IT COSTS TODAY</a:t>
            </a:r>
          </a:p>
        </p:txBody>
      </p:sp>
      <p:sp>
        <p:nvSpPr>
          <p:cNvPr id="16" name="TextBox 15"/>
          <p:cNvSpPr txBox="1"/>
          <p:nvPr/>
        </p:nvSpPr>
        <p:spPr>
          <a:xfrm>
            <a:off x="8320360" y="2475928"/>
            <a:ext cx="3168720" cy="139446"/>
          </a:xfrm>
          <a:prstGeom prst="rect">
            <a:avLst/>
          </a:prstGeom>
          <a:noFill/>
        </p:spPr>
        <p:txBody>
          <a:bodyPr wrap="square" lIns="0" rIns="0" tIns="0" bIns="0" anchor="t">
            <a:spAutoFit/>
          </a:bodyPr>
          <a:lstStyle/>
          <a:p>
            <a:pPr algn="l">
              <a:lnSpc>
                <a:spcPts val="1170"/>
              </a:lnSpc>
            </a:pPr>
            <a:r>
              <a:rPr sz="900" b="1" i="1">
                <a:solidFill>
                  <a:srgbClr val="B54F35"/>
                </a:solidFill>
                <a:latin typeface="Arial"/>
              </a:rPr>
              <a:t>NOT ANSWERABLE FROM DESK</a:t>
            </a:r>
          </a:p>
        </p:txBody>
      </p:sp>
      <p:sp>
        <p:nvSpPr>
          <p:cNvPr id="17" name="TextBox 16"/>
          <p:cNvSpPr txBox="1"/>
          <p:nvPr/>
        </p:nvSpPr>
        <p:spPr>
          <a:xfrm>
            <a:off x="8320360" y="2665374"/>
            <a:ext cx="3168720" cy="5143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This is the column your question turns on, and it is empty. Slide 5 shows why that is structural rather than a failure of effort.</a:t>
            </a:r>
          </a:p>
        </p:txBody>
      </p:sp>
      <p:sp>
        <p:nvSpPr>
          <p:cNvPr id="18" name="Rounded Rectangle 17"/>
          <p:cNvSpPr/>
          <p:nvPr/>
        </p:nvSpPr>
        <p:spPr>
          <a:xfrm>
            <a:off x="502920" y="3700000"/>
            <a:ext cx="11186160" cy="123865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9" name="TextBox 18"/>
          <p:cNvSpPr txBox="1"/>
          <p:nvPr/>
        </p:nvSpPr>
        <p:spPr>
          <a:xfrm>
            <a:off x="742920" y="3850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WHAT I DID THIS WEEK</a:t>
            </a:r>
          </a:p>
        </p:txBody>
      </p:sp>
      <p:sp>
        <p:nvSpPr>
          <p:cNvPr id="20" name="TextBox 19"/>
          <p:cNvSpPr txBox="1"/>
          <p:nvPr/>
        </p:nvSpPr>
        <p:spPr>
          <a:xfrm>
            <a:off x="742920" y="4160000"/>
            <a:ext cx="10706160" cy="628650"/>
          </a:xfrm>
          <a:prstGeom prst="rect">
            <a:avLst/>
          </a:prstGeom>
          <a:noFill/>
        </p:spPr>
        <p:txBody>
          <a:bodyPr wrap="square" lIns="0" rIns="0" tIns="0" bIns="0" anchor="t">
            <a:spAutoFit/>
          </a:bodyPr>
          <a:lstStyle/>
          <a:p>
            <a:pPr algn="l">
              <a:lnSpc>
                <a:spcPts val="1650"/>
              </a:lnSpc>
            </a:pPr>
            <a:r>
              <a:rPr sz="1150" b="0" i="0">
                <a:solidFill>
                  <a:srgbClr val="C8D2DC"/>
                </a:solidFill>
                <a:latin typeface="Arial"/>
              </a:rPr>
              <a:t>Benchmarked my landscape chart against ISA-95, the reference model the automation industry uses, and rebuilt it so the categories do not overlap. Placed 163 companies in it. Then read every published case study I could find from the vendors in it — 36 in total — looking specifically for the before-and-after numbers you asked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2.  The manufacturing technology stack — every layer, and who owns it</a:t>
            </a:r>
          </a:p>
        </p:txBody>
      </p:sp>
      <p:sp>
        <p:nvSpPr>
          <p:cNvPr id="3" name="TextBox 2"/>
          <p:cNvSpPr txBox="1"/>
          <p:nvPr/>
        </p:nvSpPr>
        <p:spPr>
          <a:xfrm>
            <a:off x="502920" y="862000"/>
            <a:ext cx="8200000" cy="220000"/>
          </a:xfrm>
          <a:prstGeom prst="rect">
            <a:avLst/>
          </a:prstGeom>
          <a:noFill/>
        </p:spPr>
        <p:txBody>
          <a:bodyPr wrap="square" lIns="0" rIns="0" tIns="0" bIns="0" anchor="t">
            <a:spAutoFit/>
          </a:bodyPr>
          <a:lstStyle/>
          <a:p>
            <a:pPr algn="l">
              <a:lnSpc>
                <a:spcPts val="1430"/>
              </a:lnSpc>
            </a:pPr>
            <a:r>
              <a:rPr sz="1100" b="1" i="0">
                <a:solidFill>
                  <a:srgbClr val="2F5D8A"/>
                </a:solidFill>
                <a:latin typeface="Arial"/>
              </a:rPr>
              <a:t>ONE ROW PER THING THAT HAPPENS TO THE DATA. A PRODUCT SITS IN THE ROW IT PRIMARILY DOES.</a:t>
            </a:r>
          </a:p>
        </p:txBody>
      </p:sp>
      <p:sp>
        <p:nvSpPr>
          <p:cNvPr id="4" name="TextBox 3"/>
          <p:cNvSpPr txBox="1"/>
          <p:nvPr/>
        </p:nvSpPr>
        <p:spPr>
          <a:xfrm>
            <a:off x="8882920" y="862000"/>
            <a:ext cx="2806160" cy="220000"/>
          </a:xfrm>
          <a:prstGeom prst="rect">
            <a:avLst/>
          </a:prstGeom>
          <a:noFill/>
        </p:spPr>
        <p:txBody>
          <a:bodyPr wrap="square" lIns="0" rIns="0" tIns="0" bIns="0" anchor="t">
            <a:spAutoFit/>
          </a:bodyPr>
          <a:lstStyle/>
          <a:p>
            <a:pPr algn="l">
              <a:lnSpc>
                <a:spcPts val="1430"/>
              </a:lnSpc>
            </a:pPr>
            <a:r>
              <a:rPr sz="1100" b="1" i="0">
                <a:solidFill>
                  <a:srgbClr val="2D6E63"/>
                </a:solidFill>
                <a:latin typeface="Arial"/>
              </a:rPr>
              <a:t>ATTACH AT SEVERAL ROWS</a:t>
            </a:r>
          </a:p>
        </p:txBody>
      </p:sp>
      <p:sp>
        <p:nvSpPr>
          <p:cNvPr id="5" name="Rounded Rectangle 4"/>
          <p:cNvSpPr/>
          <p:nvPr/>
        </p:nvSpPr>
        <p:spPr>
          <a:xfrm>
            <a:off x="502920" y="106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6" name="TextBox 5"/>
          <p:cNvSpPr txBox="1"/>
          <p:nvPr/>
        </p:nvSpPr>
        <p:spPr>
          <a:xfrm>
            <a:off x="692920" y="111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1 · SENSE</a:t>
            </a:r>
          </a:p>
        </p:txBody>
      </p:sp>
      <p:sp>
        <p:nvSpPr>
          <p:cNvPr id="7" name="TextBox 6"/>
          <p:cNvSpPr txBox="1"/>
          <p:nvPr/>
        </p:nvSpPr>
        <p:spPr>
          <a:xfrm>
            <a:off x="6062920" y="113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 reading exists</a:t>
            </a:r>
          </a:p>
        </p:txBody>
      </p:sp>
      <p:sp>
        <p:nvSpPr>
          <p:cNvPr id="8" name="TextBox 7"/>
          <p:cNvSpPr txBox="1"/>
          <p:nvPr/>
        </p:nvSpPr>
        <p:spPr>
          <a:xfrm>
            <a:off x="692920" y="128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Creates the number in the first place — a probe, a camera, or a person writing it down.</a:t>
            </a:r>
          </a:p>
        </p:txBody>
      </p:sp>
      <p:sp>
        <p:nvSpPr>
          <p:cNvPr id="9" name="TextBox 8"/>
          <p:cNvSpPr txBox="1"/>
          <p:nvPr/>
        </p:nvSpPr>
        <p:spPr>
          <a:xfrm>
            <a:off x="692920" y="142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Emerson Rosemount · Anderson-Negele · Endress+Hauser · Cognex · Keyence · Augury (fits its own) · Partlow (paper charts)</a:t>
            </a:r>
          </a:p>
        </p:txBody>
      </p:sp>
      <p:sp>
        <p:nvSpPr>
          <p:cNvPr id="10" name="Rounded Rectangle 9"/>
          <p:cNvSpPr/>
          <p:nvPr/>
        </p:nvSpPr>
        <p:spPr>
          <a:xfrm>
            <a:off x="502920" y="1615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1" name="TextBox 10"/>
          <p:cNvSpPr txBox="1"/>
          <p:nvPr/>
        </p:nvSpPr>
        <p:spPr>
          <a:xfrm>
            <a:off x="692920" y="1671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2 · CONTROL</a:t>
            </a:r>
          </a:p>
        </p:txBody>
      </p:sp>
      <p:sp>
        <p:nvSpPr>
          <p:cNvPr id="12" name="TextBox 11"/>
          <p:cNvSpPr txBox="1"/>
          <p:nvPr/>
        </p:nvSpPr>
        <p:spPr>
          <a:xfrm>
            <a:off x="6062920" y="1685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action, nothing stored</a:t>
            </a:r>
          </a:p>
        </p:txBody>
      </p:sp>
      <p:sp>
        <p:nvSpPr>
          <p:cNvPr id="13" name="TextBox 12"/>
          <p:cNvSpPr txBox="1"/>
          <p:nvPr/>
        </p:nvSpPr>
        <p:spPr>
          <a:xfrm>
            <a:off x="692920" y="184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Acts on the number in milliseconds to move a valve or a motor. It does not keep it.</a:t>
            </a:r>
          </a:p>
        </p:txBody>
      </p:sp>
      <p:sp>
        <p:nvSpPr>
          <p:cNvPr id="14" name="TextBox 13"/>
          <p:cNvSpPr txBox="1"/>
          <p:nvPr/>
        </p:nvSpPr>
        <p:spPr>
          <a:xfrm>
            <a:off x="692920" y="197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Rockwell Allen-Bradley · Siemens SIMATIC · Emerson DeltaV · Schneider Modicon · ABB · Beckhoff · Omron · Yokogawa</a:t>
            </a:r>
          </a:p>
        </p:txBody>
      </p:sp>
      <p:sp>
        <p:nvSpPr>
          <p:cNvPr id="15" name="Rounded Rectangle 14"/>
          <p:cNvSpPr/>
          <p:nvPr/>
        </p:nvSpPr>
        <p:spPr>
          <a:xfrm>
            <a:off x="502920" y="217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6" name="TextBox 15"/>
          <p:cNvSpPr txBox="1"/>
          <p:nvPr/>
        </p:nvSpPr>
        <p:spPr>
          <a:xfrm>
            <a:off x="692920" y="222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3 · SUPERVISE</a:t>
            </a:r>
          </a:p>
        </p:txBody>
      </p:sp>
      <p:sp>
        <p:nvSpPr>
          <p:cNvPr id="17" name="TextBox 16"/>
          <p:cNvSpPr txBox="1"/>
          <p:nvPr/>
        </p:nvSpPr>
        <p:spPr>
          <a:xfrm>
            <a:off x="6062920" y="224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 live screen</a:t>
            </a:r>
          </a:p>
        </p:txBody>
      </p:sp>
      <p:sp>
        <p:nvSpPr>
          <p:cNvPr id="18" name="TextBox 17"/>
          <p:cNvSpPr txBox="1"/>
          <p:nvPr/>
        </p:nvSpPr>
        <p:spPr>
          <a:xfrm>
            <a:off x="692920" y="239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Shows a human what is happening right now: graphics, alarms, start and stop.</a:t>
            </a:r>
          </a:p>
        </p:txBody>
      </p:sp>
      <p:sp>
        <p:nvSpPr>
          <p:cNvPr id="19" name="TextBox 18"/>
          <p:cNvSpPr txBox="1"/>
          <p:nvPr/>
        </p:nvSpPr>
        <p:spPr>
          <a:xfrm>
            <a:off x="692920" y="253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Inductive Automation Ignition (the standard in food) · Siemens WinCC · Rockwell FactoryTalk View · AVEVA Wonderware · GE iFIX</a:t>
            </a:r>
          </a:p>
        </p:txBody>
      </p:sp>
      <p:sp>
        <p:nvSpPr>
          <p:cNvPr id="20" name="Rounded Rectangle 19"/>
          <p:cNvSpPr/>
          <p:nvPr/>
        </p:nvSpPr>
        <p:spPr>
          <a:xfrm>
            <a:off x="502920" y="2725000"/>
            <a:ext cx="8200000" cy="525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1" name="TextBox 20"/>
          <p:cNvSpPr txBox="1"/>
          <p:nvPr/>
        </p:nvSpPr>
        <p:spPr>
          <a:xfrm>
            <a:off x="692920" y="2781000"/>
            <a:ext cx="5370000" cy="162687"/>
          </a:xfrm>
          <a:prstGeom prst="rect">
            <a:avLst/>
          </a:prstGeom>
          <a:noFill/>
        </p:spPr>
        <p:txBody>
          <a:bodyPr wrap="square" lIns="0" rIns="0" tIns="0" bIns="0" anchor="t">
            <a:spAutoFit/>
          </a:bodyPr>
          <a:lstStyle/>
          <a:p>
            <a:pPr algn="l">
              <a:lnSpc>
                <a:spcPts val="1365"/>
              </a:lnSpc>
            </a:pPr>
            <a:r>
              <a:rPr sz="1050" b="1" i="0">
                <a:solidFill>
                  <a:srgbClr val="B54F35"/>
                </a:solidFill>
                <a:latin typeface="Arial"/>
              </a:rPr>
              <a:t>4 · MOVE</a:t>
            </a:r>
          </a:p>
        </p:txBody>
      </p:sp>
      <p:sp>
        <p:nvSpPr>
          <p:cNvPr id="22" name="TextBox 21"/>
          <p:cNvSpPr txBox="1"/>
          <p:nvPr/>
        </p:nvSpPr>
        <p:spPr>
          <a:xfrm>
            <a:off x="6062920" y="2795000"/>
            <a:ext cx="2450000" cy="123952"/>
          </a:xfrm>
          <a:prstGeom prst="rect">
            <a:avLst/>
          </a:prstGeom>
          <a:noFill/>
        </p:spPr>
        <p:txBody>
          <a:bodyPr wrap="square" lIns="0" rIns="0" tIns="0" bIns="0" anchor="t">
            <a:spAutoFit/>
          </a:bodyPr>
          <a:lstStyle/>
          <a:p>
            <a:pPr algn="r">
              <a:lnSpc>
                <a:spcPts val="1040"/>
              </a:lnSpc>
            </a:pPr>
            <a:r>
              <a:rPr sz="800" b="1" i="1">
                <a:solidFill>
                  <a:srgbClr val="B54F35"/>
                </a:solidFill>
                <a:latin typeface="Arial"/>
              </a:rPr>
              <a:t>→  a named stream</a:t>
            </a:r>
          </a:p>
        </p:txBody>
      </p:sp>
      <p:sp>
        <p:nvSpPr>
          <p:cNvPr id="23" name="TextBox 22"/>
          <p:cNvSpPr txBox="1"/>
          <p:nvPr/>
        </p:nvSpPr>
        <p:spPr>
          <a:xfrm>
            <a:off x="692920" y="295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Translates cryptic machine codes and routes them off the floor. Getting bits out is solved.</a:t>
            </a:r>
          </a:p>
        </p:txBody>
      </p:sp>
      <p:sp>
        <p:nvSpPr>
          <p:cNvPr id="24" name="TextBox 23"/>
          <p:cNvSpPr txBox="1"/>
          <p:nvPr/>
        </p:nvSpPr>
        <p:spPr>
          <a:xfrm>
            <a:off x="692920" y="308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HiveMQ · HighByte · Litmus · PTC Kepware · EMQX · Cirrus Link · Siemens Industrial Edge</a:t>
            </a:r>
          </a:p>
        </p:txBody>
      </p:sp>
      <p:sp>
        <p:nvSpPr>
          <p:cNvPr id="25" name="Rounded Rectangle 24"/>
          <p:cNvSpPr/>
          <p:nvPr/>
        </p:nvSpPr>
        <p:spPr>
          <a:xfrm>
            <a:off x="502920" y="328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6" name="TextBox 25"/>
          <p:cNvSpPr txBox="1"/>
          <p:nvPr/>
        </p:nvSpPr>
        <p:spPr>
          <a:xfrm>
            <a:off x="692920" y="333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5 · STORE</a:t>
            </a:r>
          </a:p>
        </p:txBody>
      </p:sp>
      <p:sp>
        <p:nvSpPr>
          <p:cNvPr id="27" name="TextBox 26"/>
          <p:cNvSpPr txBox="1"/>
          <p:nvPr/>
        </p:nvSpPr>
        <p:spPr>
          <a:xfrm>
            <a:off x="6062920" y="335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years of history</a:t>
            </a:r>
          </a:p>
        </p:txBody>
      </p:sp>
      <p:sp>
        <p:nvSpPr>
          <p:cNvPr id="28" name="TextBox 27"/>
          <p:cNvSpPr txBox="1"/>
          <p:nvPr/>
        </p:nvSpPr>
        <p:spPr>
          <a:xfrm>
            <a:off x="692920" y="350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Keeps the time-series so it can be looked back through.</a:t>
            </a:r>
          </a:p>
        </p:txBody>
      </p:sp>
      <p:sp>
        <p:nvSpPr>
          <p:cNvPr id="29" name="TextBox 28"/>
          <p:cNvSpPr txBox="1"/>
          <p:nvPr/>
        </p:nvSpPr>
        <p:spPr>
          <a:xfrm>
            <a:off x="692920" y="364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AVEVA PI System · AspenTech InfoPlus.21 · GE Proficy Historian · Honeywell PHD · Canary</a:t>
            </a:r>
          </a:p>
        </p:txBody>
      </p:sp>
      <p:sp>
        <p:nvSpPr>
          <p:cNvPr id="30" name="Rounded Rectangle 29"/>
          <p:cNvSpPr/>
          <p:nvPr/>
        </p:nvSpPr>
        <p:spPr>
          <a:xfrm>
            <a:off x="502920" y="3835000"/>
            <a:ext cx="8200000" cy="525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1" name="TextBox 30"/>
          <p:cNvSpPr txBox="1"/>
          <p:nvPr/>
        </p:nvSpPr>
        <p:spPr>
          <a:xfrm>
            <a:off x="692920" y="3891000"/>
            <a:ext cx="5370000" cy="162687"/>
          </a:xfrm>
          <a:prstGeom prst="rect">
            <a:avLst/>
          </a:prstGeom>
          <a:noFill/>
        </p:spPr>
        <p:txBody>
          <a:bodyPr wrap="square" lIns="0" rIns="0" tIns="0" bIns="0" anchor="t">
            <a:spAutoFit/>
          </a:bodyPr>
          <a:lstStyle/>
          <a:p>
            <a:pPr algn="l">
              <a:lnSpc>
                <a:spcPts val="1365"/>
              </a:lnSpc>
            </a:pPr>
            <a:r>
              <a:rPr sz="1050" b="1" i="0">
                <a:solidFill>
                  <a:srgbClr val="B54F35"/>
                </a:solidFill>
                <a:latin typeface="Arial"/>
              </a:rPr>
              <a:t>6 · CONTEXTUALISE</a:t>
            </a:r>
          </a:p>
        </p:txBody>
      </p:sp>
      <p:sp>
        <p:nvSpPr>
          <p:cNvPr id="32" name="TextBox 31"/>
          <p:cNvSpPr txBox="1"/>
          <p:nvPr/>
        </p:nvSpPr>
        <p:spPr>
          <a:xfrm>
            <a:off x="6062920" y="3905000"/>
            <a:ext cx="2450000" cy="123952"/>
          </a:xfrm>
          <a:prstGeom prst="rect">
            <a:avLst/>
          </a:prstGeom>
          <a:noFill/>
        </p:spPr>
        <p:txBody>
          <a:bodyPr wrap="square" lIns="0" rIns="0" tIns="0" bIns="0" anchor="t">
            <a:spAutoFit/>
          </a:bodyPr>
          <a:lstStyle/>
          <a:p>
            <a:pPr algn="r">
              <a:lnSpc>
                <a:spcPts val="1040"/>
              </a:lnSpc>
            </a:pPr>
            <a:r>
              <a:rPr sz="800" b="1" i="1">
                <a:solidFill>
                  <a:srgbClr val="B54F35"/>
                </a:solidFill>
                <a:latin typeface="Arial"/>
              </a:rPr>
              <a:t>→  a reading that means something</a:t>
            </a:r>
          </a:p>
        </p:txBody>
      </p:sp>
      <p:sp>
        <p:nvSpPr>
          <p:cNvPr id="33" name="TextBox 32"/>
          <p:cNvSpPr txBox="1"/>
          <p:nvPr/>
        </p:nvSpPr>
        <p:spPr>
          <a:xfrm>
            <a:off x="692920" y="406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Says which order, recipe, lot and shift the reading belongs to. Joining this to row 4 is the unsolved part.</a:t>
            </a:r>
          </a:p>
        </p:txBody>
      </p:sp>
      <p:sp>
        <p:nvSpPr>
          <p:cNvPr id="34" name="TextBox 33"/>
          <p:cNvSpPr txBox="1"/>
          <p:nvPr/>
        </p:nvSpPr>
        <p:spPr>
          <a:xfrm>
            <a:off x="692920" y="419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Siemens Opcenter · Rockwell Plex · SAP Digital Mfg · DELMIA Apriso · TrakSYS · Aptean · Deacom · Nulogy · Sepasoft</a:t>
            </a:r>
          </a:p>
        </p:txBody>
      </p:sp>
      <p:sp>
        <p:nvSpPr>
          <p:cNvPr id="35" name="Rounded Rectangle 34"/>
          <p:cNvSpPr/>
          <p:nvPr/>
        </p:nvSpPr>
        <p:spPr>
          <a:xfrm>
            <a:off x="502920" y="439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6" name="TextBox 35"/>
          <p:cNvSpPr txBox="1"/>
          <p:nvPr/>
        </p:nvSpPr>
        <p:spPr>
          <a:xfrm>
            <a:off x="692920" y="444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7 · ANALYSE</a:t>
            </a:r>
          </a:p>
        </p:txBody>
      </p:sp>
      <p:sp>
        <p:nvSpPr>
          <p:cNvPr id="37" name="TextBox 36"/>
          <p:cNvSpPr txBox="1"/>
          <p:nvPr/>
        </p:nvSpPr>
        <p:spPr>
          <a:xfrm>
            <a:off x="6062920" y="446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an answer to act on</a:t>
            </a:r>
          </a:p>
        </p:txBody>
      </p:sp>
      <p:sp>
        <p:nvSpPr>
          <p:cNvPr id="38" name="TextBox 37"/>
          <p:cNvSpPr txBox="1"/>
          <p:nvPr/>
        </p:nvSpPr>
        <p:spPr>
          <a:xfrm>
            <a:off x="692920" y="461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Predicts a failure, explains a defect, lifts a yield, or writes a setpoint back down.</a:t>
            </a:r>
          </a:p>
        </p:txBody>
      </p:sp>
      <p:sp>
        <p:nvSpPr>
          <p:cNvPr id="39" name="TextBox 38"/>
          <p:cNvSpPr txBox="1"/>
          <p:nvPr/>
        </p:nvSpPr>
        <p:spPr>
          <a:xfrm>
            <a:off x="692920" y="475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Sight Machine · Seeq · Augury Process Health · Oden · Cognite · Quartic.ai · Senseye · Mtell · Pavilion8 · C3 AI · Falkonry</a:t>
            </a:r>
          </a:p>
        </p:txBody>
      </p:sp>
      <p:sp>
        <p:nvSpPr>
          <p:cNvPr id="40" name="Rounded Rectangle 39"/>
          <p:cNvSpPr/>
          <p:nvPr/>
        </p:nvSpPr>
        <p:spPr>
          <a:xfrm>
            <a:off x="8882920" y="106000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1" name="TextBox 40"/>
          <p:cNvSpPr txBox="1"/>
          <p:nvPr/>
        </p:nvSpPr>
        <p:spPr>
          <a:xfrm>
            <a:off x="9022920" y="111200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QUALITY &amp; COMPLIANCE</a:t>
            </a:r>
          </a:p>
        </p:txBody>
      </p:sp>
      <p:sp>
        <p:nvSpPr>
          <p:cNvPr id="42" name="TextBox 41"/>
          <p:cNvSpPr txBox="1"/>
          <p:nvPr/>
        </p:nvSpPr>
        <p:spPr>
          <a:xfrm>
            <a:off x="9022920" y="1265446"/>
            <a:ext cx="2526160" cy="390144"/>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SafetyChain · Trustwell · TraceGains · FoodReady · Specright · Safefood 360 · LabWare and SampleManager (lab)</a:t>
            </a:r>
          </a:p>
        </p:txBody>
      </p:sp>
      <p:sp>
        <p:nvSpPr>
          <p:cNvPr id="43" name="Rounded Rectangle 42"/>
          <p:cNvSpPr/>
          <p:nvPr/>
        </p:nvSpPr>
        <p:spPr>
          <a:xfrm>
            <a:off x="8882920" y="203125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4" name="TextBox 43"/>
          <p:cNvSpPr txBox="1"/>
          <p:nvPr/>
        </p:nvSpPr>
        <p:spPr>
          <a:xfrm>
            <a:off x="9022920" y="208325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MAINTENANCE</a:t>
            </a:r>
          </a:p>
        </p:txBody>
      </p:sp>
      <p:sp>
        <p:nvSpPr>
          <p:cNvPr id="45" name="TextBox 44"/>
          <p:cNvSpPr txBox="1"/>
          <p:nvPr/>
        </p:nvSpPr>
        <p:spPr>
          <a:xfrm>
            <a:off x="9022920" y="2236696"/>
            <a:ext cx="2526160" cy="130048"/>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MaintainX · Fiix · UpKeep · IBM Maximo · Limble</a:t>
            </a:r>
          </a:p>
        </p:txBody>
      </p:sp>
      <p:sp>
        <p:nvSpPr>
          <p:cNvPr id="46" name="Rounded Rectangle 45"/>
          <p:cNvSpPr/>
          <p:nvPr/>
        </p:nvSpPr>
        <p:spPr>
          <a:xfrm>
            <a:off x="8882920" y="300250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7" name="TextBox 46"/>
          <p:cNvSpPr txBox="1"/>
          <p:nvPr/>
        </p:nvSpPr>
        <p:spPr>
          <a:xfrm>
            <a:off x="9022920" y="305450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PLAN &amp; ORDER</a:t>
            </a:r>
          </a:p>
        </p:txBody>
      </p:sp>
      <p:sp>
        <p:nvSpPr>
          <p:cNvPr id="48" name="TextBox 47"/>
          <p:cNvSpPr txBox="1"/>
          <p:nvPr/>
        </p:nvSpPr>
        <p:spPr>
          <a:xfrm>
            <a:off x="9022920" y="3207946"/>
            <a:ext cx="2526160" cy="260096"/>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SAP · Oracle · NetSuite · Infor · o9 · Blue Yonder · RELEX · PlanetTogether · Semia</a:t>
            </a:r>
          </a:p>
        </p:txBody>
      </p:sp>
      <p:sp>
        <p:nvSpPr>
          <p:cNvPr id="49" name="Rounded Rectangle 48"/>
          <p:cNvSpPr/>
          <p:nvPr/>
        </p:nvSpPr>
        <p:spPr>
          <a:xfrm>
            <a:off x="8882920" y="397375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0" name="TextBox 49"/>
          <p:cNvSpPr txBox="1"/>
          <p:nvPr/>
        </p:nvSpPr>
        <p:spPr>
          <a:xfrm>
            <a:off x="9022920" y="402575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FRONTLINE CAPTURE</a:t>
            </a:r>
          </a:p>
        </p:txBody>
      </p:sp>
      <p:sp>
        <p:nvSpPr>
          <p:cNvPr id="51" name="TextBox 50"/>
          <p:cNvSpPr txBox="1"/>
          <p:nvPr/>
        </p:nvSpPr>
        <p:spPr>
          <a:xfrm>
            <a:off x="9022920" y="4179196"/>
            <a:ext cx="2526160" cy="260096"/>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Tulip · Redzone · Parsable · Augmentir · Dozuki · Evocon</a:t>
            </a:r>
          </a:p>
        </p:txBody>
      </p:sp>
      <p:sp>
        <p:nvSpPr>
          <p:cNvPr id="52" name="Rounded Rectangle 51"/>
          <p:cNvSpPr/>
          <p:nvPr/>
        </p:nvSpPr>
        <p:spPr>
          <a:xfrm>
            <a:off x="502920" y="4995000"/>
            <a:ext cx="11186160" cy="400000"/>
          </a:xfrm>
          <a:prstGeom prst="roundRect">
            <a:avLst>
              <a:gd name="adj" fmla="val 8000"/>
            </a:avLst>
          </a:prstGeom>
          <a:solidFill>
            <a:srgbClr val="E4ECF4"/>
          </a:solidFill>
          <a:ln w="12700">
            <a:solidFill>
              <a:srgbClr val="2F5D8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3" name="TextBox 52"/>
          <p:cNvSpPr txBox="1"/>
          <p:nvPr/>
        </p:nvSpPr>
        <p:spPr>
          <a:xfrm>
            <a:off x="692920" y="5053000"/>
            <a:ext cx="10806160" cy="131699"/>
          </a:xfrm>
          <a:prstGeom prst="rect">
            <a:avLst/>
          </a:prstGeom>
          <a:noFill/>
        </p:spPr>
        <p:txBody>
          <a:bodyPr wrap="square" lIns="0" rIns="0" tIns="0" bIns="0" anchor="t">
            <a:spAutoFit/>
          </a:bodyPr>
          <a:lstStyle/>
          <a:p>
            <a:pPr algn="l">
              <a:lnSpc>
                <a:spcPts val="1105"/>
              </a:lnSpc>
            </a:pPr>
            <a:r>
              <a:rPr sz="850" b="0" i="0">
                <a:solidFill>
                  <a:srgbClr val="1A1A1A"/>
                </a:solidFill>
                <a:latin typeface="Arial"/>
              </a:rPr>
              <a:t>GATES EVERY ROW:   OT security (Claroty, Dragos)   ·   systems integrators, who are why the bill is $50–150k   ·   regulation (FDA 21 CFR 113 and 114, Grade A PMO, USDA FSIS)</a:t>
            </a:r>
          </a:p>
        </p:txBody>
      </p:sp>
      <p:sp>
        <p:nvSpPr>
          <p:cNvPr id="54" name="TextBox 53"/>
          <p:cNvSpPr txBox="1"/>
          <p:nvPr/>
        </p:nvSpPr>
        <p:spPr>
          <a:xfrm>
            <a:off x="692920" y="5200699"/>
            <a:ext cx="10806160" cy="131699"/>
          </a:xfrm>
          <a:prstGeom prst="rect">
            <a:avLst/>
          </a:prstGeom>
          <a:noFill/>
        </p:spPr>
        <p:txBody>
          <a:bodyPr wrap="square" lIns="0" rIns="0" tIns="0" bIns="0" anchor="t">
            <a:spAutoFit/>
          </a:bodyPr>
          <a:lstStyle/>
          <a:p>
            <a:pPr algn="l">
              <a:lnSpc>
                <a:spcPts val="1105"/>
              </a:lnSpc>
            </a:pPr>
            <a:r>
              <a:rPr sz="850" b="0" i="0">
                <a:solidFill>
                  <a:srgbClr val="1A1A1A"/>
                </a:solidFill>
                <a:latin typeface="Arial"/>
              </a:rPr>
              <a:t>SKIPS MOST ROWS:   Augury fits its own sensors and goes straight to its cloud   ·   Tulip and Redzone ask the operator instead   ·   these are what actually sold into mid-sized plants</a:t>
            </a:r>
          </a:p>
        </p:txBody>
      </p:sp>
      <p:sp>
        <p:nvSpPr>
          <p:cNvPr id="55" name="Rounded Rectangle 54"/>
          <p:cNvSpPr/>
          <p:nvPr/>
        </p:nvSpPr>
        <p:spPr>
          <a:xfrm>
            <a:off x="502920" y="5465000"/>
            <a:ext cx="11186160" cy="10164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6" name="TextBox 55"/>
          <p:cNvSpPr txBox="1"/>
          <p:nvPr/>
        </p:nvSpPr>
        <p:spPr>
          <a:xfrm>
            <a:off x="742920" y="5615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WHAT THE MAP SAYS</a:t>
            </a:r>
          </a:p>
        </p:txBody>
      </p:sp>
      <p:sp>
        <p:nvSpPr>
          <p:cNvPr id="57" name="TextBox 56"/>
          <p:cNvSpPr txBox="1"/>
          <p:nvPr/>
        </p:nvSpPr>
        <p:spPr>
          <a:xfrm>
            <a:off x="742920" y="5925000"/>
            <a:ext cx="10706160" cy="406400"/>
          </a:xfrm>
          <a:prstGeom prst="rect">
            <a:avLst/>
          </a:prstGeom>
          <a:noFill/>
        </p:spPr>
        <p:txBody>
          <a:bodyPr wrap="square" lIns="0" rIns="0" tIns="0" bIns="0" anchor="t">
            <a:spAutoFit/>
          </a:bodyPr>
          <a:lstStyle/>
          <a:p>
            <a:pPr algn="l">
              <a:lnSpc>
                <a:spcPts val="1600"/>
              </a:lnSpc>
            </a:pPr>
            <a:r>
              <a:rPr sz="1100" b="0" i="0">
                <a:solidFill>
                  <a:srgbClr val="C8D2DC"/>
                </a:solidFill>
                <a:latin typeface="Arial"/>
              </a:rPr>
              <a:t>Rows 4 and 5 are solved and commoditised. Row 6 exists only inside enterprise systems. The unsolved cell is the join between rows 4 and 6 — making a reading mean “batch 4471, line 2, shift B” at a price a $10–100M plant can pay.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3.  Which decisions — and how a plant makes them today</a:t>
            </a:r>
          </a:p>
        </p:txBody>
      </p:sp>
      <p:sp>
        <p:nvSpPr>
          <p:cNvPr id="3" name="TextBox 2"/>
          <p:cNvSpPr txBox="1"/>
          <p:nvPr/>
        </p:nvSpPr>
        <p:spPr>
          <a:xfrm>
            <a:off x="502920" y="880000"/>
            <a:ext cx="11186160" cy="260000"/>
          </a:xfrm>
          <a:prstGeom prst="rect">
            <a:avLst/>
          </a:prstGeom>
          <a:noFill/>
        </p:spPr>
        <p:txBody>
          <a:bodyPr wrap="square" lIns="0" rIns="0" tIns="0" bIns="0" anchor="t">
            <a:spAutoFit/>
          </a:bodyPr>
          <a:lstStyle/>
          <a:p>
            <a:pPr algn="l">
              <a:lnSpc>
                <a:spcPts val="1365"/>
              </a:lnSpc>
            </a:pPr>
            <a:r>
              <a:rPr sz="1050" b="1" i="0">
                <a:solidFill>
                  <a:srgbClr val="2F5D8A"/>
                </a:solidFill>
                <a:latin typeface="Arial"/>
              </a:rPr>
              <a:t>FIVE DECISIONS FROM ONE PROCESS: CANNED LOW-ACID FOOD, THE NICHE MAPPED IN MOST DEPTH</a:t>
            </a:r>
          </a:p>
        </p:txBody>
      </p:sp>
      <p:sp>
        <p:nvSpPr>
          <p:cNvPr id="4" name="Rectangle 3"/>
          <p:cNvSpPr/>
          <p:nvPr/>
        </p:nvSpPr>
        <p:spPr>
          <a:xfrm>
            <a:off x="502920" y="1220000"/>
            <a:ext cx="11186160" cy="300000"/>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642920" y="1282000"/>
            <a:ext cx="245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THE DECISION</a:t>
            </a:r>
          </a:p>
        </p:txBody>
      </p:sp>
      <p:sp>
        <p:nvSpPr>
          <p:cNvPr id="6" name="TextBox 5"/>
          <p:cNvSpPr txBox="1"/>
          <p:nvPr/>
        </p:nvSpPr>
        <p:spPr>
          <a:xfrm>
            <a:off x="3292920" y="1282000"/>
            <a:ext cx="105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WHO MAKES IT</a:t>
            </a:r>
          </a:p>
        </p:txBody>
      </p:sp>
      <p:sp>
        <p:nvSpPr>
          <p:cNvPr id="7" name="TextBox 6"/>
          <p:cNvSpPr txBox="1"/>
          <p:nvPr/>
        </p:nvSpPr>
        <p:spPr>
          <a:xfrm>
            <a:off x="4542920" y="1282000"/>
            <a:ext cx="370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HOW IT IS MADE TODAY</a:t>
            </a:r>
          </a:p>
        </p:txBody>
      </p:sp>
      <p:sp>
        <p:nvSpPr>
          <p:cNvPr id="8" name="TextBox 7"/>
          <p:cNvSpPr txBox="1"/>
          <p:nvPr/>
        </p:nvSpPr>
        <p:spPr>
          <a:xfrm>
            <a:off x="8442920" y="1282000"/>
            <a:ext cx="318616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WHY IT MATTERS</a:t>
            </a:r>
          </a:p>
        </p:txBody>
      </p:sp>
      <p:sp>
        <p:nvSpPr>
          <p:cNvPr id="9" name="Rectangle 8"/>
          <p:cNvSpPr/>
          <p:nvPr/>
        </p:nvSpPr>
        <p:spPr>
          <a:xfrm>
            <a:off x="502920" y="152000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642920" y="159500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Can I release this batch?</a:t>
            </a:r>
          </a:p>
        </p:txBody>
      </p:sp>
      <p:sp>
        <p:nvSpPr>
          <p:cNvPr id="11" name="TextBox 10"/>
          <p:cNvSpPr txBox="1"/>
          <p:nvPr/>
        </p:nvSpPr>
        <p:spPr>
          <a:xfrm>
            <a:off x="3292920" y="159500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QA manager</a:t>
            </a:r>
          </a:p>
        </p:txBody>
      </p:sp>
      <p:sp>
        <p:nvSpPr>
          <p:cNvPr id="12" name="TextBox 11"/>
          <p:cNvSpPr txBox="1"/>
          <p:nvPr/>
        </p:nvSpPr>
        <p:spPr>
          <a:xfrm>
            <a:off x="4542920" y="159500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Reads a circular paper ink chart from the pressure cooker, cross-checked by eye against a mercury thermometer on the vessel.</a:t>
            </a:r>
          </a:p>
        </p:txBody>
      </p:sp>
      <p:sp>
        <p:nvSpPr>
          <p:cNvPr id="13" name="TextBox 12"/>
          <p:cNvSpPr txBox="1"/>
          <p:nvPr/>
        </p:nvSpPr>
        <p:spPr>
          <a:xfrm>
            <a:off x="8442920" y="159500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10,000 cans per cook. If the heat profile is doubted the batch is held, retested or re-cooked.</a:t>
            </a:r>
          </a:p>
        </p:txBody>
      </p:sp>
      <p:sp>
        <p:nvSpPr>
          <p:cNvPr id="14" name="Rectangle 13"/>
          <p:cNvSpPr/>
          <p:nvPr/>
        </p:nvSpPr>
        <p:spPr>
          <a:xfrm>
            <a:off x="502920" y="215768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642920" y="223268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Is the can seamer drifting?</a:t>
            </a:r>
          </a:p>
        </p:txBody>
      </p:sp>
      <p:sp>
        <p:nvSpPr>
          <p:cNvPr id="16" name="TextBox 15"/>
          <p:cNvSpPr txBox="1"/>
          <p:nvPr/>
        </p:nvSpPr>
        <p:spPr>
          <a:xfrm>
            <a:off x="3292920" y="223268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QA technician</a:t>
            </a:r>
          </a:p>
        </p:txBody>
      </p:sp>
      <p:sp>
        <p:nvSpPr>
          <p:cNvPr id="17" name="TextBox 16"/>
          <p:cNvSpPr txBox="1"/>
          <p:nvPr/>
        </p:nvSpPr>
        <p:spPr>
          <a:xfrm>
            <a:off x="4542920" y="223268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Three cans cut open and measured with a micrometer every 2–4 hours. Between checks there is no measurement at all.</a:t>
            </a:r>
          </a:p>
        </p:txBody>
      </p:sp>
      <p:sp>
        <p:nvSpPr>
          <p:cNvPr id="18" name="TextBox 17"/>
          <p:cNvSpPr txBox="1"/>
          <p:nvPr/>
        </p:nvSpPr>
        <p:spPr>
          <a:xfrm>
            <a:off x="8442920" y="223268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bad seal lets bacteria in after cooking. This is the botulism path, and the recall exposure.</a:t>
            </a:r>
          </a:p>
        </p:txBody>
      </p:sp>
      <p:sp>
        <p:nvSpPr>
          <p:cNvPr id="19" name="Rectangle 18"/>
          <p:cNvSpPr/>
          <p:nvPr/>
        </p:nvSpPr>
        <p:spPr>
          <a:xfrm>
            <a:off x="502920" y="2795360"/>
            <a:ext cx="11186160" cy="47512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0" name="TextBox 19"/>
          <p:cNvSpPr txBox="1"/>
          <p:nvPr/>
        </p:nvSpPr>
        <p:spPr>
          <a:xfrm>
            <a:off x="642920" y="2870360"/>
            <a:ext cx="2410000" cy="35512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Was the filling temperature right?</a:t>
            </a:r>
          </a:p>
        </p:txBody>
      </p:sp>
      <p:sp>
        <p:nvSpPr>
          <p:cNvPr id="21" name="TextBox 20"/>
          <p:cNvSpPr txBox="1"/>
          <p:nvPr/>
        </p:nvSpPr>
        <p:spPr>
          <a:xfrm>
            <a:off x="3292920" y="2870360"/>
            <a:ext cx="1010000" cy="35512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Line operator</a:t>
            </a:r>
          </a:p>
        </p:txBody>
      </p:sp>
      <p:sp>
        <p:nvSpPr>
          <p:cNvPr id="22" name="TextBox 21"/>
          <p:cNvSpPr txBox="1"/>
          <p:nvPr/>
        </p:nvSpPr>
        <p:spPr>
          <a:xfrm>
            <a:off x="4542920" y="2870360"/>
            <a:ext cx="366000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handheld thermometer dipped every 30–60 minutes, written on a paper log.</a:t>
            </a:r>
          </a:p>
        </p:txBody>
      </p:sp>
      <p:sp>
        <p:nvSpPr>
          <p:cNvPr id="23" name="TextBox 22"/>
          <p:cNvSpPr txBox="1"/>
          <p:nvPr/>
        </p:nvSpPr>
        <p:spPr>
          <a:xfrm>
            <a:off x="8442920" y="2870360"/>
            <a:ext cx="314616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If broth cooled during a line stoppage the whole subsequent cook is under-processed.</a:t>
            </a:r>
          </a:p>
        </p:txBody>
      </p:sp>
      <p:sp>
        <p:nvSpPr>
          <p:cNvPr id="24" name="Rectangle 23"/>
          <p:cNvSpPr/>
          <p:nvPr/>
        </p:nvSpPr>
        <p:spPr>
          <a:xfrm>
            <a:off x="502920" y="3270480"/>
            <a:ext cx="11186160" cy="47512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5" name="TextBox 24"/>
          <p:cNvSpPr txBox="1"/>
          <p:nvPr/>
        </p:nvSpPr>
        <p:spPr>
          <a:xfrm>
            <a:off x="642920" y="3345480"/>
            <a:ext cx="2410000" cy="35512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Which batch is in which basket?</a:t>
            </a:r>
          </a:p>
        </p:txBody>
      </p:sp>
      <p:sp>
        <p:nvSpPr>
          <p:cNvPr id="26" name="TextBox 25"/>
          <p:cNvSpPr txBox="1"/>
          <p:nvPr/>
        </p:nvSpPr>
        <p:spPr>
          <a:xfrm>
            <a:off x="3292920" y="3345480"/>
            <a:ext cx="1010000" cy="35512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Retort operator</a:t>
            </a:r>
          </a:p>
        </p:txBody>
      </p:sp>
      <p:sp>
        <p:nvSpPr>
          <p:cNvPr id="27" name="TextBox 26"/>
          <p:cNvSpPr txBox="1"/>
          <p:nvPr/>
        </p:nvSpPr>
        <p:spPr>
          <a:xfrm>
            <a:off x="4542920" y="3345480"/>
            <a:ext cx="366000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paper tag hung on the cart.</a:t>
            </a:r>
          </a:p>
        </p:txBody>
      </p:sp>
      <p:sp>
        <p:nvSpPr>
          <p:cNvPr id="28" name="TextBox 27"/>
          <p:cNvSpPr txBox="1"/>
          <p:nvPr/>
        </p:nvSpPr>
        <p:spPr>
          <a:xfrm>
            <a:off x="8442920" y="3345480"/>
            <a:ext cx="314616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Sets how wide a recall has to be drawn when something is wrong.</a:t>
            </a:r>
          </a:p>
        </p:txBody>
      </p:sp>
      <p:sp>
        <p:nvSpPr>
          <p:cNvPr id="29" name="Rectangle 28"/>
          <p:cNvSpPr/>
          <p:nvPr/>
        </p:nvSpPr>
        <p:spPr>
          <a:xfrm>
            <a:off x="502920" y="374560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0" name="TextBox 29"/>
          <p:cNvSpPr txBox="1"/>
          <p:nvPr/>
        </p:nvSpPr>
        <p:spPr>
          <a:xfrm>
            <a:off x="642920" y="382060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Why did this batch come out wrong?</a:t>
            </a:r>
          </a:p>
        </p:txBody>
      </p:sp>
      <p:sp>
        <p:nvSpPr>
          <p:cNvPr id="31" name="TextBox 30"/>
          <p:cNvSpPr txBox="1"/>
          <p:nvPr/>
        </p:nvSpPr>
        <p:spPr>
          <a:xfrm>
            <a:off x="3292920" y="382060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Process engineer</a:t>
            </a:r>
          </a:p>
        </p:txBody>
      </p:sp>
      <p:sp>
        <p:nvSpPr>
          <p:cNvPr id="32" name="TextBox 31"/>
          <p:cNvSpPr txBox="1"/>
          <p:nvPr/>
        </p:nvSpPr>
        <p:spPr>
          <a:xfrm>
            <a:off x="4542920" y="382060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Reconstructed afterwards from paper charts, batch sheets and lab results.</a:t>
            </a:r>
          </a:p>
        </p:txBody>
      </p:sp>
      <p:sp>
        <p:nvSpPr>
          <p:cNvPr id="33" name="TextBox 32"/>
          <p:cNvSpPr txBox="1"/>
          <p:nvPr/>
        </p:nvSpPr>
        <p:spPr>
          <a:xfrm>
            <a:off x="8442920" y="382060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Vendors report this dropping from days to hours — the one effect that recurs across every case study I read.</a:t>
            </a:r>
          </a:p>
        </p:txBody>
      </p:sp>
      <p:sp>
        <p:nvSpPr>
          <p:cNvPr id="34" name="Rounded Rectangle 33"/>
          <p:cNvSpPr/>
          <p:nvPr/>
        </p:nvSpPr>
        <p:spPr>
          <a:xfrm>
            <a:off x="502920" y="4493280"/>
            <a:ext cx="11186160" cy="10291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5" name="TextBox 34"/>
          <p:cNvSpPr txBox="1"/>
          <p:nvPr/>
        </p:nvSpPr>
        <p:spPr>
          <a:xfrm>
            <a:off x="742920" y="464328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THE COLUMN THAT IS MISSING</a:t>
            </a:r>
          </a:p>
        </p:txBody>
      </p:sp>
      <p:sp>
        <p:nvSpPr>
          <p:cNvPr id="36" name="TextBox 35"/>
          <p:cNvSpPr txBox="1"/>
          <p:nvPr/>
        </p:nvSpPr>
        <p:spPr>
          <a:xfrm>
            <a:off x="742920" y="4953280"/>
            <a:ext cx="10706160" cy="419100"/>
          </a:xfrm>
          <a:prstGeom prst="rect">
            <a:avLst/>
          </a:prstGeom>
          <a:noFill/>
        </p:spPr>
        <p:txBody>
          <a:bodyPr wrap="square" lIns="0" rIns="0" tIns="0" bIns="0" anchor="t">
            <a:spAutoFit/>
          </a:bodyPr>
          <a:lstStyle/>
          <a:p>
            <a:pPr algn="l">
              <a:lnSpc>
                <a:spcPts val="1650"/>
              </a:lnSpc>
            </a:pPr>
            <a:r>
              <a:rPr sz="1150" b="0" i="0">
                <a:solidFill>
                  <a:srgbClr val="C8D2DC"/>
                </a:solidFill>
                <a:latin typeface="Arial"/>
              </a:rPr>
              <a:t>There is a fifth column this table should have — what each decision costs the plant today, in held inventory, wasted batches and engineer-days. I could not source a single figure for it at mid-market scale. The next two slides show why.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4.  What the published evidence actually is — 36 case studies read as a body</a:t>
            </a:r>
          </a:p>
        </p:txBody>
      </p:sp>
      <p:sp>
        <p:nvSpPr>
          <p:cNvPr id="3" name="TextBox 2"/>
          <p:cNvSpPr txBox="1"/>
          <p:nvPr/>
        </p:nvSpPr>
        <p:spPr>
          <a:xfrm>
            <a:off x="502920" y="880000"/>
            <a:ext cx="11186160" cy="260000"/>
          </a:xfrm>
          <a:prstGeom prst="rect">
            <a:avLst/>
          </a:prstGeom>
          <a:noFill/>
        </p:spPr>
        <p:txBody>
          <a:bodyPr wrap="square" lIns="0" rIns="0" tIns="0" bIns="0" anchor="t">
            <a:spAutoFit/>
          </a:bodyPr>
          <a:lstStyle/>
          <a:p>
            <a:pPr algn="l">
              <a:lnSpc>
                <a:spcPts val="1365"/>
              </a:lnSpc>
            </a:pPr>
            <a:r>
              <a:rPr sz="1050" b="1" i="0">
                <a:solidFill>
                  <a:srgbClr val="2F5D8A"/>
                </a:solidFill>
                <a:latin typeface="Arial"/>
              </a:rPr>
              <a:t>EVERY QUANTIFIED RESULT I COULD FIND FROM THE VENDORS ON THE MAP, GROUPED BY THE INDUSTRY IT CAME FROM</a:t>
            </a:r>
          </a:p>
        </p:txBody>
      </p:sp>
      <p:sp>
        <p:nvSpPr>
          <p:cNvPr id="4" name="Rectangle 3"/>
          <p:cNvSpPr/>
          <p:nvPr/>
        </p:nvSpPr>
        <p:spPr>
          <a:xfrm>
            <a:off x="502920" y="1270000"/>
            <a:ext cx="1850000"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2432920" y="121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Oil, gas &amp; petrochemical   7</a:t>
            </a:r>
          </a:p>
        </p:txBody>
      </p:sp>
      <p:sp>
        <p:nvSpPr>
          <p:cNvPr id="6" name="Rectangle 5"/>
          <p:cNvSpPr/>
          <p:nvPr/>
        </p:nvSpPr>
        <p:spPr>
          <a:xfrm>
            <a:off x="502920" y="1580000"/>
            <a:ext cx="1585714"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7" name="TextBox 6"/>
          <p:cNvSpPr txBox="1"/>
          <p:nvPr/>
        </p:nvSpPr>
        <p:spPr>
          <a:xfrm>
            <a:off x="2432920" y="152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Pharma &amp; biotech   6</a:t>
            </a:r>
          </a:p>
        </p:txBody>
      </p:sp>
      <p:sp>
        <p:nvSpPr>
          <p:cNvPr id="8" name="Rectangle 7"/>
          <p:cNvSpPr/>
          <p:nvPr/>
        </p:nvSpPr>
        <p:spPr>
          <a:xfrm>
            <a:off x="502920" y="1890000"/>
            <a:ext cx="1585714"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9" name="TextBox 8"/>
          <p:cNvSpPr txBox="1"/>
          <p:nvPr/>
        </p:nvSpPr>
        <p:spPr>
          <a:xfrm>
            <a:off x="2432920" y="183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Automotive &amp; discrete   6</a:t>
            </a:r>
          </a:p>
        </p:txBody>
      </p:sp>
      <p:sp>
        <p:nvSpPr>
          <p:cNvPr id="10" name="Rectangle 9"/>
          <p:cNvSpPr/>
          <p:nvPr/>
        </p:nvSpPr>
        <p:spPr>
          <a:xfrm>
            <a:off x="502920" y="2200000"/>
            <a:ext cx="1321428" cy="150000"/>
          </a:xfrm>
          <a:prstGeom prst="rect">
            <a:avLst/>
          </a:prstGeom>
          <a:solidFill>
            <a:srgbClr val="B54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1" name="TextBox 10"/>
          <p:cNvSpPr txBox="1"/>
          <p:nvPr/>
        </p:nvSpPr>
        <p:spPr>
          <a:xfrm>
            <a:off x="2432920" y="214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Food &amp; beverage   5</a:t>
            </a:r>
          </a:p>
        </p:txBody>
      </p:sp>
      <p:sp>
        <p:nvSpPr>
          <p:cNvPr id="12" name="Rectangle 11"/>
          <p:cNvSpPr/>
          <p:nvPr/>
        </p:nvSpPr>
        <p:spPr>
          <a:xfrm>
            <a:off x="502920" y="2510000"/>
            <a:ext cx="792857"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2432920" y="245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Chemicals   3</a:t>
            </a:r>
          </a:p>
        </p:txBody>
      </p:sp>
      <p:sp>
        <p:nvSpPr>
          <p:cNvPr id="14" name="Rectangle 13"/>
          <p:cNvSpPr/>
          <p:nvPr/>
        </p:nvSpPr>
        <p:spPr>
          <a:xfrm>
            <a:off x="502920" y="2820000"/>
            <a:ext cx="528571"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2432920" y="276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Pulp, paper &amp; packaging   2</a:t>
            </a:r>
          </a:p>
        </p:txBody>
      </p:sp>
      <p:sp>
        <p:nvSpPr>
          <p:cNvPr id="16" name="Rectangle 15"/>
          <p:cNvSpPr/>
          <p:nvPr/>
        </p:nvSpPr>
        <p:spPr>
          <a:xfrm>
            <a:off x="502920" y="3130000"/>
            <a:ext cx="792857"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7" name="TextBox 16"/>
          <p:cNvSpPr txBox="1"/>
          <p:nvPr/>
        </p:nvSpPr>
        <p:spPr>
          <a:xfrm>
            <a:off x="2432920" y="307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Steel, cable, ethanol   3</a:t>
            </a:r>
          </a:p>
        </p:txBody>
      </p:sp>
      <p:sp>
        <p:nvSpPr>
          <p:cNvPr id="18" name="Rounded Rectangle 17"/>
          <p:cNvSpPr/>
          <p:nvPr/>
        </p:nvSpPr>
        <p:spPr>
          <a:xfrm>
            <a:off x="5202920" y="1180000"/>
            <a:ext cx="6486160" cy="2200000"/>
          </a:xfrm>
          <a:prstGeom prst="roundRect">
            <a:avLst>
              <a:gd name="adj" fmla="val 8000"/>
            </a:avLst>
          </a:prstGeom>
          <a:solidFill>
            <a:srgbClr val="FAECE8"/>
          </a:solidFill>
          <a:ln w="19050">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9" name="TextBox 18"/>
          <p:cNvSpPr txBox="1"/>
          <p:nvPr/>
        </p:nvSpPr>
        <p:spPr>
          <a:xfrm>
            <a:off x="5422920" y="1290000"/>
            <a:ext cx="6046160" cy="185928"/>
          </a:xfrm>
          <a:prstGeom prst="rect">
            <a:avLst/>
          </a:prstGeom>
          <a:noFill/>
        </p:spPr>
        <p:txBody>
          <a:bodyPr wrap="square" lIns="0" rIns="0" tIns="0" bIns="0" anchor="t">
            <a:spAutoFit/>
          </a:bodyPr>
          <a:lstStyle/>
          <a:p>
            <a:pPr algn="l">
              <a:lnSpc>
                <a:spcPts val="1560"/>
              </a:lnSpc>
            </a:pPr>
            <a:r>
              <a:rPr sz="1200" b="1" i="0">
                <a:solidFill>
                  <a:srgbClr val="B54F35"/>
                </a:solidFill>
                <a:latin typeface="Arial"/>
              </a:rPr>
              <a:t>THE FOOD CASES ARE ALL THE WRONG SIZE</a:t>
            </a:r>
          </a:p>
        </p:txBody>
      </p:sp>
      <p:sp>
        <p:nvSpPr>
          <p:cNvPr id="20" name="TextBox 19"/>
          <p:cNvSpPr txBox="1"/>
          <p:nvPr/>
        </p:nvSpPr>
        <p:spPr>
          <a:xfrm>
            <a:off x="5422920" y="1515928"/>
            <a:ext cx="6046160" cy="1600000"/>
          </a:xfrm>
          <a:prstGeom prst="rect">
            <a:avLst/>
          </a:prstGeom>
          <a:noFill/>
        </p:spPr>
        <p:txBody>
          <a:bodyPr wrap="square" lIns="0" rIns="0" tIns="0" bIns="0" anchor="t">
            <a:spAutoFit/>
          </a:bodyPr>
          <a:lstStyle/>
          <a:p>
            <a:pPr algn="l">
              <a:lnSpc>
                <a:spcPts val="1448"/>
              </a:lnSpc>
            </a:pPr>
            <a:r>
              <a:rPr sz="1050" b="0" i="0">
                <a:solidFill>
                  <a:srgbClr val="1A1A1A"/>
                </a:solidFill>
                <a:latin typeface="Arial"/>
              </a:rPr>
              <a:t>The five food and beverage cases are Kellogg’s, PepsiCo, Barilla, Lindt and one unnamed large CPG. Every one is a multi-billion-dollar manufacturer, between ten and a hundred times the size of the $10–100M plants this study is about.</a:t>
            </a:r>
          </a:p>
          <a:p>
            <a:pPr algn="l">
              <a:lnSpc>
                <a:spcPts val="1448"/>
              </a:lnSpc>
              <a:spcBef>
                <a:spcPts val="900"/>
              </a:spcBef>
            </a:pPr>
            <a:r>
              <a:rPr sz="1050" b="1" i="0">
                <a:solidFill>
                  <a:srgbClr val="B54F35"/>
                </a:solidFill>
                <a:latin typeface="Arial"/>
              </a:rPr>
              <a:t>Not one of the 36 case studies comes from a plant in the target segment.</a:t>
            </a:r>
          </a:p>
        </p:txBody>
      </p:sp>
      <p:sp>
        <p:nvSpPr>
          <p:cNvPr id="21" name="Rounded Rectangle 20"/>
          <p:cNvSpPr/>
          <p:nvPr/>
        </p:nvSpPr>
        <p:spPr>
          <a:xfrm>
            <a:off x="502920" y="3560000"/>
            <a:ext cx="11186160" cy="1600000"/>
          </a:xfrm>
          <a:prstGeom prst="roundRect">
            <a:avLst>
              <a:gd name="adj" fmla="val 8000"/>
            </a:avLst>
          </a:prstGeom>
          <a:solidFill>
            <a:srgbClr val="E4EFED"/>
          </a:solidFill>
          <a:ln w="1905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2" name="TextBox 21"/>
          <p:cNvSpPr txBox="1"/>
          <p:nvPr/>
        </p:nvSpPr>
        <p:spPr>
          <a:xfrm>
            <a:off x="762920" y="3650000"/>
            <a:ext cx="10666160" cy="185928"/>
          </a:xfrm>
          <a:prstGeom prst="rect">
            <a:avLst/>
          </a:prstGeom>
          <a:noFill/>
        </p:spPr>
        <p:txBody>
          <a:bodyPr wrap="square" lIns="0" rIns="0" tIns="0" bIns="0" anchor="t">
            <a:spAutoFit/>
          </a:bodyPr>
          <a:lstStyle/>
          <a:p>
            <a:pPr algn="l">
              <a:lnSpc>
                <a:spcPts val="1560"/>
              </a:lnSpc>
            </a:pPr>
            <a:r>
              <a:rPr sz="1200" b="1" i="0">
                <a:solidFill>
                  <a:srgbClr val="2D6E63"/>
                </a:solidFill>
                <a:latin typeface="Arial"/>
              </a:rPr>
              <a:t>ONE MECHANISM RECURS ACROSS UNRELATED VENDORS AND INDUSTRIES — AND IT IS NOT A BETTER ANSWER</a:t>
            </a:r>
          </a:p>
        </p:txBody>
      </p:sp>
      <p:sp>
        <p:nvSpPr>
          <p:cNvPr id="23" name="TextBox 22"/>
          <p:cNvSpPr txBox="1"/>
          <p:nvPr/>
        </p:nvSpPr>
        <p:spPr>
          <a:xfrm>
            <a:off x="802920" y="387592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Lake Cable, with Oden — troubleshooting a defect fell from 5 days to 20 minutes</a:t>
            </a:r>
          </a:p>
        </p:txBody>
      </p:sp>
      <p:sp>
        <p:nvSpPr>
          <p:cNvPr id="24" name="TextBox 23"/>
          <p:cNvSpPr txBox="1"/>
          <p:nvPr/>
        </p:nvSpPr>
        <p:spPr>
          <a:xfrm>
            <a:off x="802920" y="404886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Toyota Industries, with Sight Machine — root-cause analysis from 5 days to under 4 hours</a:t>
            </a:r>
          </a:p>
        </p:txBody>
      </p:sp>
      <p:sp>
        <p:nvSpPr>
          <p:cNvPr id="25" name="TextBox 24"/>
          <p:cNvSpPr txBox="1"/>
          <p:nvPr/>
        </p:nvSpPr>
        <p:spPr>
          <a:xfrm>
            <a:off x="802920" y="422180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Terumo, with Siemens — releasing material for shipment from days to minutes</a:t>
            </a:r>
          </a:p>
        </p:txBody>
      </p:sp>
      <p:sp>
        <p:nvSpPr>
          <p:cNvPr id="26" name="TextBox 25"/>
          <p:cNvSpPr txBox="1"/>
          <p:nvPr/>
        </p:nvSpPr>
        <p:spPr>
          <a:xfrm>
            <a:off x="802920" y="439474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BASF, with Siemens — five days of paperwork removed per month</a:t>
            </a:r>
          </a:p>
        </p:txBody>
      </p:sp>
      <p:sp>
        <p:nvSpPr>
          <p:cNvPr id="27" name="TextBox 26"/>
          <p:cNvSpPr txBox="1"/>
          <p:nvPr/>
        </p:nvSpPr>
        <p:spPr>
          <a:xfrm>
            <a:off x="762920" y="4597688"/>
            <a:ext cx="10666160" cy="162687"/>
          </a:xfrm>
          <a:prstGeom prst="rect">
            <a:avLst/>
          </a:prstGeom>
          <a:noFill/>
        </p:spPr>
        <p:txBody>
          <a:bodyPr wrap="square" lIns="0" rIns="0" tIns="0" bIns="0" anchor="t">
            <a:spAutoFit/>
          </a:bodyPr>
          <a:lstStyle/>
          <a:p>
            <a:pPr algn="l">
              <a:lnSpc>
                <a:spcPts val="1365"/>
              </a:lnSpc>
            </a:pPr>
            <a:r>
              <a:rPr sz="1050" b="1" i="0">
                <a:solidFill>
                  <a:srgbClr val="2D6E63"/>
                </a:solidFill>
                <a:latin typeface="Arial"/>
              </a:rPr>
              <a:t>In each case the plant could already reach the answer. The software collapsed how long it took. The saving is held inventory and engineer-days, not a better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5.  Why desk research stops here</a:t>
            </a:r>
          </a:p>
        </p:txBody>
      </p:sp>
      <p:sp>
        <p:nvSpPr>
          <p:cNvPr id="3" name="Rounded Rectangle 2"/>
          <p:cNvSpPr/>
          <p:nvPr/>
        </p:nvSpPr>
        <p:spPr>
          <a:xfrm>
            <a:off x="502920" y="1020000"/>
            <a:ext cx="11186160" cy="1180000"/>
          </a:xfrm>
          <a:prstGeom prst="roundRect">
            <a:avLst>
              <a:gd name="adj" fmla="val 8000"/>
            </a:avLst>
          </a:prstGeom>
          <a:solidFill>
            <a:srgbClr val="FAECE8"/>
          </a:solidFill>
          <a:ln w="25400">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TextBox 3"/>
          <p:cNvSpPr txBox="1"/>
          <p:nvPr/>
        </p:nvSpPr>
        <p:spPr>
          <a:xfrm>
            <a:off x="802920" y="1120000"/>
            <a:ext cx="10586160" cy="216915"/>
          </a:xfrm>
          <a:prstGeom prst="rect">
            <a:avLst/>
          </a:prstGeom>
          <a:noFill/>
        </p:spPr>
        <p:txBody>
          <a:bodyPr wrap="square" lIns="0" rIns="0" tIns="0" bIns="0" anchor="t">
            <a:spAutoFit/>
          </a:bodyPr>
          <a:lstStyle/>
          <a:p>
            <a:pPr algn="l">
              <a:lnSpc>
                <a:spcPts val="1820"/>
              </a:lnSpc>
            </a:pPr>
            <a:r>
              <a:rPr sz="1400" b="1" i="0">
                <a:solidFill>
                  <a:srgbClr val="B54F35"/>
                </a:solidFill>
                <a:latin typeface="Arial"/>
              </a:rPr>
              <a:t>Not one of the 36 case studies states how the decision was made before the software, or what that cost.</a:t>
            </a:r>
          </a:p>
        </p:txBody>
      </p:sp>
      <p:sp>
        <p:nvSpPr>
          <p:cNvPr id="5" name="TextBox 4"/>
          <p:cNvSpPr txBox="1"/>
          <p:nvPr/>
        </p:nvSpPr>
        <p:spPr>
          <a:xfrm>
            <a:off x="802920" y="1386915"/>
            <a:ext cx="10586160" cy="500000"/>
          </a:xfrm>
          <a:prstGeom prst="rect">
            <a:avLst/>
          </a:prstGeom>
          <a:noFill/>
        </p:spPr>
        <p:txBody>
          <a:bodyPr wrap="square" lIns="0" rIns="0" tIns="0" bIns="0" anchor="t">
            <a:spAutoFit/>
          </a:bodyPr>
          <a:lstStyle/>
          <a:p>
            <a:pPr algn="l">
              <a:lnSpc>
                <a:spcPts val="1485"/>
              </a:lnSpc>
            </a:pPr>
            <a:r>
              <a:rPr sz="1100" b="0" i="0">
                <a:solidFill>
                  <a:srgbClr val="1A1A1A"/>
                </a:solidFill>
                <a:latin typeface="Arial"/>
              </a:rPr>
              <a:t>Every one gives the improvement — 25% fewer defects, $17.4M saved, five days down to four hours. None gives the baseline it improved on. That is exactly the comparison you asked me to make.</a:t>
            </a:r>
          </a:p>
        </p:txBody>
      </p:sp>
      <p:sp>
        <p:nvSpPr>
          <p:cNvPr id="6" name="Rounded Rectangle 5"/>
          <p:cNvSpPr/>
          <p:nvPr/>
        </p:nvSpPr>
        <p:spPr>
          <a:xfrm>
            <a:off x="502920" y="2380000"/>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7" name="TextBox 6"/>
          <p:cNvSpPr txBox="1"/>
          <p:nvPr/>
        </p:nvSpPr>
        <p:spPr>
          <a:xfrm>
            <a:off x="802920" y="2460000"/>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the baseline is never published</a:t>
            </a:r>
          </a:p>
        </p:txBody>
      </p:sp>
      <p:sp>
        <p:nvSpPr>
          <p:cNvPr id="8" name="TextBox 7"/>
          <p:cNvSpPr txBox="1"/>
          <p:nvPr/>
        </p:nvSpPr>
        <p:spPr>
          <a:xfrm>
            <a:off x="802920" y="2648181"/>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A case study is a marketing asset agreed with the customer. The customer will endorse the improvement. No plant manager signs off a paragraph describing how badly the job was done before.</a:t>
            </a:r>
          </a:p>
        </p:txBody>
      </p:sp>
      <p:sp>
        <p:nvSpPr>
          <p:cNvPr id="9" name="Rounded Rectangle 8"/>
          <p:cNvSpPr/>
          <p:nvPr/>
        </p:nvSpPr>
        <p:spPr>
          <a:xfrm>
            <a:off x="502920" y="3153781"/>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802920" y="3233781"/>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the numbers would not transfer anyway</a:t>
            </a:r>
          </a:p>
        </p:txBody>
      </p:sp>
      <p:sp>
        <p:nvSpPr>
          <p:cNvPr id="11" name="TextBox 10"/>
          <p:cNvSpPr txBox="1"/>
          <p:nvPr/>
        </p:nvSpPr>
        <p:spPr>
          <a:xfrm>
            <a:off x="802920" y="3421962"/>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The headline figures come from refineries, turbines and biopharma suites. A $40M food plant has no $7M gas turbine, so the avoided-failure numbers that dominate the corpus do not scale down.</a:t>
            </a:r>
          </a:p>
        </p:txBody>
      </p:sp>
      <p:sp>
        <p:nvSpPr>
          <p:cNvPr id="12" name="Rounded Rectangle 11"/>
          <p:cNvSpPr/>
          <p:nvPr/>
        </p:nvSpPr>
        <p:spPr>
          <a:xfrm>
            <a:off x="502920" y="3927562"/>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802920" y="4007562"/>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searching harder will not fix it</a:t>
            </a:r>
          </a:p>
        </p:txBody>
      </p:sp>
      <p:sp>
        <p:nvSpPr>
          <p:cNvPr id="14" name="TextBox 13"/>
          <p:cNvSpPr txBox="1"/>
          <p:nvPr/>
        </p:nvSpPr>
        <p:spPr>
          <a:xfrm>
            <a:off x="802920" y="4195743"/>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This is a property of the evidence, not of the search. The only people who know what a held batch or a lost engineer-day costs are the plants themselves, and they do not publish it.</a:t>
            </a:r>
          </a:p>
        </p:txBody>
      </p:sp>
      <p:sp>
        <p:nvSpPr>
          <p:cNvPr id="15" name="Rounded Rectangle 14"/>
          <p:cNvSpPr/>
          <p:nvPr/>
        </p:nvSpPr>
        <p:spPr>
          <a:xfrm>
            <a:off x="502920" y="4741343"/>
            <a:ext cx="11186160" cy="10418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6" name="TextBox 15"/>
          <p:cNvSpPr txBox="1"/>
          <p:nvPr/>
        </p:nvSpPr>
        <p:spPr>
          <a:xfrm>
            <a:off x="742920" y="4891343"/>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THE CONCLUSION I DRAW</a:t>
            </a:r>
          </a:p>
        </p:txBody>
      </p:sp>
      <p:sp>
        <p:nvSpPr>
          <p:cNvPr id="17" name="TextBox 16"/>
          <p:cNvSpPr txBox="1"/>
          <p:nvPr/>
        </p:nvSpPr>
        <p:spPr>
          <a:xfrm>
            <a:off x="742920" y="5201343"/>
            <a:ext cx="10706160" cy="431800"/>
          </a:xfrm>
          <a:prstGeom prst="rect">
            <a:avLst/>
          </a:prstGeom>
          <a:noFill/>
        </p:spPr>
        <p:txBody>
          <a:bodyPr wrap="square" lIns="0" rIns="0" tIns="0" bIns="0" anchor="t">
            <a:spAutoFit/>
          </a:bodyPr>
          <a:lstStyle/>
          <a:p>
            <a:pPr algn="l">
              <a:lnSpc>
                <a:spcPts val="1700"/>
              </a:lnSpc>
            </a:pPr>
            <a:r>
              <a:rPr sz="1200" b="0" i="0">
                <a:solidFill>
                  <a:srgbClr val="C8D2DC"/>
                </a:solidFill>
                <a:latin typeface="Arial"/>
              </a:rPr>
              <a:t>The desk phase has done what it can. It located the opportunity precisely and established that the number your question turns on does not exist in public. Getting it requires talking to the people who hold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6.  The next phase — two kinds of conversation</a:t>
            </a:r>
          </a:p>
        </p:txBody>
      </p:sp>
      <p:sp>
        <p:nvSpPr>
          <p:cNvPr id="3" name="Rounded Rectangle 2"/>
          <p:cNvSpPr/>
          <p:nvPr/>
        </p:nvSpPr>
        <p:spPr>
          <a:xfrm>
            <a:off x="502920" y="1000000"/>
            <a:ext cx="5443080" cy="3260000"/>
          </a:xfrm>
          <a:prstGeom prst="roundRect">
            <a:avLst>
              <a:gd name="adj" fmla="val 8000"/>
            </a:avLst>
          </a:prstGeom>
          <a:solidFill>
            <a:srgbClr val="E4ECF4"/>
          </a:solidFill>
          <a:ln w="22225">
            <a:solidFill>
              <a:srgbClr val="2F5D8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TextBox 3"/>
          <p:cNvSpPr txBox="1"/>
          <p:nvPr/>
        </p:nvSpPr>
        <p:spPr>
          <a:xfrm>
            <a:off x="742920" y="1090000"/>
            <a:ext cx="4963080" cy="154940"/>
          </a:xfrm>
          <a:prstGeom prst="rect">
            <a:avLst/>
          </a:prstGeom>
          <a:noFill/>
        </p:spPr>
        <p:txBody>
          <a:bodyPr wrap="square" lIns="0" rIns="0" tIns="0" bIns="0" anchor="t">
            <a:spAutoFit/>
          </a:bodyPr>
          <a:lstStyle/>
          <a:p>
            <a:pPr algn="l">
              <a:lnSpc>
                <a:spcPts val="1300"/>
              </a:lnSpc>
            </a:pPr>
            <a:r>
              <a:rPr sz="1000" b="1" i="0">
                <a:solidFill>
                  <a:srgbClr val="2F5D8A"/>
                </a:solidFill>
                <a:latin typeface="Arial"/>
              </a:rPr>
              <a:t>TRACK 1</a:t>
            </a:r>
          </a:p>
        </p:txBody>
      </p:sp>
      <p:sp>
        <p:nvSpPr>
          <p:cNvPr id="5" name="TextBox 4"/>
          <p:cNvSpPr txBox="1"/>
          <p:nvPr/>
        </p:nvSpPr>
        <p:spPr>
          <a:xfrm>
            <a:off x="742920" y="1264940"/>
            <a:ext cx="4963080" cy="402844"/>
          </a:xfrm>
          <a:prstGeom prst="rect">
            <a:avLst/>
          </a:prstGeom>
          <a:noFill/>
        </p:spPr>
        <p:txBody>
          <a:bodyPr wrap="square" lIns="0" rIns="0" tIns="0" bIns="0" anchor="t">
            <a:spAutoFit/>
          </a:bodyPr>
          <a:lstStyle/>
          <a:p>
            <a:pPr algn="l">
              <a:lnSpc>
                <a:spcPts val="1625"/>
              </a:lnSpc>
            </a:pPr>
            <a:r>
              <a:rPr sz="1300" b="1" i="0">
                <a:solidFill>
                  <a:srgbClr val="222A35"/>
                </a:solidFill>
                <a:latin typeface="Arial"/>
              </a:rPr>
              <a:t>Written mini-cases on the vendors themselves</a:t>
            </a:r>
          </a:p>
        </p:txBody>
      </p:sp>
      <p:sp>
        <p:nvSpPr>
          <p:cNvPr id="6" name="TextBox 5"/>
          <p:cNvSpPr txBox="1"/>
          <p:nvPr/>
        </p:nvSpPr>
        <p:spPr>
          <a:xfrm>
            <a:off x="742920" y="1717784"/>
            <a:ext cx="4963080" cy="5334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I approach the companies on the map as an HBS student writing short cases on how they sell and deploy, for this independent project. It is a fair trade: they get a careful write-up, I get the economics.</a:t>
            </a:r>
          </a:p>
        </p:txBody>
      </p:sp>
      <p:sp>
        <p:nvSpPr>
          <p:cNvPr id="7" name="TextBox 6"/>
          <p:cNvSpPr txBox="1"/>
          <p:nvPr/>
        </p:nvSpPr>
        <p:spPr>
          <a:xfrm>
            <a:off x="782920" y="24011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HiveMQ, HighByte, Litmus — the data-translation layer</a:t>
            </a:r>
          </a:p>
        </p:txBody>
      </p:sp>
      <p:sp>
        <p:nvSpPr>
          <p:cNvPr id="8" name="TextBox 7"/>
          <p:cNvSpPr txBox="1"/>
          <p:nvPr/>
        </p:nvSpPr>
        <p:spPr>
          <a:xfrm>
            <a:off x="782920" y="26126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Sight Machine, Oden, Seeq — the ones who traverse the whole stack</a:t>
            </a:r>
          </a:p>
        </p:txBody>
      </p:sp>
      <p:sp>
        <p:nvSpPr>
          <p:cNvPr id="9" name="TextBox 8"/>
          <p:cNvSpPr txBox="1"/>
          <p:nvPr/>
        </p:nvSpPr>
        <p:spPr>
          <a:xfrm>
            <a:off x="782920" y="28240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Augury — the one that bypasses it</a:t>
            </a:r>
          </a:p>
        </p:txBody>
      </p:sp>
      <p:sp>
        <p:nvSpPr>
          <p:cNvPr id="10" name="TextBox 9"/>
          <p:cNvSpPr txBox="1"/>
          <p:nvPr/>
        </p:nvSpPr>
        <p:spPr>
          <a:xfrm>
            <a:off x="782920" y="30355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 systems integrator, who sees what a deployment really costs</a:t>
            </a:r>
          </a:p>
        </p:txBody>
      </p:sp>
      <p:sp>
        <p:nvSpPr>
          <p:cNvPr id="11" name="TextBox 10"/>
          <p:cNvSpPr txBox="1"/>
          <p:nvPr/>
        </p:nvSpPr>
        <p:spPr>
          <a:xfrm>
            <a:off x="742920" y="3316984"/>
            <a:ext cx="4963080" cy="495300"/>
          </a:xfrm>
          <a:prstGeom prst="rect">
            <a:avLst/>
          </a:prstGeom>
          <a:noFill/>
        </p:spPr>
        <p:txBody>
          <a:bodyPr wrap="square" lIns="0" rIns="0" tIns="0" bIns="0" anchor="t">
            <a:spAutoFit/>
          </a:bodyPr>
          <a:lstStyle/>
          <a:p>
            <a:pPr algn="l">
              <a:lnSpc>
                <a:spcPts val="1301"/>
              </a:lnSpc>
            </a:pPr>
            <a:r>
              <a:rPr sz="950" b="1" i="1">
                <a:solidFill>
                  <a:srgbClr val="2F5D8A"/>
                </a:solidFill>
                <a:latin typeface="Arial"/>
              </a:rPr>
              <a:t>What I am trying to learn:  what a mid-market deployment actually costs and how long it takes · what demand walks in that they turn away, and why · which layer they think is genuinely unsolved.</a:t>
            </a:r>
          </a:p>
        </p:txBody>
      </p:sp>
      <p:sp>
        <p:nvSpPr>
          <p:cNvPr id="12" name="Rounded Rectangle 11"/>
          <p:cNvSpPr/>
          <p:nvPr/>
        </p:nvSpPr>
        <p:spPr>
          <a:xfrm>
            <a:off x="6246000" y="1000000"/>
            <a:ext cx="5443080" cy="3260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6486000" y="1090000"/>
            <a:ext cx="4963080" cy="154940"/>
          </a:xfrm>
          <a:prstGeom prst="rect">
            <a:avLst/>
          </a:prstGeom>
          <a:noFill/>
        </p:spPr>
        <p:txBody>
          <a:bodyPr wrap="square" lIns="0" rIns="0" tIns="0" bIns="0" anchor="t">
            <a:spAutoFit/>
          </a:bodyPr>
          <a:lstStyle/>
          <a:p>
            <a:pPr algn="l">
              <a:lnSpc>
                <a:spcPts val="1300"/>
              </a:lnSpc>
            </a:pPr>
            <a:r>
              <a:rPr sz="1000" b="1" i="0">
                <a:solidFill>
                  <a:srgbClr val="B54F35"/>
                </a:solidFill>
                <a:latin typeface="Arial"/>
              </a:rPr>
              <a:t>TRACK 2</a:t>
            </a:r>
          </a:p>
        </p:txBody>
      </p:sp>
      <p:sp>
        <p:nvSpPr>
          <p:cNvPr id="14" name="TextBox 13"/>
          <p:cNvSpPr txBox="1"/>
          <p:nvPr/>
        </p:nvSpPr>
        <p:spPr>
          <a:xfrm>
            <a:off x="6486000" y="1264940"/>
            <a:ext cx="4963080" cy="402844"/>
          </a:xfrm>
          <a:prstGeom prst="rect">
            <a:avLst/>
          </a:prstGeom>
          <a:noFill/>
        </p:spPr>
        <p:txBody>
          <a:bodyPr wrap="square" lIns="0" rIns="0" tIns="0" bIns="0" anchor="t">
            <a:spAutoFit/>
          </a:bodyPr>
          <a:lstStyle/>
          <a:p>
            <a:pPr algn="l">
              <a:lnSpc>
                <a:spcPts val="1625"/>
              </a:lnSpc>
            </a:pPr>
            <a:r>
              <a:rPr sz="1300" b="1" i="0">
                <a:solidFill>
                  <a:srgbClr val="222A35"/>
                </a:solidFill>
                <a:latin typeface="Arial"/>
              </a:rPr>
              <a:t>A hands-on project with a plant near Boston</a:t>
            </a:r>
          </a:p>
        </p:txBody>
      </p:sp>
      <p:sp>
        <p:nvSpPr>
          <p:cNvPr id="15" name="TextBox 14"/>
          <p:cNvSpPr txBox="1"/>
          <p:nvPr/>
        </p:nvSpPr>
        <p:spPr>
          <a:xfrm>
            <a:off x="6486000" y="1717784"/>
            <a:ext cx="4963080" cy="5334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Not an interview. A real piece of work for a real plant, because only being inside one gives the counterfactual — what the decision costs today, measured rather than estimated.</a:t>
            </a:r>
          </a:p>
        </p:txBody>
      </p:sp>
      <p:sp>
        <p:nvSpPr>
          <p:cNvPr id="16" name="TextBox 15"/>
          <p:cNvSpPr txBox="1"/>
          <p:nvPr/>
        </p:nvSpPr>
        <p:spPr>
          <a:xfrm>
            <a:off x="6526000" y="24011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45 plants in the $10–150M band across New England</a:t>
            </a:r>
          </a:p>
        </p:txBody>
      </p:sp>
      <p:sp>
        <p:nvSpPr>
          <p:cNvPr id="17" name="TextBox 16"/>
          <p:cNvSpPr txBox="1"/>
          <p:nvPr/>
        </p:nvSpPr>
        <p:spPr>
          <a:xfrm>
            <a:off x="6526000" y="26126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Around 30 within an hour of Boston</a:t>
            </a:r>
          </a:p>
        </p:txBody>
      </p:sp>
      <p:sp>
        <p:nvSpPr>
          <p:cNvPr id="18" name="TextBox 17"/>
          <p:cNvSpPr txBox="1"/>
          <p:nvPr/>
        </p:nvSpPr>
        <p:spPr>
          <a:xfrm>
            <a:off x="6526000" y="28240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Blount Fine Foods and Kettle Cuisine — soups, Fall River and Lynn</a:t>
            </a:r>
          </a:p>
        </p:txBody>
      </p:sp>
      <p:sp>
        <p:nvSpPr>
          <p:cNvPr id="19" name="TextBox 18"/>
          <p:cNvSpPr txBox="1"/>
          <p:nvPr/>
        </p:nvSpPr>
        <p:spPr>
          <a:xfrm>
            <a:off x="6526000" y="30355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Gold Medal Bakery, Demakes, Hans Kissle, Concord Foods, Joseph’s Pasta</a:t>
            </a:r>
          </a:p>
        </p:txBody>
      </p:sp>
      <p:sp>
        <p:nvSpPr>
          <p:cNvPr id="20" name="TextBox 19"/>
          <p:cNvSpPr txBox="1"/>
          <p:nvPr/>
        </p:nvSpPr>
        <p:spPr>
          <a:xfrm>
            <a:off x="6486000" y="3316984"/>
            <a:ext cx="4963080" cy="330200"/>
          </a:xfrm>
          <a:prstGeom prst="rect">
            <a:avLst/>
          </a:prstGeom>
          <a:noFill/>
        </p:spPr>
        <p:txBody>
          <a:bodyPr wrap="square" lIns="0" rIns="0" tIns="0" bIns="0" anchor="t">
            <a:spAutoFit/>
          </a:bodyPr>
          <a:lstStyle/>
          <a:p>
            <a:pPr algn="l">
              <a:lnSpc>
                <a:spcPts val="1301"/>
              </a:lnSpc>
            </a:pPr>
            <a:r>
              <a:rPr sz="950" b="1" i="1">
                <a:solidFill>
                  <a:srgbClr val="B54F35"/>
                </a:solidFill>
                <a:latin typeface="Arial"/>
              </a:rPr>
              <a:t>Five of these were already researched or contacted during the July outreach work, so the approach does not start cold.</a:t>
            </a:r>
          </a:p>
        </p:txBody>
      </p:sp>
      <p:sp>
        <p:nvSpPr>
          <p:cNvPr id="21" name="Rounded Rectangle 20"/>
          <p:cNvSpPr/>
          <p:nvPr/>
        </p:nvSpPr>
        <p:spPr>
          <a:xfrm>
            <a:off x="502920" y="4390000"/>
            <a:ext cx="11186160" cy="8132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2" name="TextBox 21"/>
          <p:cNvSpPr txBox="1"/>
          <p:nvPr/>
        </p:nvSpPr>
        <p:spPr>
          <a:xfrm>
            <a:off x="742920" y="4540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WHY A PROJECT AND NOT JUST INTERVIEWS</a:t>
            </a:r>
          </a:p>
        </p:txBody>
      </p:sp>
      <p:sp>
        <p:nvSpPr>
          <p:cNvPr id="23" name="TextBox 22"/>
          <p:cNvSpPr txBox="1"/>
          <p:nvPr/>
        </p:nvSpPr>
        <p:spPr>
          <a:xfrm>
            <a:off x="742920" y="4850000"/>
            <a:ext cx="10706160" cy="203200"/>
          </a:xfrm>
          <a:prstGeom prst="rect">
            <a:avLst/>
          </a:prstGeom>
          <a:noFill/>
        </p:spPr>
        <p:txBody>
          <a:bodyPr wrap="square" lIns="0" rIns="0" tIns="0" bIns="0" anchor="t">
            <a:spAutoFit/>
          </a:bodyPr>
          <a:lstStyle/>
          <a:p>
            <a:pPr algn="l">
              <a:lnSpc>
                <a:spcPts val="1600"/>
              </a:lnSpc>
            </a:pPr>
            <a:r>
              <a:rPr sz="1150" b="0" i="0">
                <a:solidFill>
                  <a:srgbClr val="C8D2DC"/>
                </a:solidFill>
                <a:latin typeface="Arial"/>
              </a:rPr>
              <a:t>An interview gets an opinion about cost. A project gets the number, because I will be standing next to the paper chart when the batch is held.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7.  Plan for the remaining ten weeks, and what I need from you</a:t>
            </a:r>
          </a:p>
        </p:txBody>
      </p:sp>
      <p:sp>
        <p:nvSpPr>
          <p:cNvPr id="3" name="Rounded Rectangle 2"/>
          <p:cNvSpPr/>
          <p:nvPr/>
        </p:nvSpPr>
        <p:spPr>
          <a:xfrm>
            <a:off x="502920" y="102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Rectangle 3"/>
          <p:cNvSpPr/>
          <p:nvPr/>
        </p:nvSpPr>
        <p:spPr>
          <a:xfrm>
            <a:off x="502920" y="102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502920" y="116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4–5</a:t>
            </a:r>
          </a:p>
        </p:txBody>
      </p:sp>
      <p:sp>
        <p:nvSpPr>
          <p:cNvPr id="6" name="TextBox 5"/>
          <p:cNvSpPr txBox="1"/>
          <p:nvPr/>
        </p:nvSpPr>
        <p:spPr>
          <a:xfrm>
            <a:off x="1402920" y="110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Vendor mini-cases begin</a:t>
            </a:r>
          </a:p>
        </p:txBody>
      </p:sp>
      <p:sp>
        <p:nvSpPr>
          <p:cNvPr id="7" name="TextBox 6"/>
          <p:cNvSpPr txBox="1"/>
          <p:nvPr/>
        </p:nvSpPr>
        <p:spPr>
          <a:xfrm>
            <a:off x="1402920" y="127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First four written up; approach letters out to Boston-area plants</a:t>
            </a:r>
          </a:p>
        </p:txBody>
      </p:sp>
      <p:sp>
        <p:nvSpPr>
          <p:cNvPr id="8" name="Rounded Rectangle 7"/>
          <p:cNvSpPr/>
          <p:nvPr/>
        </p:nvSpPr>
        <p:spPr>
          <a:xfrm>
            <a:off x="502920" y="153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9" name="Rectangle 8"/>
          <p:cNvSpPr/>
          <p:nvPr/>
        </p:nvSpPr>
        <p:spPr>
          <a:xfrm>
            <a:off x="502920" y="153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502920" y="167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6</a:t>
            </a:r>
          </a:p>
        </p:txBody>
      </p:sp>
      <p:sp>
        <p:nvSpPr>
          <p:cNvPr id="11" name="TextBox 10"/>
          <p:cNvSpPr txBox="1"/>
          <p:nvPr/>
        </p:nvSpPr>
        <p:spPr>
          <a:xfrm>
            <a:off x="1402920" y="161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Mid-point review with you</a:t>
            </a:r>
          </a:p>
        </p:txBody>
      </p:sp>
      <p:sp>
        <p:nvSpPr>
          <p:cNvPr id="12" name="TextBox 11"/>
          <p:cNvSpPr txBox="1"/>
          <p:nvPr/>
        </p:nvSpPr>
        <p:spPr>
          <a:xfrm>
            <a:off x="1402920" y="178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Interim memo: which hypotheses survived the desk phase</a:t>
            </a:r>
          </a:p>
        </p:txBody>
      </p:sp>
      <p:sp>
        <p:nvSpPr>
          <p:cNvPr id="13" name="Rounded Rectangle 12"/>
          <p:cNvSpPr/>
          <p:nvPr/>
        </p:nvSpPr>
        <p:spPr>
          <a:xfrm>
            <a:off x="502920" y="204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4" name="Rectangle 13"/>
          <p:cNvSpPr/>
          <p:nvPr/>
        </p:nvSpPr>
        <p:spPr>
          <a:xfrm>
            <a:off x="502920" y="204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502920" y="218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7–8</a:t>
            </a:r>
          </a:p>
        </p:txBody>
      </p:sp>
      <p:sp>
        <p:nvSpPr>
          <p:cNvPr id="16" name="TextBox 15"/>
          <p:cNvSpPr txBox="1"/>
          <p:nvPr/>
        </p:nvSpPr>
        <p:spPr>
          <a:xfrm>
            <a:off x="1402920" y="212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Plant project starts</a:t>
            </a:r>
          </a:p>
        </p:txBody>
      </p:sp>
      <p:sp>
        <p:nvSpPr>
          <p:cNvPr id="17" name="TextBox 16"/>
          <p:cNvSpPr txBox="1"/>
          <p:nvPr/>
        </p:nvSpPr>
        <p:spPr>
          <a:xfrm>
            <a:off x="1402920" y="229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One plant agreed; scope a piece of work that produces real cost data</a:t>
            </a:r>
          </a:p>
        </p:txBody>
      </p:sp>
      <p:sp>
        <p:nvSpPr>
          <p:cNvPr id="18" name="Rounded Rectangle 17"/>
          <p:cNvSpPr/>
          <p:nvPr/>
        </p:nvSpPr>
        <p:spPr>
          <a:xfrm>
            <a:off x="502920" y="255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9" name="Rectangle 18"/>
          <p:cNvSpPr/>
          <p:nvPr/>
        </p:nvSpPr>
        <p:spPr>
          <a:xfrm>
            <a:off x="502920" y="255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0" name="TextBox 19"/>
          <p:cNvSpPr txBox="1"/>
          <p:nvPr/>
        </p:nvSpPr>
        <p:spPr>
          <a:xfrm>
            <a:off x="502920" y="269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9–10</a:t>
            </a:r>
          </a:p>
        </p:txBody>
      </p:sp>
      <p:sp>
        <p:nvSpPr>
          <p:cNvPr id="21" name="TextBox 20"/>
          <p:cNvSpPr txBox="1"/>
          <p:nvPr/>
        </p:nvSpPr>
        <p:spPr>
          <a:xfrm>
            <a:off x="1402920" y="263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Operator interviews alongside</a:t>
            </a:r>
          </a:p>
        </p:txBody>
      </p:sp>
      <p:sp>
        <p:nvSpPr>
          <p:cNvPr id="22" name="TextBox 21"/>
          <p:cNvSpPr txBox="1"/>
          <p:nvPr/>
        </p:nvSpPr>
        <p:spPr>
          <a:xfrm>
            <a:off x="1402920" y="280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Plant leaders, QA managers, controls engineers off the 45-firm New England list</a:t>
            </a:r>
          </a:p>
        </p:txBody>
      </p:sp>
      <p:sp>
        <p:nvSpPr>
          <p:cNvPr id="23" name="Rounded Rectangle 22"/>
          <p:cNvSpPr/>
          <p:nvPr/>
        </p:nvSpPr>
        <p:spPr>
          <a:xfrm>
            <a:off x="502920" y="306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4" name="Rectangle 23"/>
          <p:cNvSpPr/>
          <p:nvPr/>
        </p:nvSpPr>
        <p:spPr>
          <a:xfrm>
            <a:off x="502920" y="306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5" name="TextBox 24"/>
          <p:cNvSpPr txBox="1"/>
          <p:nvPr/>
        </p:nvSpPr>
        <p:spPr>
          <a:xfrm>
            <a:off x="502920" y="320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11</a:t>
            </a:r>
          </a:p>
        </p:txBody>
      </p:sp>
      <p:sp>
        <p:nvSpPr>
          <p:cNvPr id="26" name="TextBox 25"/>
          <p:cNvSpPr txBox="1"/>
          <p:nvPr/>
        </p:nvSpPr>
        <p:spPr>
          <a:xfrm>
            <a:off x="1402920" y="314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Synthesis</a:t>
            </a:r>
          </a:p>
        </p:txBody>
      </p:sp>
      <p:sp>
        <p:nvSpPr>
          <p:cNvPr id="27" name="TextBox 26"/>
          <p:cNvSpPr txBox="1"/>
          <p:nvPr/>
        </p:nvSpPr>
        <p:spPr>
          <a:xfrm>
            <a:off x="1402920" y="331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Decision inventory completed with real costs; 3–5 opportunity theses</a:t>
            </a:r>
          </a:p>
        </p:txBody>
      </p:sp>
      <p:sp>
        <p:nvSpPr>
          <p:cNvPr id="28" name="Rounded Rectangle 27"/>
          <p:cNvSpPr/>
          <p:nvPr/>
        </p:nvSpPr>
        <p:spPr>
          <a:xfrm>
            <a:off x="502920" y="357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9" name="Rectangle 28"/>
          <p:cNvSpPr/>
          <p:nvPr/>
        </p:nvSpPr>
        <p:spPr>
          <a:xfrm>
            <a:off x="502920" y="357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0" name="TextBox 29"/>
          <p:cNvSpPr txBox="1"/>
          <p:nvPr/>
        </p:nvSpPr>
        <p:spPr>
          <a:xfrm>
            <a:off x="502920" y="371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12–13</a:t>
            </a:r>
          </a:p>
        </p:txBody>
      </p:sp>
      <p:sp>
        <p:nvSpPr>
          <p:cNvPr id="31" name="TextBox 30"/>
          <p:cNvSpPr txBox="1"/>
          <p:nvPr/>
        </p:nvSpPr>
        <p:spPr>
          <a:xfrm>
            <a:off x="1402920" y="365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Write-up and presentation</a:t>
            </a:r>
          </a:p>
        </p:txBody>
      </p:sp>
      <p:sp>
        <p:nvSpPr>
          <p:cNvPr id="32" name="TextBox 31"/>
          <p:cNvSpPr txBox="1"/>
          <p:nvPr/>
        </p:nvSpPr>
        <p:spPr>
          <a:xfrm>
            <a:off x="1402920" y="382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Final market study, with the assumptions that turned out wrong</a:t>
            </a:r>
          </a:p>
        </p:txBody>
      </p:sp>
      <p:sp>
        <p:nvSpPr>
          <p:cNvPr id="33" name="Rounded Rectangle 32"/>
          <p:cNvSpPr/>
          <p:nvPr/>
        </p:nvSpPr>
        <p:spPr>
          <a:xfrm>
            <a:off x="7602920" y="1020000"/>
            <a:ext cx="4086160" cy="2960000"/>
          </a:xfrm>
          <a:prstGeom prst="roundRect">
            <a:avLst>
              <a:gd name="adj" fmla="val 8000"/>
            </a:avLst>
          </a:prstGeom>
          <a:solidFill>
            <a:srgbClr val="B54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4" name="TextBox 33"/>
          <p:cNvSpPr txBox="1"/>
          <p:nvPr/>
        </p:nvSpPr>
        <p:spPr>
          <a:xfrm>
            <a:off x="7842920" y="1120000"/>
            <a:ext cx="3606160" cy="232410"/>
          </a:xfrm>
          <a:prstGeom prst="rect">
            <a:avLst/>
          </a:prstGeom>
          <a:noFill/>
        </p:spPr>
        <p:txBody>
          <a:bodyPr wrap="square" lIns="0" rIns="0" tIns="0" bIns="0" anchor="t">
            <a:spAutoFit/>
          </a:bodyPr>
          <a:lstStyle/>
          <a:p>
            <a:pPr algn="l">
              <a:lnSpc>
                <a:spcPts val="1950"/>
              </a:lnSpc>
            </a:pPr>
            <a:r>
              <a:rPr sz="1500" b="1" i="0">
                <a:solidFill>
                  <a:srgbClr val="FFFFFF"/>
                </a:solidFill>
                <a:latin typeface="Arial"/>
              </a:rPr>
              <a:t>Three asks</a:t>
            </a:r>
          </a:p>
        </p:txBody>
      </p:sp>
      <p:sp>
        <p:nvSpPr>
          <p:cNvPr id="35" name="TextBox 34"/>
          <p:cNvSpPr txBox="1"/>
          <p:nvPr/>
        </p:nvSpPr>
        <p:spPr>
          <a:xfrm>
            <a:off x="7842920" y="143241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1.</a:t>
            </a:r>
          </a:p>
        </p:txBody>
      </p:sp>
      <p:sp>
        <p:nvSpPr>
          <p:cNvPr id="36" name="TextBox 35"/>
          <p:cNvSpPr txBox="1"/>
          <p:nvPr/>
        </p:nvSpPr>
        <p:spPr>
          <a:xfrm>
            <a:off x="8082920" y="1432410"/>
            <a:ext cx="3366160" cy="68580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An introduction to any food or beverage plant near Boston would be worth more than anything else on this page. Getting inside one is the whole next phase.</a:t>
            </a:r>
          </a:p>
        </p:txBody>
      </p:sp>
      <p:sp>
        <p:nvSpPr>
          <p:cNvPr id="37" name="TextBox 36"/>
          <p:cNvSpPr txBox="1"/>
          <p:nvPr/>
        </p:nvSpPr>
        <p:spPr>
          <a:xfrm>
            <a:off x="7842920" y="225821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2.</a:t>
            </a:r>
          </a:p>
        </p:txBody>
      </p:sp>
      <p:sp>
        <p:nvSpPr>
          <p:cNvPr id="38" name="TextBox 37"/>
          <p:cNvSpPr txBox="1"/>
          <p:nvPr/>
        </p:nvSpPr>
        <p:spPr>
          <a:xfrm>
            <a:off x="8082920" y="2258210"/>
            <a:ext cx="3366160" cy="51435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Is the decision-inventory framing on slide 3 the right shape for what you asked? If you want it cut differently, better to know now than in week 11.</a:t>
            </a:r>
          </a:p>
        </p:txBody>
      </p:sp>
      <p:sp>
        <p:nvSpPr>
          <p:cNvPr id="39" name="TextBox 38"/>
          <p:cNvSpPr txBox="1"/>
          <p:nvPr/>
        </p:nvSpPr>
        <p:spPr>
          <a:xfrm>
            <a:off x="7842920" y="291256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3.</a:t>
            </a:r>
          </a:p>
        </p:txBody>
      </p:sp>
      <p:sp>
        <p:nvSpPr>
          <p:cNvPr id="40" name="TextBox 39"/>
          <p:cNvSpPr txBox="1"/>
          <p:nvPr/>
        </p:nvSpPr>
        <p:spPr>
          <a:xfrm>
            <a:off x="8082920" y="2912560"/>
            <a:ext cx="3366160" cy="51435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If you know anyone at the vendors on slide 2 — Sight Machine, Seeq, Augury, Litmus — a warm introduction turns a cold email into a conversation.</a:t>
            </a:r>
          </a:p>
        </p:txBody>
      </p:sp>
      <p:sp>
        <p:nvSpPr>
          <p:cNvPr id="41" name="Rounded Rectangle 40"/>
          <p:cNvSpPr/>
          <p:nvPr/>
        </p:nvSpPr>
        <p:spPr>
          <a:xfrm>
            <a:off x="502920" y="4180000"/>
            <a:ext cx="11186160" cy="123865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2" name="TextBox 41"/>
          <p:cNvSpPr txBox="1"/>
          <p:nvPr/>
        </p:nvSpPr>
        <p:spPr>
          <a:xfrm>
            <a:off x="742920" y="4330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WHERE THIS LEAVES THE THESIS</a:t>
            </a:r>
          </a:p>
        </p:txBody>
      </p:sp>
      <p:sp>
        <p:nvSpPr>
          <p:cNvPr id="43" name="TextBox 42"/>
          <p:cNvSpPr txBox="1"/>
          <p:nvPr/>
        </p:nvSpPr>
        <p:spPr>
          <a:xfrm>
            <a:off x="742920" y="4640000"/>
            <a:ext cx="10706160" cy="628650"/>
          </a:xfrm>
          <a:prstGeom prst="rect">
            <a:avLst/>
          </a:prstGeom>
          <a:noFill/>
        </p:spPr>
        <p:txBody>
          <a:bodyPr wrap="square" lIns="0" rIns="0" tIns="0" bIns="0" anchor="t">
            <a:spAutoFit/>
          </a:bodyPr>
          <a:lstStyle/>
          <a:p>
            <a:pPr algn="l">
              <a:lnSpc>
                <a:spcPts val="1650"/>
              </a:lnSpc>
            </a:pPr>
            <a:r>
              <a:rPr sz="1150" b="0" i="0">
                <a:solidFill>
                  <a:srgbClr val="C8D2DC"/>
                </a:solidFill>
                <a:latin typeface="Arial"/>
              </a:rPr>
              <a:t>The map says the gap is real and narrow: joining a machine reading to the batch it belongs to, at a price a mid-market plant can pay. The evidence says nobody has published what that is worth. If the plants say the paperwork is an irritation rather than a cost, the honest answer is that there is no business here — and I would rather find that out in week 8 than in week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