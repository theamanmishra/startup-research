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One-slide market map. Layers 1-6 are the stack; the right column carries the two things a linear chart hides - what gates every layer, and who skips it entirely. Full roster of 163 companies, formal layer definitions and the interaction web are in manu-data-layer/mdl-market-map.md.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5529"/>
            <a:ext cx="12192000" cy="461665"/>
          </a:xfrm>
          <a:prstGeom prst="rect">
            <a:avLst/>
          </a:prstGeom>
          <a:solidFill>
            <a:srgbClr val="222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>
              <a:lnSpc>
                <a:spcPts val="275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4.  The manufacturing technology stack — who owns each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0000"/>
            <a:ext cx="86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2F5D8A"/>
                </a:solidFill>
                <a:latin typeface="Arial"/>
              </a:rPr>
              <a:t>NOTHING IS ACTUALLY KEPT UNTIL LAYER 4 — READ THE TAGS DOWN THE RIGHT EDGE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80000"/>
            <a:ext cx="8600000" cy="622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2920" y="1156000"/>
            <a:ext cx="59000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222A35"/>
                </a:solidFill>
                <a:latin typeface="Arial"/>
              </a:rPr>
              <a:t>1 · SENSORS &amp; INSTRUMENTS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2920" y="1178000"/>
            <a:ext cx="23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105"/>
              </a:lnSpc>
            </a:pPr>
            <a:r>
              <a:rPr sz="850" b="1" i="1">
                <a:solidFill>
                  <a:srgbClr val="2F5D8A"/>
                </a:solidFill>
                <a:latin typeface="Arial"/>
              </a:rPr>
              <a:t>→  a signal, or nothing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2920" y="1344625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1">
                <a:solidFill>
                  <a:srgbClr val="5A6570"/>
                </a:solidFill>
                <a:latin typeface="Arial"/>
              </a:rPr>
              <a:t>Does a number exist at all? A probe in the tank, a camera over the line — or nothing. Whoever built the line decided this years ago.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2920" y="1491562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Emerson Rosemount · Anderson-Negele · Endress+Hauser · Cognex · Keyence  |  Groen · Lee · Admix (equipment)  |  Partlow (paper charts)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48000"/>
            <a:ext cx="8600000" cy="622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2920" y="1824000"/>
            <a:ext cx="59000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222A35"/>
                </a:solidFill>
                <a:latin typeface="Arial"/>
              </a:rPr>
              <a:t>2 ·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2920" y="1846000"/>
            <a:ext cx="23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105"/>
              </a:lnSpc>
            </a:pPr>
            <a:r>
              <a:rPr sz="850" b="1" i="1">
                <a:solidFill>
                  <a:srgbClr val="2F5D8A"/>
                </a:solidFill>
                <a:latin typeface="Arial"/>
              </a:rPr>
              <a:t>→  live values, not kept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920" y="2012625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1">
                <a:solidFill>
                  <a:srgbClr val="5A6570"/>
                </a:solidFill>
                <a:latin typeface="Arial"/>
              </a:rPr>
              <a:t>The machine’s own computer. Reads the probe and moves the valve thousands of times a second — but it acts on the number, it does not keep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920" y="2159562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Rockwell Allen-Bradley · Siemens SIMATIC · Emerson DeltaV · Schneider Modicon · ABB · Beckhoff · Mitsubishi · Omron · Yokogawa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16000"/>
            <a:ext cx="8600000" cy="622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920" y="2492000"/>
            <a:ext cx="59000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222A35"/>
                </a:solidFill>
                <a:latin typeface="Arial"/>
              </a:rPr>
              <a:t>3 · OPERATOR SCREENS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2920" y="2514000"/>
            <a:ext cx="23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105"/>
              </a:lnSpc>
            </a:pPr>
            <a:r>
              <a:rPr sz="850" b="1" i="1">
                <a:solidFill>
                  <a:srgbClr val="2F5D8A"/>
                </a:solidFill>
                <a:latin typeface="Arial"/>
              </a:rPr>
              <a:t>→  a screen, not a record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920" y="2680625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1">
                <a:solidFill>
                  <a:srgbClr val="5A6570"/>
                </a:solidFill>
                <a:latin typeface="Arial"/>
              </a:rPr>
              <a:t>What the operator sees: live graphics, alarms, start and stop. Built for a human watching now, not for a record read later.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920" y="2827562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Inductive Automation Ignition (the standard in food) · Siemens WinCC · Rockwell FactoryTalk View · AVEVA Wonderware · GE iFIX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084000"/>
            <a:ext cx="8600000" cy="968000"/>
          </a:xfrm>
          <a:prstGeom prst="roundRect">
            <a:avLst>
              <a:gd name="adj" fmla="val 8000"/>
            </a:avLst>
          </a:prstGeom>
          <a:solidFill>
            <a:srgbClr val="FAECE8"/>
          </a:solidFill>
          <a:ln w="25400">
            <a:solidFill>
              <a:srgbClr val="B54F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920" y="3156000"/>
            <a:ext cx="1700000" cy="182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B54F35"/>
                </a:solidFill>
                <a:latin typeface="Arial"/>
              </a:rPr>
              <a:t>4 · DATA TRANSLATION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2920" y="3168000"/>
            <a:ext cx="4160000" cy="1508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1">
                <a:solidFill>
                  <a:srgbClr val="B54F35"/>
                </a:solidFill>
                <a:latin typeface="Arial"/>
              </a:rPr>
              <a:t>←  where this project is aimed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2920" y="3178000"/>
            <a:ext cx="23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105"/>
              </a:lnSpc>
            </a:pPr>
            <a:r>
              <a:rPr sz="850" b="1" i="1">
                <a:solidFill>
                  <a:srgbClr val="B54F35"/>
                </a:solidFill>
                <a:latin typeface="Arial"/>
              </a:rPr>
              <a:t>→  a named, storable stream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920" y="3354562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1">
                <a:solidFill>
                  <a:srgbClr val="5A6570"/>
                </a:solidFill>
                <a:latin typeface="Arial"/>
              </a:rPr>
              <a:t>Turns a code like “N7:0” into “Mixer 3 temperature”, and sends it somewhere it can be kept.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920" y="3499499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HiveMQ · HighByte · Litmus · PTC Kepware · EMQX · Cirrus Link · Siemens Industrial Edge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920" y="3658436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2D6E63"/>
                </a:solidFill>
                <a:latin typeface="Arial"/>
              </a:rPr>
              <a:t>SOLVED — getting the bits off the machine. Litmus ships 250+ drivers; Kepware translates almost any protocol.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920" y="3803373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B54F35"/>
                </a:solidFill>
                <a:latin typeface="Arial"/>
              </a:rPr>
              <a:t>NOT SOLVED — making that reading mean “batch 4471, line 2, shift B”. Every tag is mapped by hand.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098000"/>
            <a:ext cx="8600000" cy="622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920" y="4174000"/>
            <a:ext cx="59000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222A35"/>
                </a:solidFill>
                <a:latin typeface="Arial"/>
              </a:rPr>
              <a:t>5 · THE PLANT 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2920" y="4196000"/>
            <a:ext cx="23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105"/>
              </a:lnSpc>
            </a:pPr>
            <a:r>
              <a:rPr sz="850" b="1" i="1">
                <a:solidFill>
                  <a:srgbClr val="2F5D8A"/>
                </a:solidFill>
                <a:latin typeface="Arial"/>
              </a:rPr>
              <a:t>→  history you can 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2920" y="4362625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1">
                <a:solidFill>
                  <a:srgbClr val="5A6570"/>
                </a:solidFill>
                <a:latin typeface="Arial"/>
              </a:rPr>
              <a:t>Keeps the readings, and knows what was being made at the time — which order, which recipe, which lot.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920" y="4509562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AVEVA PI System · Siemens Opcenter · Rockwell Plex · SAP Digital Manufacturing · Aptean · Deacom · Nulogy · GE Proficy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766000"/>
            <a:ext cx="8600000" cy="622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12700">
            <a:solidFill>
              <a:srgbClr val="C8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2920" y="4842000"/>
            <a:ext cx="5900000" cy="174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222A35"/>
                </a:solidFill>
                <a:latin typeface="Arial"/>
              </a:rPr>
              <a:t>6 · ANALYTICS &amp;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02920" y="4864000"/>
            <a:ext cx="23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105"/>
              </a:lnSpc>
            </a:pPr>
            <a:r>
              <a:rPr sz="850" b="1" i="1">
                <a:solidFill>
                  <a:srgbClr val="2F5D8A"/>
                </a:solidFill>
                <a:latin typeface="Arial"/>
              </a:rPr>
              <a:t>→  an answer to act 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920" y="5030625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1">
                <a:solidFill>
                  <a:srgbClr val="5A6570"/>
                </a:solidFill>
                <a:latin typeface="Arial"/>
              </a:rPr>
              <a:t>Turns that history into a prediction, an explanation, or a yield gain. The layer everyone is trying to sell.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2920" y="5177562"/>
            <a:ext cx="8200000" cy="134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Sight Machine · Seeq · Augury · Oden · Cognite · Quartic.ai · Siemens Senseye · AspenTech Mtell · C3 AI · Falkonry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02920" y="1080000"/>
            <a:ext cx="2386160" cy="2079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F5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62920" y="1180000"/>
            <a:ext cx="2066160" cy="1508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2F5D8A"/>
                </a:solidFill>
                <a:latin typeface="Arial"/>
              </a:rPr>
              <a:t>GATES EVERY LAYER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62920" y="1390812"/>
            <a:ext cx="2066160" cy="561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OT network security — Claroty, Dragos, Nozomi. Nothing leaves the plant network without a security review.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62920" y="2047152"/>
            <a:ext cx="2066160" cy="4210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Systems integrators — they build these deployments, and they are why the bill is $50–150k.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2920" y="2563157"/>
            <a:ext cx="2066160" cy="561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Regulation — FDA 21 CFR 113 and 114, Grade A PMO, USDA FSIS. The only force that makes a measurement compulsory.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02920" y="3309000"/>
            <a:ext cx="2386160" cy="2079000"/>
          </a:xfrm>
          <a:prstGeom prst="roundRect">
            <a:avLst>
              <a:gd name="adj" fmla="val 8000"/>
            </a:avLst>
          </a:prstGeom>
          <a:solidFill>
            <a:srgbClr val="E4EFED"/>
          </a:solidFill>
          <a:ln w="12700">
            <a:solidFill>
              <a:srgbClr val="2D6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62920" y="3409000"/>
            <a:ext cx="2066160" cy="1508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2D6E63"/>
                </a:solidFill>
                <a:latin typeface="Arial"/>
              </a:rPr>
              <a:t>SKIPS EVERY LAYER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62920" y="3619812"/>
            <a:ext cx="2066160" cy="280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Augury fits its own wireless sensors and goes straight to its own cloud.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2920" y="3995482"/>
            <a:ext cx="2066160" cy="4210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0" i="0">
                <a:solidFill>
                  <a:srgbClr val="1A1A1A"/>
                </a:solidFill>
                <a:latin typeface="Arial"/>
              </a:rPr>
              <a:t>Tulip and Redzone ask the operator on a tablet, never touching the control system.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2920" y="4511487"/>
            <a:ext cx="2066160" cy="4210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2D6E63"/>
                </a:solidFill>
                <a:latin typeface="Arial"/>
              </a:rPr>
              <a:t>These are the products that actually sold into mid-sized plants — by avoiding layers 2 to 5.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498000"/>
            <a:ext cx="11186160" cy="1054500"/>
          </a:xfrm>
          <a:prstGeom prst="roundRect">
            <a:avLst>
              <a:gd name="adj" fmla="val 8000"/>
            </a:avLst>
          </a:prstGeom>
          <a:solidFill>
            <a:srgbClr val="222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40000" bIns="4000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2920" y="5648000"/>
            <a:ext cx="1070616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WHAT THE MAP SAYS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2920" y="5958000"/>
            <a:ext cx="1070616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 b="0" i="0">
                <a:solidFill>
                  <a:srgbClr val="C8D2DC"/>
                </a:solidFill>
                <a:latin typeface="Arial"/>
              </a:rPr>
              <a:t>Every layer has an entrenched owner except one — joining a machine reading to the batch it belongs to, at a price a $10–100M plant can pay. Whether that gap is a business depends on what the decision costs today without it, which no vendor publishes.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