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Stack rows are mutually exclusive on what a product primarily does to the data. The right column holds systems that own a business obligation and attach at several rows, which is why they are not in the stack. Full roster of 163 companies and formal definitions: manu-data-layer/mdl-market-map.md.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5529"/>
            <a:ext cx="12192000" cy="461665"/>
          </a:xfrm>
          <a:prstGeom prst="rect">
            <a:avLst/>
          </a:prstGeom>
          <a:solidFill>
            <a:srgbClr val="222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>
              <a:lnSpc>
                <a:spcPts val="275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4.  The manufacturing technology stack — every layer, and who owns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2000"/>
            <a:ext cx="8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2F5D8A"/>
                </a:solidFill>
                <a:latin typeface="Arial"/>
              </a:rPr>
              <a:t>ONE ROW PER THING THAT HAPPENS TO THE DATA. A PRODUCT SITS IN THE ROW IT PRIMARILY DOES.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2920" y="862000"/>
            <a:ext cx="280616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2D6E63"/>
                </a:solidFill>
                <a:latin typeface="Arial"/>
              </a:rPr>
              <a:t>ATTACH AT SEVERAL ROWS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60000"/>
            <a:ext cx="8200000" cy="525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C8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2920" y="1116000"/>
            <a:ext cx="5370000" cy="16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222A35"/>
                </a:solidFill>
                <a:latin typeface="Arial"/>
              </a:rPr>
              <a:t>1 · SENSE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62920" y="1130000"/>
            <a:ext cx="245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40"/>
              </a:lnSpc>
            </a:pPr>
            <a:r>
              <a:rPr sz="800" b="1" i="1">
                <a:solidFill>
                  <a:srgbClr val="2F5D8A"/>
                </a:solidFill>
                <a:latin typeface="Arial"/>
              </a:rPr>
              <a:t>→  a reading exists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2920" y="1288687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1">
                <a:solidFill>
                  <a:srgbClr val="5A6570"/>
                </a:solidFill>
                <a:latin typeface="Arial"/>
              </a:rPr>
              <a:t>Creates the number in the first place — a probe, a camera, or a person writing it down.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2920" y="1420639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1A1A1A"/>
                </a:solidFill>
                <a:latin typeface="Arial"/>
              </a:rPr>
              <a:t>Emerson Rosemount · Anderson-Negele · Endress+Hauser · Cognex · Keyence · Augury (fits its own) · Partlow (paper charts)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15000"/>
            <a:ext cx="8200000" cy="525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C8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2920" y="1671000"/>
            <a:ext cx="5370000" cy="16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222A35"/>
                </a:solidFill>
                <a:latin typeface="Arial"/>
              </a:rPr>
              <a:t>2 ·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62920" y="1685000"/>
            <a:ext cx="245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40"/>
              </a:lnSpc>
            </a:pPr>
            <a:r>
              <a:rPr sz="800" b="1" i="1">
                <a:solidFill>
                  <a:srgbClr val="2F5D8A"/>
                </a:solidFill>
                <a:latin typeface="Arial"/>
              </a:rPr>
              <a:t>→  action, nothing stored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920" y="1843687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1">
                <a:solidFill>
                  <a:srgbClr val="5A6570"/>
                </a:solidFill>
                <a:latin typeface="Arial"/>
              </a:rPr>
              <a:t>Acts on the number in milliseconds to move a valve or a motor. It does not keep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920" y="1975639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1A1A1A"/>
                </a:solidFill>
                <a:latin typeface="Arial"/>
              </a:rPr>
              <a:t>Rockwell Allen-Bradley · Siemens SIMATIC · Emerson DeltaV · Schneider Modicon · ABB · Beckhoff · Omron · Yokogawa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70000"/>
            <a:ext cx="8200000" cy="525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C8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2920" y="2226000"/>
            <a:ext cx="5370000" cy="16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222A35"/>
                </a:solidFill>
                <a:latin typeface="Arial"/>
              </a:rPr>
              <a:t>3 · SUPERVISE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2920" y="2240000"/>
            <a:ext cx="245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40"/>
              </a:lnSpc>
            </a:pPr>
            <a:r>
              <a:rPr sz="800" b="1" i="1">
                <a:solidFill>
                  <a:srgbClr val="2F5D8A"/>
                </a:solidFill>
                <a:latin typeface="Arial"/>
              </a:rPr>
              <a:t>→  a live screen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920" y="2398687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1">
                <a:solidFill>
                  <a:srgbClr val="5A6570"/>
                </a:solidFill>
                <a:latin typeface="Arial"/>
              </a:rPr>
              <a:t>Shows a human what is happening right now: graphics, alarms, start and stop.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920" y="2530639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1A1A1A"/>
                </a:solidFill>
                <a:latin typeface="Arial"/>
              </a:rPr>
              <a:t>Inductive Automation Ignition (the standard in food) · Siemens WinCC · Rockwell FactoryTalk View · AVEVA Wonderware · GE iFIX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725000"/>
            <a:ext cx="8200000" cy="525000"/>
          </a:xfrm>
          <a:prstGeom prst="roundRect">
            <a:avLst>
              <a:gd name="adj" fmla="val 8000"/>
            </a:avLst>
          </a:prstGeom>
          <a:solidFill>
            <a:srgbClr val="FAECE8"/>
          </a:solidFill>
          <a:ln w="22225">
            <a:solidFill>
              <a:srgbClr val="B54F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2920" y="2781000"/>
            <a:ext cx="5370000" cy="16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B54F35"/>
                </a:solidFill>
                <a:latin typeface="Arial"/>
              </a:rPr>
              <a:t>4 · MOVE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62920" y="2795000"/>
            <a:ext cx="245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40"/>
              </a:lnSpc>
            </a:pPr>
            <a:r>
              <a:rPr sz="800" b="1" i="1">
                <a:solidFill>
                  <a:srgbClr val="B54F35"/>
                </a:solidFill>
                <a:latin typeface="Arial"/>
              </a:rPr>
              <a:t>→  a named stream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920" y="2953687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1">
                <a:solidFill>
                  <a:srgbClr val="5A6570"/>
                </a:solidFill>
                <a:latin typeface="Arial"/>
              </a:rPr>
              <a:t>Translates cryptic machine codes and routes them off the floor. Getting bits out is solved.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920" y="3085639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1A1A1A"/>
                </a:solidFill>
                <a:latin typeface="Arial"/>
              </a:rPr>
              <a:t>HiveMQ · HighByte · Litmus · PTC Kepware · EMQX · Cirrus Link · Siemens Industrial Edge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280000"/>
            <a:ext cx="8200000" cy="525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C8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920" y="3336000"/>
            <a:ext cx="5370000" cy="16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222A35"/>
                </a:solidFill>
                <a:latin typeface="Arial"/>
              </a:rPr>
              <a:t>5 · STORE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920" y="3350000"/>
            <a:ext cx="245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40"/>
              </a:lnSpc>
            </a:pPr>
            <a:r>
              <a:rPr sz="800" b="1" i="1">
                <a:solidFill>
                  <a:srgbClr val="2F5D8A"/>
                </a:solidFill>
                <a:latin typeface="Arial"/>
              </a:rPr>
              <a:t>→  years of history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920" y="3508687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1">
                <a:solidFill>
                  <a:srgbClr val="5A6570"/>
                </a:solidFill>
                <a:latin typeface="Arial"/>
              </a:rPr>
              <a:t>Keeps the time-series so it can be looked back through.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920" y="3640639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1A1A1A"/>
                </a:solidFill>
                <a:latin typeface="Arial"/>
              </a:rPr>
              <a:t>AVEVA PI System · AspenTech InfoPlus.21 · GE Proficy Historian · Honeywell PHD · Canary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835000"/>
            <a:ext cx="8200000" cy="525000"/>
          </a:xfrm>
          <a:prstGeom prst="roundRect">
            <a:avLst>
              <a:gd name="adj" fmla="val 8000"/>
            </a:avLst>
          </a:prstGeom>
          <a:solidFill>
            <a:srgbClr val="FAECE8"/>
          </a:solidFill>
          <a:ln w="22225">
            <a:solidFill>
              <a:srgbClr val="B54F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2920" y="3891000"/>
            <a:ext cx="5370000" cy="16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B54F35"/>
                </a:solidFill>
                <a:latin typeface="Arial"/>
              </a:rPr>
              <a:t>6 · CONTEXTUALISE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62920" y="3905000"/>
            <a:ext cx="245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40"/>
              </a:lnSpc>
            </a:pPr>
            <a:r>
              <a:rPr sz="800" b="1" i="1">
                <a:solidFill>
                  <a:srgbClr val="B54F35"/>
                </a:solidFill>
                <a:latin typeface="Arial"/>
              </a:rPr>
              <a:t>→  a reading that means something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2920" y="4063687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1">
                <a:solidFill>
                  <a:srgbClr val="5A6570"/>
                </a:solidFill>
                <a:latin typeface="Arial"/>
              </a:rPr>
              <a:t>Says which order, recipe, lot and shift the reading belongs to. Joining this to row 4 is the unsolved part.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920" y="4195639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1A1A1A"/>
                </a:solidFill>
                <a:latin typeface="Arial"/>
              </a:rPr>
              <a:t>Siemens Opcenter · Rockwell Plex · SAP Digital Mfg · DELMIA Apriso · TrakSYS · Aptean · Deacom · Nulogy · Sepasoft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390000"/>
            <a:ext cx="8200000" cy="525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C8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2920" y="4446000"/>
            <a:ext cx="5370000" cy="16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222A35"/>
                </a:solidFill>
                <a:latin typeface="Arial"/>
              </a:rPr>
              <a:t>7 · ANALYSE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62920" y="4460000"/>
            <a:ext cx="245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40"/>
              </a:lnSpc>
            </a:pPr>
            <a:r>
              <a:rPr sz="800" b="1" i="1">
                <a:solidFill>
                  <a:srgbClr val="2F5D8A"/>
                </a:solidFill>
                <a:latin typeface="Arial"/>
              </a:rPr>
              <a:t>→  an answer to act 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920" y="4618687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1">
                <a:solidFill>
                  <a:srgbClr val="5A6570"/>
                </a:solidFill>
                <a:latin typeface="Arial"/>
              </a:rPr>
              <a:t>Predicts a failure, explains a defect, lifts a yield, or writes a setpoint back down.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2920" y="4750639"/>
            <a:ext cx="7820000" cy="123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1A1A1A"/>
                </a:solidFill>
                <a:latin typeface="Arial"/>
              </a:rPr>
              <a:t>Sight Machine · Seeq · Augury Process Health · Oden · Cognite · Quartic.ai · Senseye · Mtell · Pavilion8 · C3 AI · Falkonry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82920" y="1060000"/>
            <a:ext cx="2806160" cy="941250"/>
          </a:xfrm>
          <a:prstGeom prst="roundRect">
            <a:avLst>
              <a:gd name="adj" fmla="val 8000"/>
            </a:avLst>
          </a:prstGeom>
          <a:solidFill>
            <a:srgbClr val="E4EFED"/>
          </a:solidFill>
          <a:ln w="12700">
            <a:solidFill>
              <a:srgbClr val="2D6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22920" y="1112000"/>
            <a:ext cx="2526160" cy="139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2D6E63"/>
                </a:solidFill>
                <a:latin typeface="Arial"/>
              </a:rPr>
              <a:t>QUALITY &amp; COMPLIANCE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22920" y="1265446"/>
            <a:ext cx="2526160" cy="390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 i="0">
                <a:solidFill>
                  <a:srgbClr val="1A1A1A"/>
                </a:solidFill>
                <a:latin typeface="Arial"/>
              </a:rPr>
              <a:t>SafetyChain · Trustwell · TraceGains · FoodReady · Specright · Safefood 360 · LabWare and SampleManager (lab)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882920" y="2031250"/>
            <a:ext cx="2806160" cy="941250"/>
          </a:xfrm>
          <a:prstGeom prst="roundRect">
            <a:avLst>
              <a:gd name="adj" fmla="val 8000"/>
            </a:avLst>
          </a:prstGeom>
          <a:solidFill>
            <a:srgbClr val="E4EFED"/>
          </a:solidFill>
          <a:ln w="12700">
            <a:solidFill>
              <a:srgbClr val="2D6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22920" y="2083250"/>
            <a:ext cx="2526160" cy="139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2D6E63"/>
                </a:solidFill>
                <a:latin typeface="Arial"/>
              </a:rPr>
              <a:t>MAINTENANCE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22920" y="2236696"/>
            <a:ext cx="2526160" cy="13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 i="0">
                <a:solidFill>
                  <a:srgbClr val="1A1A1A"/>
                </a:solidFill>
                <a:latin typeface="Arial"/>
              </a:rPr>
              <a:t>MaintainX · Fiix · UpKeep · IBM Maximo · Limble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2920" y="3002500"/>
            <a:ext cx="2806160" cy="941250"/>
          </a:xfrm>
          <a:prstGeom prst="roundRect">
            <a:avLst>
              <a:gd name="adj" fmla="val 8000"/>
            </a:avLst>
          </a:prstGeom>
          <a:solidFill>
            <a:srgbClr val="E4EFED"/>
          </a:solidFill>
          <a:ln w="12700">
            <a:solidFill>
              <a:srgbClr val="2D6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22920" y="3054500"/>
            <a:ext cx="2526160" cy="139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2D6E63"/>
                </a:solidFill>
                <a:latin typeface="Arial"/>
              </a:rPr>
              <a:t>PLAN &amp; ORDER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22920" y="3207946"/>
            <a:ext cx="2526160" cy="260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 i="0">
                <a:solidFill>
                  <a:srgbClr val="1A1A1A"/>
                </a:solidFill>
                <a:latin typeface="Arial"/>
              </a:rPr>
              <a:t>SAP · Oracle · NetSuite · Infor · o9 · Blue Yonder · RELEX · PlanetTogether · Semia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82920" y="3973750"/>
            <a:ext cx="2806160" cy="941250"/>
          </a:xfrm>
          <a:prstGeom prst="roundRect">
            <a:avLst>
              <a:gd name="adj" fmla="val 8000"/>
            </a:avLst>
          </a:prstGeom>
          <a:solidFill>
            <a:srgbClr val="E4EFED"/>
          </a:solidFill>
          <a:ln w="12700">
            <a:solidFill>
              <a:srgbClr val="2D6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22920" y="4025750"/>
            <a:ext cx="2526160" cy="139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2D6E63"/>
                </a:solidFill>
                <a:latin typeface="Arial"/>
              </a:rPr>
              <a:t>FRONTLINE CAPTURE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22920" y="4179196"/>
            <a:ext cx="2526160" cy="260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 i="0">
                <a:solidFill>
                  <a:srgbClr val="1A1A1A"/>
                </a:solidFill>
                <a:latin typeface="Arial"/>
              </a:rPr>
              <a:t>Tulip · Redzone · Parsable · Augmentir · Dozuki · Evocon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4995000"/>
            <a:ext cx="11186160" cy="400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F5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2920" y="5053000"/>
            <a:ext cx="10806160" cy="131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0">
                <a:solidFill>
                  <a:srgbClr val="1A1A1A"/>
                </a:solidFill>
                <a:latin typeface="Arial"/>
              </a:rPr>
              <a:t>GATES EVERY ROW:   OT security (Claroty, Dragos)   ·   systems integrators, who are why the bill is $50–150k   ·   regulation (FDA 21 CFR 113 and 114, Grade A PMO, USDA FSIS)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2920" y="5200699"/>
            <a:ext cx="10806160" cy="131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0">
                <a:solidFill>
                  <a:srgbClr val="1A1A1A"/>
                </a:solidFill>
                <a:latin typeface="Arial"/>
              </a:rPr>
              <a:t>SKIPS MOST ROWS:   Augury fits its own sensors and goes straight to its cloud   ·   Tulip and Redzone ask the operator instead   ·   these are what actually sold into mid-sized plants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5465000"/>
            <a:ext cx="11186160" cy="1016400"/>
          </a:xfrm>
          <a:prstGeom prst="roundRect">
            <a:avLst>
              <a:gd name="adj" fmla="val 8000"/>
            </a:avLst>
          </a:prstGeom>
          <a:solidFill>
            <a:srgbClr val="222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2920" y="5615000"/>
            <a:ext cx="1070616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WHAT THE MAP SAYS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2920" y="5925000"/>
            <a:ext cx="1070616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 b="0" i="0">
                <a:solidFill>
                  <a:srgbClr val="C8D2DC"/>
                </a:solidFill>
                <a:latin typeface="Arial"/>
              </a:rPr>
              <a:t>Rows 4 and 5 are solved and commoditised. Row 6 exists only inside enterprise systems. The unsolved cell is the join between rows 4 and 6 — making a reading mean “batch 4471, line 2, shift B” at a price a $10–100M plant can pay.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