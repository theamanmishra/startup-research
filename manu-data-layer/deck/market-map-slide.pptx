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One-slide market map. Layers 1-6 are the stack; the right column carries the two things a linear chart hides - what gates every layer, and who skips it entirely. Full roster of 163 companies, formal layer definitions and the interaction web are in manu-data-layer/mdl-market-map.md.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5529"/>
            <a:ext cx="12192000" cy="461665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>
              <a:lnSpc>
                <a:spcPts val="275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4.  The manufacturing technology stack — who owns each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0000"/>
            <a:ext cx="8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F5D8A"/>
                </a:solidFill>
                <a:latin typeface="Arial"/>
              </a:rPr>
              <a:t>A READING FROM A MACHINE TRAVELS DOWN THIS STACK. EVERY LAYER ALREADY HAS AN OWNER — EXCEPT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80000"/>
            <a:ext cx="8600000" cy="622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2920" y="1156000"/>
            <a:ext cx="82000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22A35"/>
                </a:solidFill>
                <a:latin typeface="Arial"/>
              </a:rPr>
              <a:t>1 · SENSORS, INSTRUMENTS &amp;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920" y="1344625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Is anything physically measuring it? The equipment maker decides what ships with a sensor.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920" y="1491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Emerson Rosemount · Anderson-Negele · Endress+Hauser · Cognex · Keyence  |  Groen · Lee · Admix (equipment)  |  Partlow (paper charts)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48000"/>
            <a:ext cx="8600000" cy="622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920" y="1824000"/>
            <a:ext cx="82000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22A35"/>
                </a:solidFill>
                <a:latin typeface="Arial"/>
              </a:rPr>
              <a:t>2 · CONTROL — the machine’s computer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920" y="2012625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Reads the sensors and drives motors and valves, in milliseconds.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920" y="2159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Rockwell Allen-Bradley · Siemens SIMATIC · Emerson DeltaV · Schneider Modicon · ABB · Beckhoff · Mitsubishi · Omron · Yokogawa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16000"/>
            <a:ext cx="8600000" cy="622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920" y="2492000"/>
            <a:ext cx="82000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22A35"/>
                </a:solidFill>
                <a:latin typeface="Arial"/>
              </a:rPr>
              <a:t>3 · OPERATOR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920" y="2680625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The live graphics, alarms and start/stop controls on the plant floor.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920" y="2827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Inductive Automation Ignition (the standard in food) · Siemens WinCC · Rockwell FactoryTalk View · AVEVA Wonderware · GE iFIX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84000"/>
            <a:ext cx="8600000" cy="968000"/>
          </a:xfrm>
          <a:prstGeom prst="roundRect">
            <a:avLst>
              <a:gd name="adj" fmla="val 8000"/>
            </a:avLst>
          </a:prstGeom>
          <a:solidFill>
            <a:srgbClr val="FAECE8"/>
          </a:solidFill>
          <a:ln w="25400">
            <a:solidFill>
              <a:srgbClr val="B54F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920" y="3156000"/>
            <a:ext cx="1700000" cy="182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B54F35"/>
                </a:solidFill>
                <a:latin typeface="Arial"/>
              </a:rPr>
              <a:t>4 · DATA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920" y="3168000"/>
            <a:ext cx="6460000" cy="150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1">
                <a:solidFill>
                  <a:srgbClr val="B54F35"/>
                </a:solidFill>
                <a:latin typeface="Arial"/>
              </a:rPr>
              <a:t>←  where this project is aimed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920" y="3354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Turns a cryptic machine code such as “N7:0” into something software can read, and routes it onward.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920" y="3499499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HiveMQ · HighByte · Litmus · PTC Kepware · EMQX · Cirrus Link · Siemens Industrial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920" y="3658436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>
                <a:solidFill>
                  <a:srgbClr val="2D6E63"/>
                </a:solidFill>
                <a:latin typeface="Arial"/>
              </a:rPr>
              <a:t>SOLVED — getting the bits off the machine. Litmus ships 250+ drivers; Kepware translates almost any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920" y="3803373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>
                <a:solidFill>
                  <a:srgbClr val="B54F35"/>
                </a:solidFill>
                <a:latin typeface="Arial"/>
              </a:rPr>
              <a:t>NOT SOLVED — making that reading mean “batch 4471, line 2, shift B”. Every tag is mapped by hand.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98000"/>
            <a:ext cx="8600000" cy="622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920" y="4174000"/>
            <a:ext cx="82000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22A35"/>
                </a:solidFill>
                <a:latin typeface="Arial"/>
              </a:rPr>
              <a:t>5 · PLANT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920" y="4362625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Stores the readings, and knows what was made, to which recipe, on which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920" y="4509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AVEVA PI System · Siemens Opcenter · Rockwell Plex · SAP Digital Manufacturing · Aptean · Deacom · Nulogy · GE Proficy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6000"/>
            <a:ext cx="8600000" cy="622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920" y="4842000"/>
            <a:ext cx="82000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222A35"/>
                </a:solidFill>
                <a:latin typeface="Arial"/>
              </a:rPr>
              <a:t>6 · ANALYTICS &amp;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920" y="5030625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1">
                <a:solidFill>
                  <a:srgbClr val="5A6570"/>
                </a:solidFill>
                <a:latin typeface="Arial"/>
              </a:rPr>
              <a:t>Predicts failures, explains scrap, optimises yield. What everyone is trying to sell.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920" y="5177562"/>
            <a:ext cx="8200000" cy="134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Sight Machine · Seeq · Augury · Oden · Cognite · Quartic.ai · Siemens Senseye · AspenTech Mtell · C3 AI · Falkonry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02920" y="1080000"/>
            <a:ext cx="2386160" cy="2079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 w="12700">
            <a:solidFill>
              <a:srgbClr val="2F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2920" y="1180000"/>
            <a:ext cx="2066160" cy="150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2F5D8A"/>
                </a:solidFill>
                <a:latin typeface="Arial"/>
              </a:rPr>
              <a:t>GATES EVERY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2920" y="1390812"/>
            <a:ext cx="206616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OT network security — Claroty, Dragos, Nozomi. Nothing leaves the plant network without a security review.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2920" y="2047152"/>
            <a:ext cx="2066160" cy="42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Systems integrators — they build these deployments, and they are why the bill is $50–150k.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2920" y="2563157"/>
            <a:ext cx="206616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Regulation — FDA 21 CFR 113 and 114, Grade A PMO, USDA FSIS. The only force that makes a measurement compulsory.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02920" y="3309000"/>
            <a:ext cx="2386160" cy="2079000"/>
          </a:xfrm>
          <a:prstGeom prst="roundRect">
            <a:avLst>
              <a:gd name="adj" fmla="val 8000"/>
            </a:avLst>
          </a:prstGeom>
          <a:solidFill>
            <a:srgbClr val="E4EFED"/>
          </a:solidFill>
          <a:ln w="12700">
            <a:solidFill>
              <a:srgbClr val="2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2920" y="3409000"/>
            <a:ext cx="2066160" cy="150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5"/>
              </a:lnSpc>
            </a:pPr>
            <a:r>
              <a:rPr sz="950" b="1" i="0">
                <a:solidFill>
                  <a:srgbClr val="2D6E63"/>
                </a:solidFill>
                <a:latin typeface="Arial"/>
              </a:rPr>
              <a:t>SKIPS EVERY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2920" y="3619812"/>
            <a:ext cx="2066160" cy="280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Augury fits its own wireless sensors and goes straight to its own cloud.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2920" y="3995482"/>
            <a:ext cx="2066160" cy="42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0" i="0">
                <a:solidFill>
                  <a:srgbClr val="1A1A1A"/>
                </a:solidFill>
                <a:latin typeface="Arial"/>
              </a:rPr>
              <a:t>Tulip and Redzone ask the operator on a tablet, never touching the control system.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2920" y="4511487"/>
            <a:ext cx="2066160" cy="421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b="1" i="0">
                <a:solidFill>
                  <a:srgbClr val="2D6E63"/>
                </a:solidFill>
                <a:latin typeface="Arial"/>
              </a:rPr>
              <a:t>These are the products that actually sold into mid-sized plants — by avoiding layers 2 to 5.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498000"/>
            <a:ext cx="11186160" cy="1054500"/>
          </a:xfrm>
          <a:prstGeom prst="roundRect">
            <a:avLst>
              <a:gd name="adj" fmla="val 8000"/>
            </a:avLst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0000" bIns="40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920" y="5648000"/>
            <a:ext cx="1070616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THE MAP SAYS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20" y="5958000"/>
            <a:ext cx="1070616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0" i="0">
                <a:solidFill>
                  <a:srgbClr val="C8D2DC"/>
                </a:solidFill>
                <a:latin typeface="Arial"/>
              </a:rPr>
              <a:t>Every layer has an entrenched owner except one — joining a machine reading to the batch it belongs to, at a price a $10–100M plant can pay. Whether that gap is a business depends on what the decision costs today without it, which no vendor publishes.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